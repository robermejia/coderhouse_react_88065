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embeddedFontLst>
    <p:embeddedFont>
      <p:font typeface="DM Sans Medium"/>
      <p:regular r:id="rId61"/>
      <p:bold r:id="rId62"/>
      <p:italic r:id="rId63"/>
      <p:boldItalic r:id="rId64"/>
    </p:embeddedFont>
    <p:embeddedFont>
      <p:font typeface="Roboto"/>
      <p:regular r:id="rId65"/>
      <p:bold r:id="rId66"/>
      <p:italic r:id="rId67"/>
      <p:boldItalic r:id="rId68"/>
    </p:embeddedFont>
    <p:embeddedFont>
      <p:font typeface="Helvetica Neue"/>
      <p:regular r:id="rId69"/>
      <p:bold r:id="rId70"/>
      <p:italic r:id="rId71"/>
      <p:boldItalic r:id="rId72"/>
    </p:embeddedFont>
    <p:embeddedFont>
      <p:font typeface="Ubuntu Mono"/>
      <p:regular r:id="rId73"/>
      <p:bold r:id="rId74"/>
      <p:italic r:id="rId75"/>
      <p:boldItalic r:id="rId76"/>
    </p:embeddedFont>
    <p:embeddedFont>
      <p:font typeface="Helvetica Neue Light"/>
      <p:regular r:id="rId77"/>
      <p:bold r:id="rId78"/>
      <p:italic r:id="rId79"/>
      <p:boldItalic r:id="rId80"/>
    </p:embeddedFont>
    <p:embeddedFont>
      <p:font typeface="DM Sans"/>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5">
          <p15:clr>
            <a:srgbClr val="A4A3A4"/>
          </p15:clr>
        </p15:guide>
        <p15:guide id="2" pos="5460">
          <p15:clr>
            <a:srgbClr val="A4A3A4"/>
          </p15:clr>
        </p15:guide>
        <p15:guide id="3" pos="300">
          <p15:clr>
            <a:srgbClr val="9AA0A6"/>
          </p15:clr>
        </p15:guide>
        <p15:guide id="4" orient="horz" pos="324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5" orient="horz"/>
        <p:guide pos="5460"/>
        <p:guide pos="300"/>
        <p:guide pos="324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DMSans-boldItalic.fntdata"/><Relationship Id="rId83" Type="http://schemas.openxmlformats.org/officeDocument/2006/relationships/font" Target="fonts/DMSans-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HelveticaNeueLight-boldItalic.fntdata"/><Relationship Id="rId82" Type="http://schemas.openxmlformats.org/officeDocument/2006/relationships/font" Target="fonts/DMSans-bold.fntdata"/><Relationship Id="rId81" Type="http://schemas.openxmlformats.org/officeDocument/2006/relationships/font" Target="fonts/DM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UbuntuMono-regular.fntdata"/><Relationship Id="rId72" Type="http://schemas.openxmlformats.org/officeDocument/2006/relationships/font" Target="fonts/HelveticaNeue-boldItalic.fntdata"/><Relationship Id="rId31" Type="http://schemas.openxmlformats.org/officeDocument/2006/relationships/slide" Target="slides/slide26.xml"/><Relationship Id="rId75" Type="http://schemas.openxmlformats.org/officeDocument/2006/relationships/font" Target="fonts/UbuntuMono-italic.fntdata"/><Relationship Id="rId30" Type="http://schemas.openxmlformats.org/officeDocument/2006/relationships/slide" Target="slides/slide25.xml"/><Relationship Id="rId74" Type="http://schemas.openxmlformats.org/officeDocument/2006/relationships/font" Target="fonts/UbuntuMono-bold.fntdata"/><Relationship Id="rId33" Type="http://schemas.openxmlformats.org/officeDocument/2006/relationships/slide" Target="slides/slide28.xml"/><Relationship Id="rId77" Type="http://schemas.openxmlformats.org/officeDocument/2006/relationships/font" Target="fonts/HelveticaNeueLight-regular.fntdata"/><Relationship Id="rId32" Type="http://schemas.openxmlformats.org/officeDocument/2006/relationships/slide" Target="slides/slide27.xml"/><Relationship Id="rId76" Type="http://schemas.openxmlformats.org/officeDocument/2006/relationships/font" Target="fonts/UbuntuMono-boldItalic.fntdata"/><Relationship Id="rId35" Type="http://schemas.openxmlformats.org/officeDocument/2006/relationships/slide" Target="slides/slide30.xml"/><Relationship Id="rId79" Type="http://schemas.openxmlformats.org/officeDocument/2006/relationships/font" Target="fonts/HelveticaNeueLight-italic.fntdata"/><Relationship Id="rId34" Type="http://schemas.openxmlformats.org/officeDocument/2006/relationships/slide" Target="slides/slide29.xml"/><Relationship Id="rId78" Type="http://schemas.openxmlformats.org/officeDocument/2006/relationships/font" Target="fonts/HelveticaNeueLight-bold.fntdata"/><Relationship Id="rId71" Type="http://schemas.openxmlformats.org/officeDocument/2006/relationships/font" Target="fonts/HelveticaNeue-italic.fntdata"/><Relationship Id="rId70" Type="http://schemas.openxmlformats.org/officeDocument/2006/relationships/font" Target="fonts/HelveticaNeue-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DMSansMedium-bold.fntdata"/><Relationship Id="rId61" Type="http://schemas.openxmlformats.org/officeDocument/2006/relationships/font" Target="fonts/DMSansMedium-regular.fntdata"/><Relationship Id="rId20" Type="http://schemas.openxmlformats.org/officeDocument/2006/relationships/slide" Target="slides/slide15.xml"/><Relationship Id="rId64" Type="http://schemas.openxmlformats.org/officeDocument/2006/relationships/font" Target="fonts/DMSansMedium-boldItalic.fntdata"/><Relationship Id="rId63" Type="http://schemas.openxmlformats.org/officeDocument/2006/relationships/font" Target="fonts/DMSansMedium-italic.fntdata"/><Relationship Id="rId22" Type="http://schemas.openxmlformats.org/officeDocument/2006/relationships/slide" Target="slides/slide17.xml"/><Relationship Id="rId66" Type="http://schemas.openxmlformats.org/officeDocument/2006/relationships/font" Target="fonts/Roboto-bold.fntdata"/><Relationship Id="rId21" Type="http://schemas.openxmlformats.org/officeDocument/2006/relationships/slide" Target="slides/slide16.xml"/><Relationship Id="rId65" Type="http://schemas.openxmlformats.org/officeDocument/2006/relationships/font" Target="fonts/Roboto-regular.fntdata"/><Relationship Id="rId24" Type="http://schemas.openxmlformats.org/officeDocument/2006/relationships/slide" Target="slides/slide19.xml"/><Relationship Id="rId68" Type="http://schemas.openxmlformats.org/officeDocument/2006/relationships/font" Target="fonts/Roboto-boldItalic.fntdata"/><Relationship Id="rId23" Type="http://schemas.openxmlformats.org/officeDocument/2006/relationships/slide" Target="slides/slide18.xml"/><Relationship Id="rId67" Type="http://schemas.openxmlformats.org/officeDocument/2006/relationships/font" Target="fonts/Roboto-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HelveticaNeue-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xeJ3vjTLUjQJia1NVjWnCfNZZWcnbnS2/view?usp=sharing"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21635c457e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g21635c457e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155a413f5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155a413f5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10d8ab2ab78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10d8ab2ab78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Redactar los objetivos en función de los conocimientos y habilidades a desarrollar en la clase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162b126bb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162b126bb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(Sólo la primera clase - onboarding)  </a:t>
            </a:r>
            <a:r>
              <a:rPr lang="es">
                <a:highlight>
                  <a:srgbClr val="DEFC52"/>
                </a:highlight>
                <a:latin typeface="DM Sans"/>
                <a:ea typeface="DM Sans"/>
                <a:cs typeface="DM Sans"/>
                <a:sym typeface="DM Sans"/>
              </a:rPr>
              <a:t>Profe: </a:t>
            </a:r>
            <a:r>
              <a:rPr lang="es">
                <a:latin typeface="DM Sans"/>
                <a:ea typeface="DM Sans"/>
                <a:cs typeface="DM Sans"/>
                <a:sym typeface="DM Sans"/>
              </a:rPr>
              <a:t>Se presenta únicamente en la primera semana.  </a:t>
            </a:r>
            <a:r>
              <a:rPr lang="es">
                <a:solidFill>
                  <a:schemeClr val="dk1"/>
                </a:solidFill>
                <a:highlight>
                  <a:schemeClr val="accent3"/>
                </a:highlight>
                <a:latin typeface="DM Sans"/>
                <a:ea typeface="DM Sans"/>
                <a:cs typeface="DM Sans"/>
                <a:sym typeface="DM Sans"/>
              </a:rPr>
              <a:t>Colocar el número de comisión correspondiente</a:t>
            </a:r>
            <a:r>
              <a:rPr lang="es">
                <a:solidFill>
                  <a:schemeClr val="dk1"/>
                </a:solidFill>
                <a:latin typeface="DM Sans"/>
                <a:ea typeface="DM Sans"/>
                <a:cs typeface="DM Sans"/>
                <a:sym typeface="DM Sans"/>
              </a:rPr>
              <a:t>. </a:t>
            </a:r>
            <a:r>
              <a:rPr lang="es">
                <a:latin typeface="DM Sans"/>
                <a:ea typeface="DM Sans"/>
                <a:cs typeface="DM Sans"/>
                <a:sym typeface="DM Sans"/>
              </a:rPr>
              <a:t>Se debe editar y completar con los nombres del equipo a cargo. Se sugiere linkearlos a los perfiles de Linkedin (quienes quieran).</a:t>
            </a: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1635c457ec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1635c457ec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(Sólo la primera clase)</a:t>
            </a:r>
            <a:br>
              <a:rPr b="1" lang="es">
                <a:solidFill>
                  <a:schemeClr val="dk1"/>
                </a:solidFill>
                <a:latin typeface="DM Sans"/>
                <a:ea typeface="DM Sans"/>
                <a:cs typeface="DM Sans"/>
                <a:sym typeface="DM Sans"/>
              </a:rPr>
            </a:br>
            <a:r>
              <a:rPr b="1" lang="es">
                <a:solidFill>
                  <a:schemeClr val="dk1"/>
                </a:solidFill>
                <a:latin typeface="DM Sans"/>
                <a:ea typeface="DM Sans"/>
                <a:cs typeface="DM Sans"/>
                <a:sym typeface="DM Sans"/>
              </a:rPr>
              <a:t>Presentación de Estudiantes</a:t>
            </a:r>
            <a:endParaRPr b="1">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Soporte: Encuesta de Zoom</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¿Como crear encuestas de zoom? Disponible en </a:t>
            </a:r>
            <a:r>
              <a:rPr lang="es" u="sng">
                <a:solidFill>
                  <a:schemeClr val="hlink"/>
                </a:solidFill>
                <a:latin typeface="DM Sans"/>
                <a:ea typeface="DM Sans"/>
                <a:cs typeface="DM Sans"/>
                <a:sym typeface="DM Sans"/>
                <a:hlinkClick r:id="rId2"/>
              </a:rPr>
              <a:t>este video.</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u="sng">
                <a:solidFill>
                  <a:schemeClr val="dk1"/>
                </a:solidFill>
                <a:latin typeface="DM Sans"/>
                <a:ea typeface="DM Sans"/>
                <a:cs typeface="DM Sans"/>
                <a:sym typeface="DM Sans"/>
              </a:rPr>
              <a:t>Consigna:</a:t>
            </a:r>
            <a:r>
              <a:rPr lang="es">
                <a:solidFill>
                  <a:schemeClr val="dk1"/>
                </a:solidFill>
                <a:latin typeface="DM Sans"/>
                <a:ea typeface="DM Sans"/>
                <a:cs typeface="DM Sans"/>
                <a:sym typeface="DM Sans"/>
              </a:rPr>
              <a:t> Presentación de los estudiantes. Generar </a:t>
            </a:r>
            <a:r>
              <a:rPr lang="es" u="sng">
                <a:solidFill>
                  <a:schemeClr val="dk1"/>
                </a:solidFill>
                <a:latin typeface="DM Sans"/>
                <a:ea typeface="DM Sans"/>
                <a:cs typeface="DM Sans"/>
                <a:sym typeface="DM Sans"/>
              </a:rPr>
              <a:t>una encuesta de zoom para cada punto</a:t>
            </a:r>
            <a:r>
              <a:rPr lang="es">
                <a:solidFill>
                  <a:schemeClr val="dk1"/>
                </a:solidFill>
                <a:latin typeface="DM Sans"/>
                <a:ea typeface="DM Sans"/>
                <a:cs typeface="DM Sans"/>
                <a:sym typeface="DM Sans"/>
              </a:rPr>
              <a:t> (3 en total) con los siguientes ítems y opciones.</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PAÍS </a:t>
            </a:r>
            <a:r>
              <a:rPr lang="es">
                <a:solidFill>
                  <a:schemeClr val="dk1"/>
                </a:solidFill>
                <a:latin typeface="DM Sans"/>
                <a:ea typeface="DM Sans"/>
                <a:cs typeface="DM Sans"/>
                <a:sym typeface="DM Sans"/>
              </a:rPr>
              <a:t>/ Opciones:</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Argentina</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Uruguay</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Chile</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Colombia</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Perú</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Otro</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CONOCIMIENTOS PREVIOS DE </a:t>
            </a:r>
            <a:r>
              <a:rPr b="1" i="1" lang="es">
                <a:solidFill>
                  <a:schemeClr val="dk1"/>
                </a:solidFill>
                <a:latin typeface="DM Sans"/>
                <a:ea typeface="DM Sans"/>
                <a:cs typeface="DM Sans"/>
                <a:sym typeface="DM Sans"/>
              </a:rPr>
              <a:t>(TEMA RELACIONADO)</a:t>
            </a:r>
            <a:r>
              <a:rPr b="1" lang="es">
                <a:solidFill>
                  <a:schemeClr val="dk1"/>
                </a:solidFill>
                <a:latin typeface="DM Sans"/>
                <a:ea typeface="DM Sans"/>
                <a:cs typeface="DM Sans"/>
                <a:sym typeface="DM Sans"/>
              </a:rPr>
              <a:t> /</a:t>
            </a:r>
            <a:r>
              <a:rPr lang="es">
                <a:solidFill>
                  <a:schemeClr val="dk1"/>
                </a:solidFill>
                <a:latin typeface="DM Sans"/>
                <a:ea typeface="DM Sans"/>
                <a:cs typeface="DM Sans"/>
                <a:sym typeface="DM Sans"/>
              </a:rPr>
              <a:t> Opciones:</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Nulo conocimiento</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Poco conocimiento</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Bastante conocimiento</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Otro</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¿POR QUÉ ELEGISTE EL CURSO? / </a:t>
            </a:r>
            <a:r>
              <a:rPr lang="es">
                <a:solidFill>
                  <a:schemeClr val="dk1"/>
                </a:solidFill>
                <a:latin typeface="DM Sans"/>
                <a:ea typeface="DM Sans"/>
                <a:cs typeface="DM Sans"/>
                <a:sym typeface="DM Sans"/>
              </a:rPr>
              <a:t>Opciones:</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Soy curioso/a y siempre quiero aprender más.</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Quiero emprender o mejorar mi camino Freelance.</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Quiero perfeccionar o desenvolverme de forma profesional o laboral.</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AutoNum type="arabicPeriod"/>
            </a:pPr>
            <a:r>
              <a:rPr lang="es">
                <a:solidFill>
                  <a:schemeClr val="dk1"/>
                </a:solidFill>
                <a:latin typeface="DM Sans"/>
                <a:ea typeface="DM Sans"/>
                <a:cs typeface="DM Sans"/>
                <a:sym typeface="DM Sans"/>
              </a:rPr>
              <a:t>Otro</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2e635bff19_0_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2e635bff19_0_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(Sólo la primera clase - onboarding)</a:t>
            </a:r>
            <a:endParaRPr b="1">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a:solidFill>
                <a:schemeClr val="dk1"/>
              </a:solidFill>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2e635bff19_0_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2e635bff19_0_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(Sólo la primera clase - onboarding)</a:t>
            </a: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2e635bff19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2e635bff19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(Sólo la primera clase - onboarding)</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2e635bff19_0_8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2e635bff19_0_8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(Sólo la primera clase - onboarding)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5a0fbc80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5a0fbc80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(Sólo la primera clase - onboarding)</a:t>
            </a: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39806001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39806001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a:highlight>
                  <a:srgbClr val="DEFC52"/>
                </a:highlight>
              </a:rPr>
              <a:t>Profe (MUY IMPORTANTE):</a:t>
            </a:r>
            <a:r>
              <a:rPr b="1" lang="es"/>
              <a:t> Hacer hincapié en que es requisito que vean el contenido pregrabado en forma previo a la clase en vivo, ya que dichas clases se focalizan en instancias de práctica a partir de lo visto. El contenido pregrabado se pone disponible una semana antes de cada clase en vivo. Asimismo, reforzar esta comunicación en cada clase en vivo. Además, utilizar el foro para recordarles que deben visualizar el contenido una vez que se pone disponible en plataforma.</a:t>
            </a:r>
            <a:endParaRPr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495d2d10c9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1495d2d10c9_0_3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495d2d10c9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1495d2d10c9_0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DM Sans"/>
              <a:buChar char="-"/>
            </a:pPr>
            <a:r>
              <a:rPr b="1" lang="es">
                <a:solidFill>
                  <a:schemeClr val="dk1"/>
                </a:solidFill>
                <a:latin typeface="DM Sans"/>
                <a:ea typeface="DM Sans"/>
                <a:cs typeface="DM Sans"/>
                <a:sym typeface="DM Sans"/>
              </a:rPr>
              <a:t>(Sólo la primera clase)</a:t>
            </a:r>
            <a:endParaRPr>
              <a:solidFill>
                <a:schemeClr val="dk1"/>
              </a:solidFill>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495d2d10c9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1495d2d10c9_0_4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(Sólo la primera clase)</a:t>
            </a:r>
            <a:endParaRPr>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495d2d10c9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1495d2d10c9_0_4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(Sólo la primera clase)</a:t>
            </a:r>
            <a:endParaRPr>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495d2d10c9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1495d2d10c9_0_4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(Sólo la primera clase)</a:t>
            </a:r>
            <a:endParaRPr>
              <a:solidFill>
                <a:schemeClr val="dk1"/>
              </a:solidFill>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495d2d10c9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1495d2d10c9_0_4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(Sólo la primera clase)</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56b2eea26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56b2eea26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Primera clase.</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3d955c44c0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3d955c44c0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DM Sans"/>
                <a:ea typeface="DM Sans"/>
                <a:cs typeface="DM Sans"/>
                <a:sym typeface="DM Sans"/>
              </a:rPr>
              <a:t>Se sugiere utilizar esta slide para aquellos casos en que se comienza a utilizar alguna herramienta en particular en alguna clase.</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5aeecb00e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25aeecb00eb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150">
                <a:solidFill>
                  <a:srgbClr val="1D1C1D"/>
                </a:solidFill>
                <a:highlight>
                  <a:srgbClr val="F8F8F8"/>
                </a:highlight>
              </a:rPr>
              <a:t>React Js - tiene trayecto nivelatorio y autoevaluación. Se encuentra en la plataforma, como material complementario. Esta slide sirve para redirigir a los estudiantes que lo necesiten al recurso.</a:t>
            </a:r>
            <a:endParaRPr>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5aeecb00e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25aeecb00eb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150">
                <a:solidFill>
                  <a:srgbClr val="1D1C1D"/>
                </a:solidFill>
                <a:highlight>
                  <a:srgbClr val="F8F8F8"/>
                </a:highlight>
              </a:rPr>
              <a:t>Para profes/ tutores: reforzar la importancia de la práctica en programación.</a:t>
            </a: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52ba13cb37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52ba13cb37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52ba13cb3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52ba13cb3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56b2eea266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56b2eea266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3bbc910f27_2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3bbc910f27_2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52ba13cb3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52ba13cb3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52ba13cb3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52ba13cb3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52ba13cb3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52ba13cb3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52ba13cb3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52ba13cb3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highlight>
                  <a:srgbClr val="DEFC52"/>
                </a:highlight>
                <a:latin typeface="DM Sans"/>
                <a:ea typeface="DM Sans"/>
                <a:cs typeface="DM Sans"/>
                <a:sym typeface="DM Sans"/>
              </a:rPr>
              <a:t>(OPCIÓN DASH)</a:t>
            </a:r>
            <a:endParaRPr>
              <a:highlight>
                <a:srgbClr val="DEFC52"/>
              </a:highlight>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56b2eea266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56b2eea266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Instrucciones para el Profesor:</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Explica cómo crear una función que agregue elementos al DOM y muestra un ejemplo en vivo de la implementación utilizando las técnicas sugeridas.</a:t>
            </a:r>
            <a:endParaRPr>
              <a:solidFill>
                <a:schemeClr val="dk1"/>
              </a:solidFill>
            </a:endParaRPr>
          </a:p>
          <a:p>
            <a:pPr indent="0" lvl="0" marL="0" rtl="0" algn="l">
              <a:spcBef>
                <a:spcPts val="1200"/>
              </a:spcBef>
              <a:spcAft>
                <a:spcPts val="0"/>
              </a:spcAft>
              <a:buClr>
                <a:schemeClr val="dk1"/>
              </a:buClr>
              <a:buSzPts val="1100"/>
              <a:buFont typeface="Arial"/>
              <a:buNone/>
            </a:pPr>
            <a:r>
              <a:t/>
            </a:r>
            <a:endParaRPr sz="1050">
              <a:solidFill>
                <a:schemeClr val="dk1"/>
              </a:solidFill>
              <a:highlight>
                <a:srgbClr val="FFFFFF"/>
              </a:highlight>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52ba13cb37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52ba13cb37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d50de6dee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d50de6dee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52ba13cb37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52ba13cb37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52ba13cb37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52ba13cb37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52ba13cb37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52ba13cb37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52ba13cb37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52ba13cb37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52ba13cb37_1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52ba13cb37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individuales. </a:t>
            </a:r>
            <a:r>
              <a:rPr lang="es">
                <a:solidFill>
                  <a:schemeClr val="dk1"/>
                </a:solidFill>
                <a:highlight>
                  <a:srgbClr val="EA90FF"/>
                </a:highlight>
                <a:latin typeface="DM Sans"/>
                <a:ea typeface="DM Sans"/>
                <a:cs typeface="DM Sans"/>
                <a:sym typeface="DM Sans"/>
              </a:rPr>
              <a:t>Profe/tutor</a:t>
            </a:r>
            <a:r>
              <a:rPr lang="es">
                <a:solidFill>
                  <a:schemeClr val="dk1"/>
                </a:solidFill>
                <a:latin typeface="DM Sans"/>
                <a:ea typeface="DM Sans"/>
                <a:cs typeface="DM Sans"/>
                <a:sym typeface="DM Sans"/>
              </a:rPr>
              <a:t>: La duración que se sugiere para que los</a:t>
            </a:r>
            <a:r>
              <a:rPr b="1" lang="es">
                <a:solidFill>
                  <a:schemeClr val="dk1"/>
                </a:solidFill>
                <a:latin typeface="DM Sans"/>
                <a:ea typeface="DM Sans"/>
                <a:cs typeface="DM Sans"/>
                <a:sym typeface="DM Sans"/>
              </a:rPr>
              <a:t> estudiantes realicen la actividad</a:t>
            </a:r>
            <a:r>
              <a:rPr lang="es">
                <a:solidFill>
                  <a:schemeClr val="dk1"/>
                </a:solidFill>
                <a:latin typeface="DM Sans"/>
                <a:ea typeface="DM Sans"/>
                <a:cs typeface="DM Sans"/>
                <a:sym typeface="DM Sans"/>
              </a:rPr>
              <a:t> es de 20 minutos. A ellos se le suman </a:t>
            </a:r>
            <a:r>
              <a:rPr lang="es" u="sng">
                <a:solidFill>
                  <a:schemeClr val="dk1"/>
                </a:solidFill>
                <a:latin typeface="DM Sans"/>
                <a:ea typeface="DM Sans"/>
                <a:cs typeface="DM Sans"/>
                <a:sym typeface="DM Sans"/>
              </a:rPr>
              <a:t>10</a:t>
            </a:r>
            <a:r>
              <a:rPr lang="es" u="sng">
                <a:solidFill>
                  <a:schemeClr val="dk1"/>
                </a:solidFill>
                <a:latin typeface="DM Sans"/>
                <a:ea typeface="DM Sans"/>
                <a:cs typeface="DM Sans"/>
                <a:sym typeface="DM Sans"/>
              </a:rPr>
              <a:t> </a:t>
            </a:r>
            <a:r>
              <a:rPr lang="es">
                <a:solidFill>
                  <a:schemeClr val="dk1"/>
                </a:solidFill>
                <a:latin typeface="DM Sans"/>
                <a:ea typeface="DM Sans"/>
                <a:cs typeface="DM Sans"/>
                <a:sym typeface="DM Sans"/>
              </a:rPr>
              <a:t>de </a:t>
            </a:r>
            <a:r>
              <a:rPr b="1" lang="es">
                <a:solidFill>
                  <a:schemeClr val="dk1"/>
                </a:solidFill>
                <a:latin typeface="DM Sans"/>
                <a:ea typeface="DM Sans"/>
                <a:cs typeface="DM Sans"/>
                <a:sym typeface="DM Sans"/>
              </a:rPr>
              <a:t>puesta en común</a:t>
            </a:r>
            <a:r>
              <a:rPr lang="es">
                <a:solidFill>
                  <a:schemeClr val="dk1"/>
                </a:solidFill>
                <a:latin typeface="DM Sans"/>
                <a:ea typeface="DM Sans"/>
                <a:cs typeface="DM Sans"/>
                <a:sym typeface="DM Sans"/>
              </a:rPr>
              <a:t>. Por ello, el total dedicado a la actividad completa será de aproximadamente 30</a:t>
            </a:r>
            <a:r>
              <a:rPr b="1" lang="es" u="sng">
                <a:solidFill>
                  <a:schemeClr val="dk1"/>
                </a:solidFill>
                <a:latin typeface="DM Sans"/>
                <a:ea typeface="DM Sans"/>
                <a:cs typeface="DM Sans"/>
                <a:sym typeface="DM Sans"/>
              </a:rPr>
              <a:t> minutos.</a:t>
            </a:r>
            <a:endParaRPr>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534d8d614f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534d8d614f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534d8d614f_1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2534d8d614f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534d8d614f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534d8d614f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534d8d614f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2534d8d614f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2534d8d614f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2534d8d614f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534d8d614f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2534d8d614f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534d8d614f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534d8d614f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252ba13cb37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252ba13cb37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534d8d614f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534d8d614f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52ba13cb37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52ba13cb37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3ad191e9b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13ad191e9b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highlight>
                  <a:srgbClr val="EA90FF"/>
                </a:highlight>
                <a:latin typeface="DM Sans"/>
                <a:ea typeface="DM Sans"/>
                <a:cs typeface="DM Sans"/>
                <a:sym typeface="DM Sans"/>
              </a:rPr>
              <a:t>(Probar si se puede hacer con Kahoot y de lo contrario que hagan preguntas activando micrófono o por chat).</a:t>
            </a:r>
            <a:endParaRPr>
              <a:highlight>
                <a:srgbClr val="EA90FF"/>
              </a:highlight>
              <a:latin typeface="DM Sans"/>
              <a:ea typeface="DM Sans"/>
              <a:cs typeface="DM Sans"/>
              <a:sym typeface="DM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21635c457e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21635c457e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3bbc910f2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3bbc910f2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latin typeface="DM Sans"/>
              <a:ea typeface="DM Sans"/>
              <a:cs typeface="DM Sans"/>
              <a:sym typeface="DM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3bbc910f27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13bbc910f27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Colocar el link de los recursos en el nombre de cada uno.</a:t>
            </a:r>
            <a:endParaRPr b="1">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que los estudiantes puedan explorar en sus casas los recursos vistos en clase: libros, artículos, herramientas, websites, videos (ajenos a Coder).</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accent1"/>
              </a:solidFill>
              <a:latin typeface="DM Sans"/>
              <a:ea typeface="DM Sans"/>
              <a:cs typeface="DM Sans"/>
              <a:sym typeface="DM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3bbc910f27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3bbc910f27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 Completar el resumen con palabras claves de lo visto. En caso de cerrar con el “mapa de conceptos” se puede sacar. </a:t>
            </a:r>
            <a:endParaRPr>
              <a:latin typeface="DM Sans"/>
              <a:ea typeface="DM Sans"/>
              <a:cs typeface="DM Sans"/>
              <a:sym typeface="DM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13bbc910f2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13bbc910f2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13bbc910f27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13bbc910f27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Todas las clases</a:t>
            </a:r>
            <a:endParaRPr>
              <a:latin typeface="DM Sans"/>
              <a:ea typeface="DM Sans"/>
              <a:cs typeface="DM Sans"/>
              <a:sym typeface="DM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634dbf4db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634dbf4db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Todas las clases</a:t>
            </a:r>
            <a:endParaRPr>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Font typeface="DM Sans"/>
              <a:buNone/>
              <a:defRPr b="1" sz="4000">
                <a:latin typeface="DM Sans"/>
                <a:ea typeface="DM Sans"/>
                <a:cs typeface="DM Sans"/>
                <a:sym typeface="DM Sa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2" name="Google Shape;12;p2"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p:cSld name="SECTION_HEADER_1">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p3" title="logo coderhouse"/>
          <p:cNvPicPr preferRelativeResize="0"/>
          <p:nvPr/>
        </p:nvPicPr>
        <p:blipFill>
          <a:blip r:embed="rId3">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p:cSld name="SECTION_HEADER_1_1">
    <p:bg>
      <p:bgPr>
        <a:blipFill>
          <a:blip r:embed="rId2">
            <a:alphaModFix/>
          </a:blip>
          <a:stretch>
            <a:fillRect/>
          </a:stretch>
        </a:blipFill>
      </p:bgPr>
    </p:bg>
    <p:spTree>
      <p:nvGrpSpPr>
        <p:cNvPr id="15" name="Shape 15"/>
        <p:cNvGrpSpPr/>
        <p:nvPr/>
      </p:nvGrpSpPr>
      <p:grpSpPr>
        <a:xfrm>
          <a:off x="0" y="0"/>
          <a:ext cx="0" cy="0"/>
          <a:chOff x="0" y="0"/>
          <a:chExt cx="0" cy="0"/>
        </a:xfrm>
      </p:grpSpPr>
      <p:pic>
        <p:nvPicPr>
          <p:cNvPr id="16" name="Google Shape;16;p4"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7" name="Google Shape;17;p4"/>
          <p:cNvSpPr/>
          <p:nvPr/>
        </p:nvSpPr>
        <p:spPr>
          <a:xfrm>
            <a:off x="1089900" y="995400"/>
            <a:ext cx="6964200" cy="3152700"/>
          </a:xfrm>
          <a:prstGeom prst="rect">
            <a:avLst/>
          </a:prstGeom>
          <a:solidFill>
            <a:srgbClr val="B5B5B5">
              <a:alpha val="1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1">
  <p:cSld name="SECTION_HEADER_1_1_1">
    <p:bg>
      <p:bgPr>
        <a:blipFill>
          <a:blip r:embed="rId2">
            <a:alphaModFix/>
          </a:blip>
          <a:stretch>
            <a:fillRect/>
          </a:stretch>
        </a:blipFill>
      </p:bgPr>
    </p:bg>
    <p:spTree>
      <p:nvGrpSpPr>
        <p:cNvPr id="18" name="Shape 18"/>
        <p:cNvGrpSpPr/>
        <p:nvPr/>
      </p:nvGrpSpPr>
      <p:grpSpPr>
        <a:xfrm>
          <a:off x="0" y="0"/>
          <a:ext cx="0" cy="0"/>
          <a:chOff x="0" y="0"/>
          <a:chExt cx="0" cy="0"/>
        </a:xfrm>
      </p:grpSpPr>
      <p:pic>
        <p:nvPicPr>
          <p:cNvPr id="19" name="Google Shape;19;p5"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adro">
  <p:cSld name="SECTION_HEADER_1_1_1_1_1_1">
    <p:bg>
      <p:bgPr>
        <a:blipFill>
          <a:blip r:embed="rId2">
            <a:alphaModFix/>
          </a:blip>
          <a:stretch>
            <a:fillRect/>
          </a:stretch>
        </a:blipFill>
      </p:bgPr>
    </p:bg>
    <p:spTree>
      <p:nvGrpSpPr>
        <p:cNvPr id="20" name="Shape 20"/>
        <p:cNvGrpSpPr/>
        <p:nvPr/>
      </p:nvGrpSpPr>
      <p:grpSpPr>
        <a:xfrm>
          <a:off x="0" y="0"/>
          <a:ext cx="0" cy="0"/>
          <a:chOff x="0" y="0"/>
          <a:chExt cx="0" cy="0"/>
        </a:xfrm>
      </p:grpSpPr>
      <p:pic>
        <p:nvPicPr>
          <p:cNvPr id="21" name="Google Shape;21;p6"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imagen">
  <p:cSld name="SECTION_HEADER_1_1_1_1_1_1_1">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7"/>
          <p:cNvSpPr/>
          <p:nvPr/>
        </p:nvSpPr>
        <p:spPr>
          <a:xfrm>
            <a:off x="6592475" y="0"/>
            <a:ext cx="2551500" cy="51435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 name="Google Shape;24;p7"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blanco">
  <p:cSld name="SECTION_HEADER_1_1_1_1_1_1_1_1">
    <p:spTree>
      <p:nvGrpSpPr>
        <p:cNvPr id="25" name="Shape 25"/>
        <p:cNvGrpSpPr/>
        <p:nvPr/>
      </p:nvGrpSpPr>
      <p:grpSpPr>
        <a:xfrm>
          <a:off x="0" y="0"/>
          <a:ext cx="0" cy="0"/>
          <a:chOff x="0" y="0"/>
          <a:chExt cx="0" cy="0"/>
        </a:xfrm>
      </p:grpSpPr>
      <p:pic>
        <p:nvPicPr>
          <p:cNvPr id="26" name="Google Shape;26;p8"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p:cSld name="SECTION_HEADER_1_1_1_1_1_1_1_1_1">
    <p:bg>
      <p:bgPr>
        <a:blipFill>
          <a:blip r:embed="rId2">
            <a:alphaModFix/>
          </a:blip>
          <a:stretch>
            <a:fillRect/>
          </a:stretch>
        </a:blipFill>
      </p:bgPr>
    </p:bg>
    <p:spTree>
      <p:nvGrpSpPr>
        <p:cNvPr id="27" name="Shape 27"/>
        <p:cNvGrpSpPr/>
        <p:nvPr/>
      </p:nvGrpSpPr>
      <p:grpSpPr>
        <a:xfrm>
          <a:off x="0" y="0"/>
          <a:ext cx="0" cy="0"/>
          <a:chOff x="0" y="0"/>
          <a:chExt cx="0" cy="0"/>
        </a:xfrm>
      </p:grpSpPr>
      <p:pic>
        <p:nvPicPr>
          <p:cNvPr id="28" name="Google Shape;28;p9"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A">
  <p:cSld name="SECTION_HEADER_1_1_1_1_1_1_1_1_1_1">
    <p:bg>
      <p:bgPr>
        <a:blipFill>
          <a:blip r:embed="rId2">
            <a:alphaModFix/>
          </a:blip>
          <a:stretch>
            <a:fillRect/>
          </a:stretch>
        </a:blipFill>
      </p:bgPr>
    </p:bg>
    <p:spTree>
      <p:nvGrpSpPr>
        <p:cNvPr id="29" name="Shape 29"/>
        <p:cNvGrpSpPr/>
        <p:nvPr/>
      </p:nvGrpSpPr>
      <p:grpSpPr>
        <a:xfrm>
          <a:off x="0" y="0"/>
          <a:ext cx="0" cy="0"/>
          <a:chOff x="0" y="0"/>
          <a:chExt cx="0" cy="0"/>
        </a:xfrm>
      </p:grpSpPr>
      <p:pic>
        <p:nvPicPr>
          <p:cNvPr id="30" name="Google Shape;30;p10"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5">
  <p:cSld name="SECTION_HEADER_1_1_1_1_1_1_1_1_1_8">
    <p:bg>
      <p:bgPr>
        <a:blipFill>
          <a:blip r:embed="rId2">
            <a:alphaModFix/>
          </a:blip>
          <a:stretch>
            <a:fillRect/>
          </a:stretch>
        </a:blipFill>
      </p:bgPr>
    </p:bg>
    <p:spTree>
      <p:nvGrpSpPr>
        <p:cNvPr id="31" name="Shape 31"/>
        <p:cNvGrpSpPr/>
        <p:nvPr/>
      </p:nvGrpSpPr>
      <p:grpSpPr>
        <a:xfrm>
          <a:off x="0" y="0"/>
          <a:ext cx="0" cy="0"/>
          <a:chOff x="0" y="0"/>
          <a:chExt cx="0" cy="0"/>
        </a:xfrm>
      </p:grpSpPr>
      <p:pic>
        <p:nvPicPr>
          <p:cNvPr id="32" name="Google Shape;32;p11"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1">
  <p:cSld name="SECTION_HEADER_1_2">
    <p:spTree>
      <p:nvGrpSpPr>
        <p:cNvPr id="33" name="Shape 33"/>
        <p:cNvGrpSpPr/>
        <p:nvPr/>
      </p:nvGrpSpPr>
      <p:grpSpPr>
        <a:xfrm>
          <a:off x="0" y="0"/>
          <a:ext cx="0" cy="0"/>
          <a:chOff x="0" y="0"/>
          <a:chExt cx="0" cy="0"/>
        </a:xfrm>
      </p:grpSpPr>
      <p:pic>
        <p:nvPicPr>
          <p:cNvPr id="34" name="Google Shape;34;p12" title="logo coderhouse"/>
          <p:cNvPicPr preferRelativeResize="0"/>
          <p:nvPr/>
        </p:nvPicPr>
        <p:blipFill>
          <a:blip r:embed="rId2">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1">
  <p:cSld name="SECTION_HEADER_1_1_1_1_1_1_1_1_1_3">
    <p:bg>
      <p:bgPr>
        <a:blipFill>
          <a:blip r:embed="rId2">
            <a:alphaModFix/>
          </a:blip>
          <a:stretch>
            <a:fillRect/>
          </a:stretch>
        </a:blipFill>
      </p:bgPr>
    </p:bg>
    <p:spTree>
      <p:nvGrpSpPr>
        <p:cNvPr id="35" name="Shape 35"/>
        <p:cNvGrpSpPr/>
        <p:nvPr/>
      </p:nvGrpSpPr>
      <p:grpSpPr>
        <a:xfrm>
          <a:off x="0" y="0"/>
          <a:ext cx="0" cy="0"/>
          <a:chOff x="0" y="0"/>
          <a:chExt cx="0" cy="0"/>
        </a:xfrm>
      </p:grpSpPr>
      <p:pic>
        <p:nvPicPr>
          <p:cNvPr id="36" name="Google Shape;36;p13"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6.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4.jp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unruffled-hermann-20d922.netlify.app/" TargetMode="External"/><Relationship Id="rId4" Type="http://schemas.openxmlformats.org/officeDocument/2006/relationships/hyperlink" Target="https://refugio-tiendadeco-marceloluismoreno.netlify.app/" TargetMode="External"/><Relationship Id="rId5" Type="http://schemas.openxmlformats.org/officeDocument/2006/relationships/hyperlink" Target="https://cocky-bose-3d69f9.netlify.app/" TargetMode="External"/><Relationship Id="rId6" Type="http://schemas.openxmlformats.org/officeDocument/2006/relationships/image" Target="../media/image23.gif"/><Relationship Id="rId7"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6.jp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hyperlink" Target="https://view.genial.ly/649881b0f011a5001940483d/presentation-nivelacion-react-js-or-flex" TargetMode="External"/><Relationship Id="rId5" Type="http://schemas.openxmlformats.org/officeDocument/2006/relationships/hyperlink" Target="https://view.genial.ly/6498c3873397b900127bfbf2/interactive-content-basic-digital-quiz" TargetMode="External"/><Relationship Id="rId6" Type="http://schemas.openxmlformats.org/officeDocument/2006/relationships/hyperlink" Target="https://drive.google.com/file/d/1NSTjslPAUfme7e63iLaEPHtV4pgtlj-X/view?usp=drive_link" TargetMode="External"/><Relationship Id="rId7" Type="http://schemas.openxmlformats.org/officeDocument/2006/relationships/hyperlink" Target="https://view.genial.ly/64a0b1c5ca632c0018ba1cc2/presentation-copia-hoja-de-ruta-templat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hyperlink" Target="https://docs.google.com/presentation/d/1m0Pxdo6tR3VQeOwms0SIpvoQ_3HPwGyT/edit?usp=drive_link&amp;ouid=105756276059427898200&amp;rtpof=true&amp;sd=true" TargetMode="External"/><Relationship Id="rId5" Type="http://schemas.openxmlformats.org/officeDocument/2006/relationships/hyperlink" Target="https://docs.google.com/presentation/d/1zdYi_mdz9K5QRqQYDHFYWrPrp2AAi-QS/edit?usp=drive_link&amp;ouid=105756276059427898200&amp;rtpof=true&amp;sd=true" TargetMode="External"/><Relationship Id="rId6" Type="http://schemas.openxmlformats.org/officeDocument/2006/relationships/hyperlink" Target="https://docs.google.com/presentation/d/1kRm9pxtYP6ou5SxNq1xTumYWBg_RIjEA/edit?usp=drive_link&amp;ouid=105756276059427898200&amp;rtpof=true&amp;sd=tru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hyperlink" Target="https://drive.google.com/drive/folders/1Gb5M3QHew5pi4tvdhddXxGIiHeXkesOU?usp=drive_link" TargetMode="External"/><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35.png"/><Relationship Id="rId5" Type="http://schemas.openxmlformats.org/officeDocument/2006/relationships/hyperlink" Target="http://drive.google.com/file/d/1slV9A8krQZJRE0Aa64QQZS2cZOOPNmuA/view" TargetMode="External"/><Relationship Id="rId6"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hyperlink" Target="https://stackblitz.com/edit/web-platform-35fzni?file=index.html" TargetMode="External"/><Relationship Id="rId5" Type="http://schemas.openxmlformats.org/officeDocument/2006/relationships/hyperlink" Target="https://stackblitz.com/edit/web-platform-35fzni?file=index.html" TargetMode="External"/><Relationship Id="rId6" Type="http://schemas.openxmlformats.org/officeDocument/2006/relationships/hyperlink" Target="https://es.react.dev/learn/installation#try-react-locally"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hyperlink" Target="https://create-react-app.dev/" TargetMode="External"/><Relationship Id="rId4" Type="http://schemas.openxmlformats.org/officeDocument/2006/relationships/hyperlink" Target="https://nodejs.org/en/" TargetMode="External"/><Relationship Id="rId5" Type="http://schemas.openxmlformats.org/officeDocument/2006/relationships/hyperlink" Target="https://nodejs.org/e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46.png"/><Relationship Id="rId4" Type="http://schemas.openxmlformats.org/officeDocument/2006/relationships/image" Target="../media/image5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51.png"/><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5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47.png"/><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5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5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5.png"/><Relationship Id="rId4" Type="http://schemas.openxmlformats.org/officeDocument/2006/relationships/image" Target="../media/image6.png"/><Relationship Id="rId5" Type="http://schemas.openxmlformats.org/officeDocument/2006/relationships/hyperlink" Target="https://create-react-app.dev/"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6.png"/><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5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8.png"/><Relationship Id="rId4" Type="http://schemas.openxmlformats.org/officeDocument/2006/relationships/hyperlink" Target="https://vitejs.dev/"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3.png"/><Relationship Id="rId4" Type="http://schemas.openxmlformats.org/officeDocument/2006/relationships/hyperlink" Target="http://www.w3schools.com/html" TargetMode="External"/><Relationship Id="rId9" Type="http://schemas.openxmlformats.org/officeDocument/2006/relationships/hyperlink" Target="https://reactjs.org/docs/hello-world.html" TargetMode="External"/><Relationship Id="rId5" Type="http://schemas.openxmlformats.org/officeDocument/2006/relationships/hyperlink" Target="http://www.w3schools.com/css" TargetMode="External"/><Relationship Id="rId6" Type="http://schemas.openxmlformats.org/officeDocument/2006/relationships/hyperlink" Target="https://developer.mozilla.org/es/docs/Tools/Page_Inspector" TargetMode="External"/><Relationship Id="rId7" Type="http://schemas.openxmlformats.org/officeDocument/2006/relationships/hyperlink" Target="https://developer.mozilla.org/es/docs/Web/API" TargetMode="External"/><Relationship Id="rId8" Type="http://schemas.openxmlformats.org/officeDocument/2006/relationships/hyperlink" Target="https://reactjs.org/tutorial/tutorial.htm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14"/>
          <p:cNvSpPr/>
          <p:nvPr/>
        </p:nvSpPr>
        <p:spPr>
          <a:xfrm>
            <a:off x="3080700" y="2547525"/>
            <a:ext cx="2982600" cy="793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4"/>
          <p:cNvSpPr txBox="1"/>
          <p:nvPr/>
        </p:nvSpPr>
        <p:spPr>
          <a:xfrm>
            <a:off x="1461300" y="1802163"/>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Esta clase va a ser</a:t>
            </a:r>
            <a:endParaRPr b="1" sz="4000">
              <a:solidFill>
                <a:srgbClr val="DEFC52"/>
              </a:solidFill>
              <a:latin typeface="DM Sans"/>
              <a:ea typeface="DM Sans"/>
              <a:cs typeface="DM Sans"/>
              <a:sym typeface="DM Sans"/>
            </a:endParaRPr>
          </a:p>
        </p:txBody>
      </p:sp>
      <p:sp>
        <p:nvSpPr>
          <p:cNvPr id="43" name="Google Shape;43;p14"/>
          <p:cNvSpPr txBox="1"/>
          <p:nvPr/>
        </p:nvSpPr>
        <p:spPr>
          <a:xfrm>
            <a:off x="3493675" y="2541075"/>
            <a:ext cx="23898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grabada</a:t>
            </a:r>
            <a:endParaRPr b="1" sz="4000">
              <a:solidFill>
                <a:srgbClr val="EAFF6A"/>
              </a:solidFill>
              <a:latin typeface="DM Sans"/>
              <a:ea typeface="DM Sans"/>
              <a:cs typeface="DM Sans"/>
              <a:sym typeface="DM Sans"/>
            </a:endParaRPr>
          </a:p>
        </p:txBody>
      </p:sp>
      <p:sp>
        <p:nvSpPr>
          <p:cNvPr id="44" name="Google Shape;44;p14"/>
          <p:cNvSpPr/>
          <p:nvPr/>
        </p:nvSpPr>
        <p:spPr>
          <a:xfrm>
            <a:off x="3293875" y="2844525"/>
            <a:ext cx="199800" cy="199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 name="Google Shape;45;p14"/>
          <p:cNvPicPr preferRelativeResize="0"/>
          <p:nvPr/>
        </p:nvPicPr>
        <p:blipFill>
          <a:blip r:embed="rId3">
            <a:alphaModFix/>
          </a:blip>
          <a:stretch>
            <a:fillRect/>
          </a:stretch>
        </p:blipFill>
        <p:spPr>
          <a:xfrm>
            <a:off x="2605100" y="3654844"/>
            <a:ext cx="3933794" cy="1624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5"/>
          <p:cNvSpPr txBox="1"/>
          <p:nvPr/>
        </p:nvSpPr>
        <p:spPr>
          <a:xfrm>
            <a:off x="1461300" y="1937150"/>
            <a:ext cx="6221400" cy="18471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	Introducción a React JS y configuración del entorno</a:t>
            </a:r>
            <a:endParaRPr b="1" sz="4000">
              <a:solidFill>
                <a:srgbClr val="EAFF6A"/>
              </a:solidFill>
              <a:latin typeface="DM Sans"/>
              <a:ea typeface="DM Sans"/>
              <a:cs typeface="DM Sans"/>
              <a:sym typeface="DM Sans"/>
            </a:endParaRPr>
          </a:p>
        </p:txBody>
      </p:sp>
      <p:sp>
        <p:nvSpPr>
          <p:cNvPr id="51" name="Google Shape;51;p15"/>
          <p:cNvSpPr txBox="1"/>
          <p:nvPr/>
        </p:nvSpPr>
        <p:spPr>
          <a:xfrm>
            <a:off x="1461300" y="1665250"/>
            <a:ext cx="6221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800">
                <a:solidFill>
                  <a:schemeClr val="lt1"/>
                </a:solidFill>
                <a:latin typeface="DM Sans"/>
                <a:ea typeface="DM Sans"/>
                <a:cs typeface="DM Sans"/>
                <a:sym typeface="DM Sans"/>
              </a:rPr>
              <a:t>Unidad 1</a:t>
            </a:r>
            <a:r>
              <a:rPr b="1" lang="es" sz="1800">
                <a:solidFill>
                  <a:schemeClr val="lt1"/>
                </a:solidFill>
                <a:latin typeface="DM Sans"/>
                <a:ea typeface="DM Sans"/>
                <a:cs typeface="DM Sans"/>
                <a:sym typeface="DM Sans"/>
              </a:rPr>
              <a:t>.</a:t>
            </a:r>
            <a:r>
              <a:rPr lang="es" sz="1800">
                <a:solidFill>
                  <a:schemeClr val="lt1"/>
                </a:solidFill>
                <a:latin typeface="DM Sans"/>
                <a:ea typeface="DM Sans"/>
                <a:cs typeface="DM Sans"/>
                <a:sym typeface="DM Sans"/>
              </a:rPr>
              <a:t> REACT JS</a:t>
            </a:r>
            <a:endParaRPr sz="1600">
              <a:solidFill>
                <a:schemeClr val="lt1"/>
              </a:solidFill>
              <a:latin typeface="DM Sans"/>
              <a:ea typeface="DM Sans"/>
              <a:cs typeface="DM Sans"/>
              <a:sym typeface="DM Sans"/>
            </a:endParaRPr>
          </a:p>
        </p:txBody>
      </p:sp>
      <p:pic>
        <p:nvPicPr>
          <p:cNvPr id="52" name="Google Shape;52;p15"/>
          <p:cNvPicPr preferRelativeResize="0"/>
          <p:nvPr/>
        </p:nvPicPr>
        <p:blipFill>
          <a:blip r:embed="rId3">
            <a:alphaModFix/>
          </a:blip>
          <a:stretch>
            <a:fillRect/>
          </a:stretch>
        </p:blipFill>
        <p:spPr>
          <a:xfrm>
            <a:off x="2605100" y="3654844"/>
            <a:ext cx="3933794" cy="1624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6"/>
          <p:cNvSpPr txBox="1"/>
          <p:nvPr/>
        </p:nvSpPr>
        <p:spPr>
          <a:xfrm>
            <a:off x="501450" y="468275"/>
            <a:ext cx="81411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000">
                <a:solidFill>
                  <a:srgbClr val="EAFF6A"/>
                </a:solidFill>
                <a:latin typeface="DM Sans"/>
                <a:ea typeface="DM Sans"/>
                <a:cs typeface="DM Sans"/>
                <a:sym typeface="DM Sans"/>
              </a:rPr>
              <a:t>Objetivos de la clase</a:t>
            </a:r>
            <a:r>
              <a:rPr b="1" lang="es" sz="3000">
                <a:solidFill>
                  <a:srgbClr val="EAFF6A"/>
                </a:solidFill>
                <a:latin typeface="DM Sans"/>
                <a:ea typeface="DM Sans"/>
                <a:cs typeface="DM Sans"/>
                <a:sym typeface="DM Sans"/>
              </a:rPr>
              <a:t> </a:t>
            </a:r>
            <a:endParaRPr b="1" sz="3000">
              <a:solidFill>
                <a:srgbClr val="EAFF6A"/>
              </a:solidFill>
              <a:latin typeface="DM Sans"/>
              <a:ea typeface="DM Sans"/>
              <a:cs typeface="DM Sans"/>
              <a:sym typeface="DM Sans"/>
            </a:endParaRPr>
          </a:p>
        </p:txBody>
      </p:sp>
      <p:pic>
        <p:nvPicPr>
          <p:cNvPr id="58" name="Google Shape;58;p16"/>
          <p:cNvPicPr preferRelativeResize="0"/>
          <p:nvPr/>
        </p:nvPicPr>
        <p:blipFill>
          <a:blip r:embed="rId3">
            <a:alphaModFix/>
          </a:blip>
          <a:stretch>
            <a:fillRect/>
          </a:stretch>
        </p:blipFill>
        <p:spPr>
          <a:xfrm>
            <a:off x="2172438" y="1545313"/>
            <a:ext cx="196975" cy="196975"/>
          </a:xfrm>
          <a:prstGeom prst="rect">
            <a:avLst/>
          </a:prstGeom>
          <a:noFill/>
          <a:ln>
            <a:noFill/>
          </a:ln>
        </p:spPr>
      </p:pic>
      <p:sp>
        <p:nvSpPr>
          <p:cNvPr id="59" name="Google Shape;59;p16"/>
          <p:cNvSpPr txBox="1"/>
          <p:nvPr/>
        </p:nvSpPr>
        <p:spPr>
          <a:xfrm>
            <a:off x="2690561" y="1451613"/>
            <a:ext cx="4281300" cy="63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solidFill>
                  <a:schemeClr val="lt1"/>
                </a:solidFill>
                <a:latin typeface="DM Sans"/>
                <a:ea typeface="DM Sans"/>
                <a:cs typeface="DM Sans"/>
                <a:sym typeface="DM Sans"/>
              </a:rPr>
              <a:t>Conocer</a:t>
            </a:r>
            <a:r>
              <a:rPr lang="es" sz="1350">
                <a:solidFill>
                  <a:schemeClr val="lt1"/>
                </a:solidFill>
                <a:latin typeface="DM Sans"/>
                <a:ea typeface="DM Sans"/>
                <a:cs typeface="DM Sans"/>
                <a:sym typeface="DM Sans"/>
              </a:rPr>
              <a:t> los conceptos básicos de React</a:t>
            </a:r>
            <a:endParaRPr sz="1350">
              <a:solidFill>
                <a:schemeClr val="lt1"/>
              </a:solidFill>
              <a:latin typeface="DM Sans"/>
              <a:ea typeface="DM Sans"/>
              <a:cs typeface="DM Sans"/>
              <a:sym typeface="DM Sans"/>
            </a:endParaRPr>
          </a:p>
          <a:p>
            <a:pPr indent="-317500" lvl="0" marL="457200" rtl="0" algn="l">
              <a:spcBef>
                <a:spcPts val="0"/>
              </a:spcBef>
              <a:spcAft>
                <a:spcPts val="0"/>
              </a:spcAft>
              <a:buClr>
                <a:schemeClr val="dk1"/>
              </a:buClr>
              <a:buSzPts val="1400"/>
              <a:buFont typeface="DM Sans"/>
              <a:buChar char="-"/>
            </a:pPr>
            <a:r>
              <a:t/>
            </a:r>
            <a:endParaRPr sz="1350">
              <a:solidFill>
                <a:schemeClr val="lt1"/>
              </a:solidFill>
              <a:latin typeface="DM Sans"/>
              <a:ea typeface="DM Sans"/>
              <a:cs typeface="DM Sans"/>
              <a:sym typeface="DM Sans"/>
            </a:endParaRPr>
          </a:p>
        </p:txBody>
      </p:sp>
      <p:pic>
        <p:nvPicPr>
          <p:cNvPr id="60" name="Google Shape;60;p16"/>
          <p:cNvPicPr preferRelativeResize="0"/>
          <p:nvPr/>
        </p:nvPicPr>
        <p:blipFill>
          <a:blip r:embed="rId3">
            <a:alphaModFix/>
          </a:blip>
          <a:stretch>
            <a:fillRect/>
          </a:stretch>
        </p:blipFill>
        <p:spPr>
          <a:xfrm>
            <a:off x="2172138" y="2178713"/>
            <a:ext cx="196975" cy="196975"/>
          </a:xfrm>
          <a:prstGeom prst="rect">
            <a:avLst/>
          </a:prstGeom>
          <a:noFill/>
          <a:ln>
            <a:noFill/>
          </a:ln>
        </p:spPr>
      </p:pic>
      <p:sp>
        <p:nvSpPr>
          <p:cNvPr id="61" name="Google Shape;61;p16"/>
          <p:cNvSpPr txBox="1"/>
          <p:nvPr/>
        </p:nvSpPr>
        <p:spPr>
          <a:xfrm>
            <a:off x="2690561" y="2054738"/>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350">
                <a:solidFill>
                  <a:schemeClr val="lt1"/>
                </a:solidFill>
                <a:latin typeface="DM Sans"/>
                <a:ea typeface="DM Sans"/>
                <a:cs typeface="DM Sans"/>
                <a:sym typeface="DM Sans"/>
              </a:rPr>
              <a:t>Comprender</a:t>
            </a:r>
            <a:r>
              <a:rPr lang="es" sz="1350">
                <a:solidFill>
                  <a:schemeClr val="lt1"/>
                </a:solidFill>
                <a:latin typeface="DM Sans"/>
                <a:ea typeface="DM Sans"/>
                <a:cs typeface="DM Sans"/>
                <a:sym typeface="DM Sans"/>
              </a:rPr>
              <a:t> de qué manera React disponibiliza sus herramientas.</a:t>
            </a:r>
            <a:endParaRPr sz="1350">
              <a:solidFill>
                <a:schemeClr val="lt1"/>
              </a:solidFill>
              <a:latin typeface="DM Sans"/>
              <a:ea typeface="DM Sans"/>
              <a:cs typeface="DM Sans"/>
              <a:sym typeface="DM Sans"/>
            </a:endParaRPr>
          </a:p>
        </p:txBody>
      </p:sp>
      <p:pic>
        <p:nvPicPr>
          <p:cNvPr id="62" name="Google Shape;62;p16"/>
          <p:cNvPicPr preferRelativeResize="0"/>
          <p:nvPr/>
        </p:nvPicPr>
        <p:blipFill>
          <a:blip r:embed="rId3">
            <a:alphaModFix/>
          </a:blip>
          <a:stretch>
            <a:fillRect/>
          </a:stretch>
        </p:blipFill>
        <p:spPr>
          <a:xfrm>
            <a:off x="2172138" y="2832688"/>
            <a:ext cx="196975" cy="196975"/>
          </a:xfrm>
          <a:prstGeom prst="rect">
            <a:avLst/>
          </a:prstGeom>
          <a:noFill/>
          <a:ln>
            <a:noFill/>
          </a:ln>
        </p:spPr>
      </p:pic>
      <p:sp>
        <p:nvSpPr>
          <p:cNvPr id="63" name="Google Shape;63;p16"/>
          <p:cNvSpPr txBox="1"/>
          <p:nvPr/>
        </p:nvSpPr>
        <p:spPr>
          <a:xfrm>
            <a:off x="2690561" y="2734963"/>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350">
                <a:solidFill>
                  <a:schemeClr val="lt1"/>
                </a:solidFill>
                <a:latin typeface="DM Sans"/>
                <a:ea typeface="DM Sans"/>
                <a:cs typeface="DM Sans"/>
                <a:sym typeface="DM Sans"/>
              </a:rPr>
              <a:t>Comprender</a:t>
            </a:r>
            <a:r>
              <a:rPr lang="es" sz="1350">
                <a:solidFill>
                  <a:schemeClr val="lt1"/>
                </a:solidFill>
                <a:latin typeface="DM Sans"/>
                <a:ea typeface="DM Sans"/>
                <a:cs typeface="DM Sans"/>
                <a:sym typeface="DM Sans"/>
              </a:rPr>
              <a:t> el funcionamiento del virtual DOM en React.</a:t>
            </a:r>
            <a:endParaRPr sz="1350">
              <a:solidFill>
                <a:schemeClr val="lt1"/>
              </a:solidFill>
              <a:latin typeface="DM Sans"/>
              <a:ea typeface="DM Sans"/>
              <a:cs typeface="DM Sans"/>
              <a:sym typeface="DM Sans"/>
            </a:endParaRPr>
          </a:p>
        </p:txBody>
      </p:sp>
      <p:sp>
        <p:nvSpPr>
          <p:cNvPr id="64" name="Google Shape;64;p16"/>
          <p:cNvSpPr txBox="1"/>
          <p:nvPr/>
        </p:nvSpPr>
        <p:spPr>
          <a:xfrm>
            <a:off x="2690550" y="3415188"/>
            <a:ext cx="42813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t/>
            </a:r>
            <a:endParaRPr sz="1350">
              <a:solidFill>
                <a:schemeClr val="lt1"/>
              </a:solidFill>
              <a:latin typeface="DM Sans"/>
              <a:ea typeface="DM Sans"/>
              <a:cs typeface="DM Sans"/>
              <a:sym typeface="DM Sans"/>
            </a:endParaRPr>
          </a:p>
        </p:txBody>
      </p:sp>
      <p:cxnSp>
        <p:nvCxnSpPr>
          <p:cNvPr id="65" name="Google Shape;65;p16"/>
          <p:cNvCxnSpPr>
            <a:stCxn id="58" idx="2"/>
            <a:endCxn id="60" idx="0"/>
          </p:cNvCxnSpPr>
          <p:nvPr/>
        </p:nvCxnSpPr>
        <p:spPr>
          <a:xfrm flipH="1" rot="-5400000">
            <a:off x="2052975" y="1960237"/>
            <a:ext cx="436500" cy="600"/>
          </a:xfrm>
          <a:prstGeom prst="bentConnector3">
            <a:avLst>
              <a:gd fmla="val 49991" name="adj1"/>
            </a:avLst>
          </a:prstGeom>
          <a:noFill/>
          <a:ln cap="flat" cmpd="sng" w="9525">
            <a:solidFill>
              <a:srgbClr val="EAFF6A"/>
            </a:solidFill>
            <a:prstDash val="solid"/>
            <a:round/>
            <a:headEnd len="med" w="med" type="none"/>
            <a:tailEnd len="med" w="med" type="none"/>
          </a:ln>
        </p:spPr>
      </p:cxnSp>
      <p:cxnSp>
        <p:nvCxnSpPr>
          <p:cNvPr id="66" name="Google Shape;66;p16"/>
          <p:cNvCxnSpPr>
            <a:stCxn id="60" idx="2"/>
            <a:endCxn id="62" idx="0"/>
          </p:cNvCxnSpPr>
          <p:nvPr/>
        </p:nvCxnSpPr>
        <p:spPr>
          <a:xfrm flipH="1" rot="-5400000">
            <a:off x="2042475" y="2603837"/>
            <a:ext cx="456900" cy="600"/>
          </a:xfrm>
          <a:prstGeom prst="bentConnector3">
            <a:avLst>
              <a:gd fmla="val 50011" name="adj1"/>
            </a:avLst>
          </a:prstGeom>
          <a:noFill/>
          <a:ln cap="flat" cmpd="sng" w="9525">
            <a:solidFill>
              <a:srgbClr val="EAFF6A"/>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7"/>
          <p:cNvSpPr txBox="1"/>
          <p:nvPr/>
        </p:nvSpPr>
        <p:spPr>
          <a:xfrm>
            <a:off x="3742800" y="733625"/>
            <a:ext cx="49257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s" sz="3000">
                <a:solidFill>
                  <a:schemeClr val="lt1"/>
                </a:solidFill>
                <a:latin typeface="Helvetica Neue"/>
                <a:ea typeface="Helvetica Neue"/>
                <a:cs typeface="Helvetica Neue"/>
                <a:sym typeface="Helvetica Neue"/>
              </a:rPr>
              <a:t>Presentación </a:t>
            </a:r>
            <a:endParaRPr b="1" sz="3000">
              <a:solidFill>
                <a:schemeClr val="lt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rPr b="1" lang="es" sz="3000">
                <a:solidFill>
                  <a:schemeClr val="accent6"/>
                </a:solidFill>
                <a:latin typeface="Helvetica Neue"/>
                <a:ea typeface="Helvetica Neue"/>
                <a:cs typeface="Helvetica Neue"/>
                <a:sym typeface="Helvetica Neue"/>
              </a:rPr>
              <a:t>del equipo</a:t>
            </a:r>
            <a:endParaRPr b="1" sz="3000">
              <a:solidFill>
                <a:schemeClr val="accent6"/>
              </a:solidFill>
              <a:latin typeface="Helvetica Neue"/>
              <a:ea typeface="Helvetica Neue"/>
              <a:cs typeface="Helvetica Neue"/>
              <a:sym typeface="Helvetica Neue"/>
            </a:endParaRPr>
          </a:p>
        </p:txBody>
      </p:sp>
      <p:sp>
        <p:nvSpPr>
          <p:cNvPr id="72" name="Google Shape;72;p17"/>
          <p:cNvSpPr txBox="1"/>
          <p:nvPr/>
        </p:nvSpPr>
        <p:spPr>
          <a:xfrm>
            <a:off x="3742800" y="1944100"/>
            <a:ext cx="4925700" cy="728400"/>
          </a:xfrm>
          <a:prstGeom prst="rect">
            <a:avLst/>
          </a:prstGeom>
          <a:noFill/>
          <a:ln>
            <a:noFill/>
          </a:ln>
        </p:spPr>
        <p:txBody>
          <a:bodyPr anchorCtr="0" anchor="t" bIns="91425" lIns="91425" spcFirstLastPara="1" rIns="91425" wrap="square" tIns="91425">
            <a:spAutoFit/>
          </a:bodyPr>
          <a:lstStyle/>
          <a:p>
            <a:pPr indent="-314325" lvl="0" marL="457200" rtl="0" algn="l">
              <a:spcBef>
                <a:spcPts val="0"/>
              </a:spcBef>
              <a:spcAft>
                <a:spcPts val="0"/>
              </a:spcAft>
              <a:buClr>
                <a:srgbClr val="EAFF6A"/>
              </a:buClr>
              <a:buSzPts val="1350"/>
              <a:buFont typeface="DM Sans"/>
              <a:buChar char="✔"/>
            </a:pPr>
            <a:r>
              <a:rPr b="1" lang="es" sz="1350">
                <a:solidFill>
                  <a:schemeClr val="lt1"/>
                </a:solidFill>
                <a:latin typeface="DM Sans"/>
                <a:ea typeface="DM Sans"/>
                <a:cs typeface="DM Sans"/>
                <a:sym typeface="DM Sans"/>
              </a:rPr>
              <a:t>Profesor/a responsable</a:t>
            </a:r>
            <a:endParaRPr sz="1350">
              <a:solidFill>
                <a:schemeClr val="lt1"/>
              </a:solidFill>
              <a:latin typeface="DM Sans"/>
              <a:ea typeface="DM Sans"/>
              <a:cs typeface="DM Sans"/>
              <a:sym typeface="DM Sans"/>
            </a:endParaRPr>
          </a:p>
          <a:p>
            <a:pPr indent="-314325" lvl="0" marL="457200" rtl="0" algn="l">
              <a:spcBef>
                <a:spcPts val="1000"/>
              </a:spcBef>
              <a:spcAft>
                <a:spcPts val="1000"/>
              </a:spcAft>
              <a:buClr>
                <a:srgbClr val="EAFF6A"/>
              </a:buClr>
              <a:buSzPts val="1350"/>
              <a:buFont typeface="DM Sans"/>
              <a:buChar char="✔"/>
            </a:pPr>
            <a:r>
              <a:rPr b="1" lang="es" sz="1350">
                <a:solidFill>
                  <a:schemeClr val="lt1"/>
                </a:solidFill>
                <a:latin typeface="DM Sans"/>
                <a:ea typeface="DM Sans"/>
                <a:cs typeface="DM Sans"/>
                <a:sym typeface="DM Sans"/>
              </a:rPr>
              <a:t>Tutores y tutoras</a:t>
            </a:r>
            <a:endParaRPr sz="1350">
              <a:solidFill>
                <a:schemeClr val="lt1"/>
              </a:solidFill>
              <a:latin typeface="DM Sans"/>
              <a:ea typeface="DM Sans"/>
              <a:cs typeface="DM Sans"/>
              <a:sym typeface="DM Sans"/>
            </a:endParaRPr>
          </a:p>
        </p:txBody>
      </p:sp>
      <p:pic>
        <p:nvPicPr>
          <p:cNvPr id="73" name="Google Shape;73;p17"/>
          <p:cNvPicPr preferRelativeResize="0"/>
          <p:nvPr/>
        </p:nvPicPr>
        <p:blipFill rotWithShape="1">
          <a:blip r:embed="rId3">
            <a:alphaModFix/>
          </a:blip>
          <a:srcRect b="0" l="35558" r="0" t="0"/>
          <a:stretch/>
        </p:blipFill>
        <p:spPr>
          <a:xfrm>
            <a:off x="0" y="0"/>
            <a:ext cx="331452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8" title="imagen decorativa"/>
          <p:cNvPicPr preferRelativeResize="0"/>
          <p:nvPr/>
        </p:nvPicPr>
        <p:blipFill rotWithShape="1">
          <a:blip r:embed="rId3">
            <a:alphaModFix/>
          </a:blip>
          <a:srcRect b="0" l="33171" r="23876" t="0"/>
          <a:stretch/>
        </p:blipFill>
        <p:spPr>
          <a:xfrm>
            <a:off x="5838075" y="0"/>
            <a:ext cx="3314524" cy="5143501"/>
          </a:xfrm>
          <a:prstGeom prst="rect">
            <a:avLst/>
          </a:prstGeom>
          <a:noFill/>
          <a:ln>
            <a:noFill/>
          </a:ln>
        </p:spPr>
      </p:pic>
      <p:sp>
        <p:nvSpPr>
          <p:cNvPr id="79" name="Google Shape;79;p18"/>
          <p:cNvSpPr txBox="1"/>
          <p:nvPr/>
        </p:nvSpPr>
        <p:spPr>
          <a:xfrm>
            <a:off x="501450" y="902250"/>
            <a:ext cx="4987200" cy="11697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s" sz="4000">
                <a:solidFill>
                  <a:schemeClr val="dk1"/>
                </a:solidFill>
                <a:latin typeface="DM Sans"/>
                <a:ea typeface="DM Sans"/>
                <a:cs typeface="DM Sans"/>
                <a:sym typeface="DM Sans"/>
              </a:rPr>
              <a:t>Presentación</a:t>
            </a:r>
            <a:endParaRPr b="1" sz="4000">
              <a:solidFill>
                <a:schemeClr val="dk1"/>
              </a:solidFill>
              <a:latin typeface="DM Sans"/>
              <a:ea typeface="DM Sans"/>
              <a:cs typeface="DM Sans"/>
              <a:sym typeface="DM Sans"/>
            </a:endParaRPr>
          </a:p>
          <a:p>
            <a:pPr indent="0" lvl="0" marL="0" rtl="0" algn="l">
              <a:lnSpc>
                <a:spcPct val="80000"/>
              </a:lnSpc>
              <a:spcBef>
                <a:spcPts val="0"/>
              </a:spcBef>
              <a:spcAft>
                <a:spcPts val="0"/>
              </a:spcAft>
              <a:buNone/>
            </a:pPr>
            <a:r>
              <a:rPr b="1" lang="es" sz="4000">
                <a:solidFill>
                  <a:schemeClr val="dk1"/>
                </a:solidFill>
                <a:latin typeface="DM Sans"/>
                <a:ea typeface="DM Sans"/>
                <a:cs typeface="DM Sans"/>
                <a:sym typeface="DM Sans"/>
              </a:rPr>
              <a:t>de estudiantes</a:t>
            </a:r>
            <a:endParaRPr b="1" sz="4000">
              <a:solidFill>
                <a:schemeClr val="dk1"/>
              </a:solidFill>
              <a:latin typeface="DM Sans"/>
              <a:ea typeface="DM Sans"/>
              <a:cs typeface="DM Sans"/>
              <a:sym typeface="DM Sans"/>
            </a:endParaRPr>
          </a:p>
        </p:txBody>
      </p:sp>
      <p:sp>
        <p:nvSpPr>
          <p:cNvPr id="80" name="Google Shape;80;p18"/>
          <p:cNvSpPr txBox="1"/>
          <p:nvPr/>
        </p:nvSpPr>
        <p:spPr>
          <a:xfrm>
            <a:off x="501450" y="2411900"/>
            <a:ext cx="4987200" cy="13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latin typeface="DM Sans Medium"/>
                <a:ea typeface="DM Sans Medium"/>
                <a:cs typeface="DM Sans Medium"/>
                <a:sym typeface="DM Sans Medium"/>
              </a:rPr>
              <a:t>Por encuestas de Zoom</a:t>
            </a:r>
            <a:endParaRPr sz="1800">
              <a:solidFill>
                <a:schemeClr val="dk2"/>
              </a:solidFill>
              <a:latin typeface="DM Sans Medium"/>
              <a:ea typeface="DM Sans Medium"/>
              <a:cs typeface="DM Sans Medium"/>
              <a:sym typeface="DM Sans Medium"/>
            </a:endParaRPr>
          </a:p>
          <a:p>
            <a:pPr indent="0" lvl="0" marL="0" rtl="0" algn="l">
              <a:spcBef>
                <a:spcPts val="0"/>
              </a:spcBef>
              <a:spcAft>
                <a:spcPts val="0"/>
              </a:spcAft>
              <a:buNone/>
            </a:pPr>
            <a:r>
              <a:t/>
            </a:r>
            <a:endParaRPr sz="1600">
              <a:latin typeface="Helvetica Neue Light"/>
              <a:ea typeface="Helvetica Neue Light"/>
              <a:cs typeface="Helvetica Neue Light"/>
              <a:sym typeface="Helvetica Neue Light"/>
            </a:endParaRPr>
          </a:p>
          <a:p>
            <a:pPr indent="-314325" lvl="0" marL="457200" rtl="0" algn="l">
              <a:spcBef>
                <a:spcPts val="0"/>
              </a:spcBef>
              <a:spcAft>
                <a:spcPts val="0"/>
              </a:spcAft>
              <a:buSzPts val="1350"/>
              <a:buFont typeface="DM Sans"/>
              <a:buAutoNum type="arabicPeriod"/>
            </a:pPr>
            <a:r>
              <a:rPr lang="es" sz="1350">
                <a:latin typeface="DM Sans"/>
                <a:ea typeface="DM Sans"/>
                <a:cs typeface="DM Sans"/>
                <a:sym typeface="DM Sans"/>
              </a:rPr>
              <a:t>País</a:t>
            </a:r>
            <a:endParaRPr sz="1350">
              <a:latin typeface="DM Sans"/>
              <a:ea typeface="DM Sans"/>
              <a:cs typeface="DM Sans"/>
              <a:sym typeface="DM Sans"/>
            </a:endParaRPr>
          </a:p>
          <a:p>
            <a:pPr indent="-314325" lvl="0" marL="457200" rtl="0" algn="l">
              <a:spcBef>
                <a:spcPts val="0"/>
              </a:spcBef>
              <a:spcAft>
                <a:spcPts val="0"/>
              </a:spcAft>
              <a:buSzPts val="1350"/>
              <a:buFont typeface="DM Sans"/>
              <a:buAutoNum type="arabicPeriod"/>
            </a:pPr>
            <a:r>
              <a:rPr lang="es" sz="1350">
                <a:latin typeface="DM Sans"/>
                <a:ea typeface="DM Sans"/>
                <a:cs typeface="DM Sans"/>
                <a:sym typeface="DM Sans"/>
              </a:rPr>
              <a:t>Conocimientos previos</a:t>
            </a:r>
            <a:endParaRPr sz="1350">
              <a:latin typeface="DM Sans"/>
              <a:ea typeface="DM Sans"/>
              <a:cs typeface="DM Sans"/>
              <a:sym typeface="DM Sans"/>
            </a:endParaRPr>
          </a:p>
          <a:p>
            <a:pPr indent="-314325" lvl="0" marL="457200" rtl="0" algn="l">
              <a:spcBef>
                <a:spcPts val="0"/>
              </a:spcBef>
              <a:spcAft>
                <a:spcPts val="0"/>
              </a:spcAft>
              <a:buSzPts val="1350"/>
              <a:buFont typeface="DM Sans"/>
              <a:buAutoNum type="arabicPeriod"/>
            </a:pPr>
            <a:r>
              <a:rPr lang="es" sz="1350">
                <a:latin typeface="DM Sans"/>
                <a:ea typeface="DM Sans"/>
                <a:cs typeface="DM Sans"/>
                <a:sym typeface="DM Sans"/>
              </a:rPr>
              <a:t>¿Por qué elegiste este curso?</a:t>
            </a:r>
            <a:endParaRPr sz="1350">
              <a:latin typeface="DM Sans"/>
              <a:ea typeface="DM Sans"/>
              <a:cs typeface="DM Sans"/>
              <a:sym typeface="DM Sans"/>
            </a:endParaRPr>
          </a:p>
        </p:txBody>
      </p:sp>
      <p:pic>
        <p:nvPicPr>
          <p:cNvPr id="81" name="Google Shape;81;p18"/>
          <p:cNvPicPr preferRelativeResize="0"/>
          <p:nvPr/>
        </p:nvPicPr>
        <p:blipFill>
          <a:blip r:embed="rId4">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9"/>
          <p:cNvPicPr preferRelativeResize="0"/>
          <p:nvPr/>
        </p:nvPicPr>
        <p:blipFill rotWithShape="1">
          <a:blip r:embed="rId3">
            <a:alphaModFix/>
          </a:blip>
          <a:srcRect b="0" l="0" r="3567" t="0"/>
          <a:stretch/>
        </p:blipFill>
        <p:spPr>
          <a:xfrm>
            <a:off x="0" y="0"/>
            <a:ext cx="3305924" cy="5143501"/>
          </a:xfrm>
          <a:prstGeom prst="rect">
            <a:avLst/>
          </a:prstGeom>
          <a:noFill/>
          <a:ln>
            <a:noFill/>
          </a:ln>
        </p:spPr>
      </p:pic>
      <p:sp>
        <p:nvSpPr>
          <p:cNvPr id="87" name="Google Shape;87;p19"/>
          <p:cNvSpPr/>
          <p:nvPr/>
        </p:nvSpPr>
        <p:spPr>
          <a:xfrm>
            <a:off x="3694625" y="873325"/>
            <a:ext cx="2926800" cy="1209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9"/>
          <p:cNvSpPr txBox="1"/>
          <p:nvPr/>
        </p:nvSpPr>
        <p:spPr>
          <a:xfrm>
            <a:off x="3655625" y="655050"/>
            <a:ext cx="4730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ACUERDOS Y COMPROMISOS</a:t>
            </a:r>
            <a:endParaRPr>
              <a:latin typeface="DM Sans"/>
              <a:ea typeface="DM Sans"/>
              <a:cs typeface="DM Sans"/>
              <a:sym typeface="DM Sans"/>
            </a:endParaRPr>
          </a:p>
        </p:txBody>
      </p:sp>
      <p:sp>
        <p:nvSpPr>
          <p:cNvPr id="89" name="Google Shape;89;p19"/>
          <p:cNvSpPr txBox="1"/>
          <p:nvPr/>
        </p:nvSpPr>
        <p:spPr>
          <a:xfrm>
            <a:off x="3649500" y="1104863"/>
            <a:ext cx="49872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Equipo</a:t>
            </a:r>
            <a:endParaRPr b="1" sz="4000">
              <a:solidFill>
                <a:schemeClr val="dk1"/>
              </a:solidFill>
              <a:latin typeface="DM Sans"/>
              <a:ea typeface="DM Sans"/>
              <a:cs typeface="DM Sans"/>
              <a:sym typeface="DM Sans"/>
            </a:endParaRPr>
          </a:p>
        </p:txBody>
      </p:sp>
      <p:sp>
        <p:nvSpPr>
          <p:cNvPr id="90" name="Google Shape;90;p19"/>
          <p:cNvSpPr txBox="1"/>
          <p:nvPr/>
        </p:nvSpPr>
        <p:spPr>
          <a:xfrm>
            <a:off x="3694625" y="2211600"/>
            <a:ext cx="4778400" cy="1272300"/>
          </a:xfrm>
          <a:prstGeom prst="rect">
            <a:avLst/>
          </a:prstGeom>
          <a:noFill/>
          <a:ln>
            <a:noFill/>
          </a:ln>
        </p:spPr>
        <p:txBody>
          <a:bodyPr anchorCtr="0" anchor="t" bIns="91425" lIns="91425" spcFirstLastPara="1" rIns="91425" wrap="square" tIns="91425">
            <a:spAutoFit/>
          </a:bodyPr>
          <a:lstStyle/>
          <a:p>
            <a:pPr indent="-314325" lvl="0" marL="457200" rtl="0" algn="l">
              <a:lnSpc>
                <a:spcPct val="100000"/>
              </a:lnSpc>
              <a:spcBef>
                <a:spcPts val="0"/>
              </a:spcBef>
              <a:spcAft>
                <a:spcPts val="0"/>
              </a:spcAft>
              <a:buClr>
                <a:schemeClr val="dk2"/>
              </a:buClr>
              <a:buSzPts val="1350"/>
              <a:buFont typeface="Helvetica Neue"/>
              <a:buChar char="✓"/>
            </a:pPr>
            <a:r>
              <a:rPr lang="es" sz="1350">
                <a:solidFill>
                  <a:schemeClr val="dk1"/>
                </a:solidFill>
                <a:latin typeface="DM Sans"/>
                <a:ea typeface="DM Sans"/>
                <a:cs typeface="DM Sans"/>
                <a:sym typeface="DM Sans"/>
              </a:rPr>
              <a:t>Intercambia ideas por </a:t>
            </a:r>
            <a:r>
              <a:rPr lang="es" sz="1350">
                <a:solidFill>
                  <a:schemeClr val="dk1"/>
                </a:solidFill>
                <a:latin typeface="DM Sans"/>
                <a:ea typeface="DM Sans"/>
                <a:cs typeface="DM Sans"/>
                <a:sym typeface="DM Sans"/>
              </a:rPr>
              <a:t>el </a:t>
            </a:r>
            <a:r>
              <a:rPr b="1" lang="es" sz="1350">
                <a:solidFill>
                  <a:schemeClr val="dk1"/>
                </a:solidFill>
                <a:latin typeface="DM Sans"/>
                <a:ea typeface="DM Sans"/>
                <a:cs typeface="DM Sans"/>
                <a:sym typeface="DM Sans"/>
              </a:rPr>
              <a:t>chat de la plataforma</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indent="-314325" lvl="0" marL="457200" rtl="0" algn="l">
              <a:lnSpc>
                <a:spcPct val="100000"/>
              </a:lnSpc>
              <a:spcBef>
                <a:spcPts val="1000"/>
              </a:spcBef>
              <a:spcAft>
                <a:spcPts val="0"/>
              </a:spcAft>
              <a:buClr>
                <a:schemeClr val="dk2"/>
              </a:buClr>
              <a:buSzPts val="1350"/>
              <a:buFont typeface="Helvetica Neue"/>
              <a:buChar char="✓"/>
            </a:pPr>
            <a:r>
              <a:rPr lang="es" sz="1350">
                <a:solidFill>
                  <a:schemeClr val="dk1"/>
                </a:solidFill>
                <a:latin typeface="DM Sans"/>
                <a:ea typeface="DM Sans"/>
                <a:cs typeface="DM Sans"/>
                <a:sym typeface="DM Sans"/>
              </a:rPr>
              <a:t>Siempre </a:t>
            </a:r>
            <a:r>
              <a:rPr b="1" lang="es" sz="1350">
                <a:solidFill>
                  <a:schemeClr val="dk1"/>
                </a:solidFill>
                <a:latin typeface="DM Sans"/>
                <a:ea typeface="DM Sans"/>
                <a:cs typeface="DM Sans"/>
                <a:sym typeface="DM Sans"/>
              </a:rPr>
              <a:t>interactúa respetuosamente</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indent="-314325" lvl="0" marL="457200" rtl="0" algn="l">
              <a:lnSpc>
                <a:spcPct val="100000"/>
              </a:lnSpc>
              <a:spcBef>
                <a:spcPts val="1000"/>
              </a:spcBef>
              <a:spcAft>
                <a:spcPts val="1000"/>
              </a:spcAft>
              <a:buClr>
                <a:schemeClr val="dk2"/>
              </a:buClr>
              <a:buSzPts val="1350"/>
              <a:buFont typeface="Helvetica Neue"/>
              <a:buChar char="✓"/>
            </a:pPr>
            <a:r>
              <a:rPr lang="es" sz="1350">
                <a:solidFill>
                  <a:schemeClr val="dk1"/>
                </a:solidFill>
                <a:latin typeface="DM Sans"/>
                <a:ea typeface="DM Sans"/>
                <a:cs typeface="DM Sans"/>
                <a:sym typeface="DM Sans"/>
              </a:rPr>
              <a:t>No te olvides de</a:t>
            </a:r>
            <a:r>
              <a:rPr b="1" lang="es" sz="1350">
                <a:solidFill>
                  <a:schemeClr val="dk1"/>
                </a:solidFill>
                <a:latin typeface="DM Sans"/>
                <a:ea typeface="DM Sans"/>
                <a:cs typeface="DM Sans"/>
                <a:sym typeface="DM Sans"/>
              </a:rPr>
              <a:t> valorar tu experiencia</a:t>
            </a:r>
            <a:r>
              <a:rPr lang="es" sz="1350">
                <a:solidFill>
                  <a:schemeClr val="dk1"/>
                </a:solidFill>
                <a:latin typeface="DM Sans"/>
                <a:ea typeface="DM Sans"/>
                <a:cs typeface="DM Sans"/>
                <a:sym typeface="DM Sans"/>
              </a:rPr>
              <a:t> educativa y de contarnos cómo te va.</a:t>
            </a:r>
            <a:endParaRPr sz="1350">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nvSpPr>
        <p:spPr>
          <a:xfrm>
            <a:off x="1461300" y="1953000"/>
            <a:ext cx="6221400" cy="12375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800">
                <a:solidFill>
                  <a:schemeClr val="dk1"/>
                </a:solidFill>
                <a:latin typeface="DM Sans"/>
                <a:ea typeface="DM Sans"/>
                <a:cs typeface="DM Sans"/>
                <a:sym typeface="DM Sans"/>
              </a:rPr>
              <a:t>Interacciones</a:t>
            </a:r>
            <a:endParaRPr b="1" sz="3800">
              <a:solidFill>
                <a:schemeClr val="dk1"/>
              </a:solidFill>
              <a:latin typeface="DM Sans"/>
              <a:ea typeface="DM Sans"/>
              <a:cs typeface="DM Sans"/>
              <a:sym typeface="DM Sans"/>
            </a:endParaRPr>
          </a:p>
          <a:p>
            <a:pPr indent="0" lvl="0" marL="0" rtl="0" algn="ctr">
              <a:lnSpc>
                <a:spcPct val="90000"/>
              </a:lnSpc>
              <a:spcBef>
                <a:spcPts val="0"/>
              </a:spcBef>
              <a:spcAft>
                <a:spcPts val="0"/>
              </a:spcAft>
              <a:buNone/>
            </a:pPr>
            <a:r>
              <a:rPr b="1" lang="es" sz="3800">
                <a:solidFill>
                  <a:schemeClr val="dk1"/>
                </a:solidFill>
                <a:latin typeface="DM Sans"/>
                <a:ea typeface="DM Sans"/>
                <a:cs typeface="DM Sans"/>
                <a:sym typeface="DM Sans"/>
              </a:rPr>
              <a:t>en clases en vivo</a:t>
            </a:r>
            <a:endParaRPr b="1" sz="3800">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21" title="captura de pantalla de chat ficticio de zoom donde se destaca la opción de cambiar a quién dirijo el mensaje (todos o hacia alguien en privado)"/>
          <p:cNvPicPr preferRelativeResize="0"/>
          <p:nvPr/>
        </p:nvPicPr>
        <p:blipFill>
          <a:blip r:embed="rId3">
            <a:alphaModFix/>
          </a:blip>
          <a:stretch>
            <a:fillRect/>
          </a:stretch>
        </p:blipFill>
        <p:spPr>
          <a:xfrm>
            <a:off x="5538197" y="689850"/>
            <a:ext cx="3228478" cy="3712743"/>
          </a:xfrm>
          <a:prstGeom prst="rect">
            <a:avLst/>
          </a:prstGeom>
          <a:noFill/>
          <a:ln>
            <a:noFill/>
          </a:ln>
        </p:spPr>
      </p:pic>
      <p:sp>
        <p:nvSpPr>
          <p:cNvPr id="101" name="Google Shape;101;p21"/>
          <p:cNvSpPr/>
          <p:nvPr/>
        </p:nvSpPr>
        <p:spPr>
          <a:xfrm>
            <a:off x="588525" y="2563775"/>
            <a:ext cx="262500" cy="1209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1"/>
          <p:cNvSpPr txBox="1"/>
          <p:nvPr/>
        </p:nvSpPr>
        <p:spPr>
          <a:xfrm>
            <a:off x="549525" y="2330675"/>
            <a:ext cx="383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chemeClr val="dk1"/>
                </a:solidFill>
                <a:latin typeface="DM Sans"/>
                <a:ea typeface="DM Sans"/>
                <a:cs typeface="DM Sans"/>
                <a:sym typeface="DM Sans"/>
              </a:rPr>
              <a:t>2.</a:t>
            </a:r>
            <a:endParaRPr b="1">
              <a:latin typeface="DM Sans"/>
              <a:ea typeface="DM Sans"/>
              <a:cs typeface="DM Sans"/>
              <a:sym typeface="DM Sans"/>
            </a:endParaRPr>
          </a:p>
        </p:txBody>
      </p:sp>
      <p:sp>
        <p:nvSpPr>
          <p:cNvPr id="103" name="Google Shape;103;p21"/>
          <p:cNvSpPr txBox="1"/>
          <p:nvPr/>
        </p:nvSpPr>
        <p:spPr>
          <a:xfrm>
            <a:off x="932625" y="2330675"/>
            <a:ext cx="4347000" cy="16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350">
                <a:latin typeface="DM Sans"/>
                <a:ea typeface="DM Sans"/>
                <a:cs typeface="DM Sans"/>
                <a:sym typeface="DM Sans"/>
              </a:rPr>
              <a:t>Durante la dinámica de cada </a:t>
            </a:r>
            <a:r>
              <a:rPr lang="es" sz="1350">
                <a:latin typeface="DM Sans"/>
                <a:ea typeface="DM Sans"/>
                <a:cs typeface="DM Sans"/>
                <a:sym typeface="DM Sans"/>
              </a:rPr>
              <a:t>clase</a:t>
            </a:r>
            <a:r>
              <a:rPr lang="es" sz="1350">
                <a:latin typeface="DM Sans"/>
                <a:ea typeface="DM Sans"/>
                <a:cs typeface="DM Sans"/>
                <a:sym typeface="DM Sans"/>
              </a:rPr>
              <a:t> </a:t>
            </a:r>
            <a:r>
              <a:rPr lang="es" sz="1350">
                <a:latin typeface="DM Sans"/>
                <a:ea typeface="DM Sans"/>
                <a:cs typeface="DM Sans"/>
                <a:sym typeface="DM Sans"/>
              </a:rPr>
              <a:t>se abrirán breves espacios de consulta. Allí puedes escribir en el chat tu pregunta.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spcBef>
                <a:spcPts val="0"/>
              </a:spcBef>
              <a:spcAft>
                <a:spcPts val="0"/>
              </a:spcAft>
              <a:buNone/>
            </a:pPr>
            <a:r>
              <a:rPr b="1" lang="es" sz="1350">
                <a:solidFill>
                  <a:schemeClr val="dk1"/>
                </a:solidFill>
                <a:latin typeface="DM Sans"/>
                <a:ea typeface="DM Sans"/>
                <a:cs typeface="DM Sans"/>
                <a:sym typeface="DM Sans"/>
              </a:rPr>
              <a:t>¡Tu duda puede ayudar a otras personas!</a:t>
            </a:r>
            <a:endParaRPr b="1" sz="1350">
              <a:solidFill>
                <a:schemeClr val="dk1"/>
              </a:solidFill>
              <a:latin typeface="DM Sans"/>
              <a:ea typeface="DM Sans"/>
              <a:cs typeface="DM Sans"/>
              <a:sym typeface="DM Sans"/>
            </a:endParaRPr>
          </a:p>
          <a:p>
            <a:pPr indent="0" lvl="0" marL="0" rtl="0" algn="l">
              <a:spcBef>
                <a:spcPts val="0"/>
              </a:spcBef>
              <a:spcAft>
                <a:spcPts val="0"/>
              </a:spcAft>
              <a:buNone/>
            </a:pPr>
            <a:r>
              <a:rPr lang="es" sz="1350">
                <a:latin typeface="DM Sans"/>
                <a:ea typeface="DM Sans"/>
                <a:cs typeface="DM Sans"/>
                <a:sym typeface="DM Sans"/>
              </a:rPr>
              <a:t>No olvides seleccionar “todos” para que todos puedan leerte. </a:t>
            </a:r>
            <a:endParaRPr sz="1350">
              <a:latin typeface="DM Sans"/>
              <a:ea typeface="DM Sans"/>
              <a:cs typeface="DM Sans"/>
              <a:sym typeface="DM Sans"/>
            </a:endParaRPr>
          </a:p>
        </p:txBody>
      </p:sp>
      <p:sp>
        <p:nvSpPr>
          <p:cNvPr id="104" name="Google Shape;104;p21"/>
          <p:cNvSpPr txBox="1"/>
          <p:nvPr/>
        </p:nvSpPr>
        <p:spPr>
          <a:xfrm>
            <a:off x="473350" y="929975"/>
            <a:ext cx="4730100" cy="129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Espacios para consultas</a:t>
            </a:r>
            <a:endParaRPr b="1" sz="4000">
              <a:solidFill>
                <a:schemeClr val="dk1"/>
              </a:solidFill>
              <a:latin typeface="DM Sans"/>
              <a:ea typeface="DM Sans"/>
              <a:cs typeface="DM Sans"/>
              <a:sym typeface="DM Sans"/>
            </a:endParaRPr>
          </a:p>
        </p:txBody>
      </p:sp>
      <p:sp>
        <p:nvSpPr>
          <p:cNvPr id="105" name="Google Shape;105;p21"/>
          <p:cNvSpPr/>
          <p:nvPr/>
        </p:nvSpPr>
        <p:spPr>
          <a:xfrm>
            <a:off x="5732025" y="3560750"/>
            <a:ext cx="1459200" cy="333300"/>
          </a:xfrm>
          <a:prstGeom prst="roundRect">
            <a:avLst>
              <a:gd fmla="val 16667" name="adj"/>
            </a:avLst>
          </a:prstGeom>
          <a:noFill/>
          <a:ln cap="flat" cmpd="sng" w="38100">
            <a:solidFill>
              <a:srgbClr val="EAFF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 name="Google Shape;106;p21"/>
          <p:cNvCxnSpPr/>
          <p:nvPr/>
        </p:nvCxnSpPr>
        <p:spPr>
          <a:xfrm rot="10800000">
            <a:off x="3113525" y="3894050"/>
            <a:ext cx="2229900" cy="175200"/>
          </a:xfrm>
          <a:prstGeom prst="bentConnector2">
            <a:avLst/>
          </a:prstGeom>
          <a:noFill/>
          <a:ln cap="flat" cmpd="sng" w="9525">
            <a:solidFill>
              <a:schemeClr val="dk2"/>
            </a:solidFill>
            <a:prstDash val="solid"/>
            <a:round/>
            <a:headEnd len="med" w="med" type="oval"/>
            <a:tailEnd len="med" w="med" type="none"/>
          </a:ln>
        </p:spPr>
      </p:cxnSp>
      <p:sp>
        <p:nvSpPr>
          <p:cNvPr id="107" name="Google Shape;107;p21"/>
          <p:cNvSpPr/>
          <p:nvPr/>
        </p:nvSpPr>
        <p:spPr>
          <a:xfrm>
            <a:off x="588525" y="701375"/>
            <a:ext cx="3297000" cy="1209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1"/>
          <p:cNvSpPr/>
          <p:nvPr/>
        </p:nvSpPr>
        <p:spPr>
          <a:xfrm>
            <a:off x="588525" y="701375"/>
            <a:ext cx="3676800" cy="1209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1"/>
          <p:cNvSpPr txBox="1"/>
          <p:nvPr/>
        </p:nvSpPr>
        <p:spPr>
          <a:xfrm>
            <a:off x="549525" y="468275"/>
            <a:ext cx="4730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INTERACCIONES EN </a:t>
            </a:r>
            <a:r>
              <a:rPr b="1" lang="es" sz="1600">
                <a:solidFill>
                  <a:schemeClr val="dk1"/>
                </a:solidFill>
                <a:latin typeface="DM Sans"/>
                <a:ea typeface="DM Sans"/>
                <a:cs typeface="DM Sans"/>
                <a:sym typeface="DM Sans"/>
              </a:rPr>
              <a:t>CLASES EN VIVO</a:t>
            </a:r>
            <a:endParaRPr b="1">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nvSpPr>
        <p:spPr>
          <a:xfrm>
            <a:off x="473350" y="929975"/>
            <a:ext cx="81876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Funcionalidades</a:t>
            </a:r>
            <a:endParaRPr b="1" sz="4000">
              <a:solidFill>
                <a:schemeClr val="dk1"/>
              </a:solidFill>
              <a:latin typeface="DM Sans"/>
              <a:ea typeface="DM Sans"/>
              <a:cs typeface="DM Sans"/>
              <a:sym typeface="DM Sans"/>
            </a:endParaRPr>
          </a:p>
        </p:txBody>
      </p:sp>
      <p:sp>
        <p:nvSpPr>
          <p:cNvPr id="115" name="Google Shape;115;p22"/>
          <p:cNvSpPr txBox="1"/>
          <p:nvPr/>
        </p:nvSpPr>
        <p:spPr>
          <a:xfrm>
            <a:off x="473350" y="1776575"/>
            <a:ext cx="3745200" cy="808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800"/>
              </a:spcAft>
              <a:buNone/>
            </a:pPr>
            <a:r>
              <a:rPr lang="es" sz="1350">
                <a:solidFill>
                  <a:schemeClr val="dk1"/>
                </a:solidFill>
                <a:latin typeface="DM Sans"/>
                <a:ea typeface="DM Sans"/>
                <a:cs typeface="DM Sans"/>
                <a:sym typeface="DM Sans"/>
              </a:rPr>
              <a:t>Para </a:t>
            </a:r>
            <a:r>
              <a:rPr b="1" lang="es" sz="1350">
                <a:solidFill>
                  <a:schemeClr val="dk1"/>
                </a:solidFill>
                <a:latin typeface="DM Sans"/>
                <a:ea typeface="DM Sans"/>
                <a:cs typeface="DM Sans"/>
                <a:sym typeface="DM Sans"/>
              </a:rPr>
              <a:t>evitar saturar el chat de mensajes, </a:t>
            </a:r>
            <a:r>
              <a:rPr lang="es" sz="1350">
                <a:solidFill>
                  <a:schemeClr val="dk1"/>
                </a:solidFill>
                <a:latin typeface="DM Sans"/>
                <a:ea typeface="DM Sans"/>
                <a:cs typeface="DM Sans"/>
                <a:sym typeface="DM Sans"/>
              </a:rPr>
              <a:t>utiliza los signos que figuran en el apartado </a:t>
            </a:r>
            <a:r>
              <a:rPr b="1" lang="es" sz="1350">
                <a:solidFill>
                  <a:schemeClr val="dk1"/>
                </a:solidFill>
                <a:latin typeface="DM Sans"/>
                <a:ea typeface="DM Sans"/>
                <a:cs typeface="DM Sans"/>
                <a:sym typeface="DM Sans"/>
              </a:rPr>
              <a:t>Participantes</a:t>
            </a:r>
            <a:r>
              <a:rPr lang="es" sz="1350">
                <a:solidFill>
                  <a:schemeClr val="dk1"/>
                </a:solidFill>
                <a:latin typeface="DM Sans"/>
                <a:ea typeface="DM Sans"/>
                <a:cs typeface="DM Sans"/>
                <a:sym typeface="DM Sans"/>
              </a:rPr>
              <a:t>, dentro de Zoom.</a:t>
            </a:r>
            <a:r>
              <a:rPr lang="es" sz="1350">
                <a:solidFill>
                  <a:srgbClr val="666666"/>
                </a:solidFill>
                <a:latin typeface="DM Sans"/>
                <a:ea typeface="DM Sans"/>
                <a:cs typeface="DM Sans"/>
                <a:sym typeface="DM Sans"/>
              </a:rPr>
              <a:t>**</a:t>
            </a:r>
            <a:endParaRPr sz="1350">
              <a:latin typeface="DM Sans"/>
              <a:ea typeface="DM Sans"/>
              <a:cs typeface="DM Sans"/>
              <a:sym typeface="DM Sans"/>
            </a:endParaRPr>
          </a:p>
        </p:txBody>
      </p:sp>
      <p:sp>
        <p:nvSpPr>
          <p:cNvPr id="116" name="Google Shape;116;p22"/>
          <p:cNvSpPr txBox="1"/>
          <p:nvPr/>
        </p:nvSpPr>
        <p:spPr>
          <a:xfrm>
            <a:off x="4735750" y="1776575"/>
            <a:ext cx="3368100" cy="808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800"/>
              </a:spcAft>
              <a:buNone/>
            </a:pPr>
            <a:r>
              <a:rPr b="1" lang="es" sz="1350">
                <a:solidFill>
                  <a:schemeClr val="dk1"/>
                </a:solidFill>
                <a:latin typeface="DM Sans"/>
                <a:ea typeface="DM Sans"/>
                <a:cs typeface="DM Sans"/>
                <a:sym typeface="DM Sans"/>
              </a:rPr>
              <a:t>Por ejemplo:</a:t>
            </a:r>
            <a:r>
              <a:rPr lang="es" sz="1350">
                <a:solidFill>
                  <a:schemeClr val="dk1"/>
                </a:solidFill>
                <a:latin typeface="DM Sans"/>
                <a:ea typeface="DM Sans"/>
                <a:cs typeface="DM Sans"/>
                <a:sym typeface="DM Sans"/>
              </a:rPr>
              <a:t> si se pregunta si se escucha correctamente, debes seleccionar la opción “Sí” o “No”. </a:t>
            </a:r>
            <a:endParaRPr sz="1350">
              <a:latin typeface="DM Sans"/>
              <a:ea typeface="DM Sans"/>
              <a:cs typeface="DM Sans"/>
              <a:sym typeface="DM Sans"/>
            </a:endParaRPr>
          </a:p>
        </p:txBody>
      </p:sp>
      <p:pic>
        <p:nvPicPr>
          <p:cNvPr descr="Aparece: la cantidad de participantes, la opción de chatear y de compartir pantalla" id="117" name="Google Shape;117;p22" title="captura de pantalla de menú de zoom "/>
          <p:cNvPicPr preferRelativeResize="0"/>
          <p:nvPr/>
        </p:nvPicPr>
        <p:blipFill>
          <a:blip r:embed="rId3">
            <a:alphaModFix/>
          </a:blip>
          <a:stretch>
            <a:fillRect/>
          </a:stretch>
        </p:blipFill>
        <p:spPr>
          <a:xfrm>
            <a:off x="549525" y="2748075"/>
            <a:ext cx="3668949" cy="611500"/>
          </a:xfrm>
          <a:prstGeom prst="rect">
            <a:avLst/>
          </a:prstGeom>
          <a:noFill/>
          <a:ln>
            <a:noFill/>
          </a:ln>
        </p:spPr>
      </p:pic>
      <p:pic>
        <p:nvPicPr>
          <p:cNvPr descr="Aparecen: emojis y opciones de votación" id="118" name="Google Shape;118;p22" title="captura de pantalla de menú de zoom de reacciones"/>
          <p:cNvPicPr preferRelativeResize="0"/>
          <p:nvPr/>
        </p:nvPicPr>
        <p:blipFill>
          <a:blip r:embed="rId4">
            <a:alphaModFix/>
          </a:blip>
          <a:stretch>
            <a:fillRect/>
          </a:stretch>
        </p:blipFill>
        <p:spPr>
          <a:xfrm>
            <a:off x="4818698" y="2715563"/>
            <a:ext cx="2583750" cy="1534275"/>
          </a:xfrm>
          <a:prstGeom prst="rect">
            <a:avLst/>
          </a:prstGeom>
          <a:noFill/>
          <a:ln>
            <a:noFill/>
          </a:ln>
        </p:spPr>
      </p:pic>
      <p:sp>
        <p:nvSpPr>
          <p:cNvPr id="119" name="Google Shape;119;p22"/>
          <p:cNvSpPr txBox="1"/>
          <p:nvPr/>
        </p:nvSpPr>
        <p:spPr>
          <a:xfrm>
            <a:off x="473350" y="4633950"/>
            <a:ext cx="7056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rgbClr val="999999"/>
                </a:solidFill>
                <a:latin typeface="DM Sans"/>
                <a:ea typeface="DM Sans"/>
                <a:cs typeface="DM Sans"/>
                <a:sym typeface="DM Sans"/>
              </a:rPr>
              <a:t>**Para quitar el signo, presiona el mismo botón nuevamente o la opción “clear all”.</a:t>
            </a:r>
            <a:endParaRPr i="1" sz="1100" u="sng">
              <a:solidFill>
                <a:srgbClr val="83AEFB"/>
              </a:solidFill>
              <a:latin typeface="DM Sans"/>
              <a:ea typeface="DM Sans"/>
              <a:cs typeface="DM Sans"/>
              <a:sym typeface="DM Sans"/>
            </a:endParaRPr>
          </a:p>
        </p:txBody>
      </p:sp>
      <p:sp>
        <p:nvSpPr>
          <p:cNvPr id="120" name="Google Shape;120;p22"/>
          <p:cNvSpPr/>
          <p:nvPr/>
        </p:nvSpPr>
        <p:spPr>
          <a:xfrm>
            <a:off x="588525" y="701375"/>
            <a:ext cx="3297000" cy="1209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588525" y="701375"/>
            <a:ext cx="3676800" cy="1209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2"/>
          <p:cNvSpPr txBox="1"/>
          <p:nvPr/>
        </p:nvSpPr>
        <p:spPr>
          <a:xfrm>
            <a:off x="549525" y="468275"/>
            <a:ext cx="4730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INTERACCIONES EN </a:t>
            </a:r>
            <a:r>
              <a:rPr b="1" lang="es" sz="1600">
                <a:solidFill>
                  <a:schemeClr val="dk1"/>
                </a:solidFill>
                <a:latin typeface="DM Sans"/>
                <a:ea typeface="DM Sans"/>
                <a:cs typeface="DM Sans"/>
                <a:sym typeface="DM Sans"/>
              </a:rPr>
              <a:t>CLASES EN VIVO</a:t>
            </a:r>
            <a:endParaRPr b="1">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nvSpPr>
        <p:spPr>
          <a:xfrm>
            <a:off x="1461300" y="1953000"/>
            <a:ext cx="6221400" cy="711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800">
                <a:solidFill>
                  <a:schemeClr val="dk1"/>
                </a:solidFill>
                <a:latin typeface="DM Sans"/>
                <a:ea typeface="DM Sans"/>
                <a:cs typeface="DM Sans"/>
                <a:sym typeface="DM Sans"/>
              </a:rPr>
              <a:t>Metodología</a:t>
            </a:r>
            <a:endParaRPr b="1" sz="3800">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nvSpPr>
        <p:spPr>
          <a:xfrm>
            <a:off x="628175" y="1986000"/>
            <a:ext cx="37776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50">
              <a:latin typeface="DM Sans"/>
              <a:ea typeface="DM Sans"/>
              <a:cs typeface="DM Sans"/>
              <a:sym typeface="DM Sans"/>
            </a:endParaRPr>
          </a:p>
        </p:txBody>
      </p:sp>
      <p:sp>
        <p:nvSpPr>
          <p:cNvPr id="133" name="Google Shape;133;p24"/>
          <p:cNvSpPr txBox="1"/>
          <p:nvPr/>
        </p:nvSpPr>
        <p:spPr>
          <a:xfrm>
            <a:off x="1222510" y="1410963"/>
            <a:ext cx="226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latin typeface="DM Sans"/>
                <a:ea typeface="DM Sans"/>
                <a:cs typeface="DM Sans"/>
                <a:sym typeface="DM Sans"/>
              </a:rPr>
              <a:t>Material asincrónico</a:t>
            </a:r>
            <a:endParaRPr b="1">
              <a:latin typeface="DM Sans"/>
              <a:ea typeface="DM Sans"/>
              <a:cs typeface="DM Sans"/>
              <a:sym typeface="DM Sans"/>
            </a:endParaRPr>
          </a:p>
        </p:txBody>
      </p:sp>
      <p:sp>
        <p:nvSpPr>
          <p:cNvPr id="134" name="Google Shape;134;p24"/>
          <p:cNvSpPr txBox="1"/>
          <p:nvPr/>
        </p:nvSpPr>
        <p:spPr>
          <a:xfrm>
            <a:off x="571025" y="1986000"/>
            <a:ext cx="3891900" cy="15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50">
                <a:solidFill>
                  <a:schemeClr val="dk1"/>
                </a:solidFill>
                <a:latin typeface="DM Sans"/>
                <a:ea typeface="DM Sans"/>
                <a:cs typeface="DM Sans"/>
                <a:sym typeface="DM Sans"/>
              </a:rPr>
              <a:t>Cada semana encontrarás disponible en la plataforma </a:t>
            </a:r>
            <a:r>
              <a:rPr b="1" lang="es" sz="1250">
                <a:solidFill>
                  <a:schemeClr val="dk1"/>
                </a:solidFill>
                <a:latin typeface="DM Sans"/>
                <a:ea typeface="DM Sans"/>
                <a:cs typeface="DM Sans"/>
                <a:sym typeface="DM Sans"/>
              </a:rPr>
              <a:t>contenido asincrónico divido en unidades temáticas. Cada una tendrá contenido </a:t>
            </a:r>
            <a:r>
              <a:rPr lang="es" sz="1250">
                <a:solidFill>
                  <a:schemeClr val="dk1"/>
                </a:solidFill>
                <a:latin typeface="DM Sans"/>
                <a:ea typeface="DM Sans"/>
                <a:cs typeface="DM Sans"/>
                <a:sym typeface="DM Sans"/>
              </a:rPr>
              <a:t>en </a:t>
            </a:r>
            <a:r>
              <a:rPr b="1" lang="es" sz="1250">
                <a:solidFill>
                  <a:schemeClr val="dk1"/>
                </a:solidFill>
                <a:latin typeface="DM Sans"/>
                <a:ea typeface="DM Sans"/>
                <a:cs typeface="DM Sans"/>
                <a:sym typeface="DM Sans"/>
              </a:rPr>
              <a:t>formato audiovisual</a:t>
            </a:r>
            <a:r>
              <a:rPr lang="es" sz="1250">
                <a:solidFill>
                  <a:schemeClr val="dk1"/>
                </a:solidFill>
                <a:latin typeface="DM Sans"/>
                <a:ea typeface="DM Sans"/>
                <a:cs typeface="DM Sans"/>
                <a:sym typeface="DM Sans"/>
              </a:rPr>
              <a:t> (videos, textos, imágenes, tutoriales, podcast, etc). </a:t>
            </a:r>
            <a:r>
              <a:rPr b="1" lang="es" sz="1250">
                <a:solidFill>
                  <a:schemeClr val="dk1"/>
                </a:solidFill>
                <a:highlight>
                  <a:schemeClr val="accent6"/>
                </a:highlight>
                <a:latin typeface="DM Sans"/>
                <a:ea typeface="DM Sans"/>
                <a:cs typeface="DM Sans"/>
                <a:sym typeface="DM Sans"/>
              </a:rPr>
              <a:t>Es requisito que veas este material en forma previa a cada clase en vivo 🙌</a:t>
            </a:r>
            <a:endParaRPr sz="1250">
              <a:solidFill>
                <a:schemeClr val="dk1"/>
              </a:solidFill>
              <a:latin typeface="DM Sans"/>
              <a:ea typeface="DM Sans"/>
              <a:cs typeface="DM Sans"/>
              <a:sym typeface="DM Sans"/>
            </a:endParaRPr>
          </a:p>
        </p:txBody>
      </p:sp>
      <p:sp>
        <p:nvSpPr>
          <p:cNvPr id="135" name="Google Shape;135;p24"/>
          <p:cNvSpPr txBox="1"/>
          <p:nvPr/>
        </p:nvSpPr>
        <p:spPr>
          <a:xfrm>
            <a:off x="5357524" y="1403550"/>
            <a:ext cx="238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latin typeface="DM Sans"/>
                <a:ea typeface="DM Sans"/>
                <a:cs typeface="DM Sans"/>
                <a:sym typeface="DM Sans"/>
              </a:rPr>
              <a:t>Clases</a:t>
            </a:r>
            <a:r>
              <a:rPr b="1" lang="es">
                <a:latin typeface="DM Sans"/>
                <a:ea typeface="DM Sans"/>
                <a:cs typeface="DM Sans"/>
                <a:sym typeface="DM Sans"/>
              </a:rPr>
              <a:t> en vivo</a:t>
            </a:r>
            <a:endParaRPr b="1">
              <a:latin typeface="DM Sans"/>
              <a:ea typeface="DM Sans"/>
              <a:cs typeface="DM Sans"/>
              <a:sym typeface="DM Sans"/>
            </a:endParaRPr>
          </a:p>
        </p:txBody>
      </p:sp>
      <p:sp>
        <p:nvSpPr>
          <p:cNvPr id="136" name="Google Shape;136;p24"/>
          <p:cNvSpPr txBox="1"/>
          <p:nvPr/>
        </p:nvSpPr>
        <p:spPr>
          <a:xfrm>
            <a:off x="4795375" y="1840200"/>
            <a:ext cx="3777600" cy="114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1250">
                <a:solidFill>
                  <a:schemeClr val="dk1"/>
                </a:solidFill>
                <a:latin typeface="DM Sans"/>
                <a:ea typeface="DM Sans"/>
                <a:cs typeface="DM Sans"/>
                <a:sym typeface="DM Sans"/>
              </a:rPr>
              <a:t>Cada semana deberás asistir a una clase en vivo de dos horas. El objetivo es poner en práctica y profundizar sobre el Contenido Pregrabado.</a:t>
            </a:r>
            <a:r>
              <a:rPr b="1" lang="es" sz="1250">
                <a:solidFill>
                  <a:schemeClr val="dk1"/>
                </a:solidFill>
                <a:latin typeface="DM Sans"/>
                <a:ea typeface="DM Sans"/>
                <a:cs typeface="DM Sans"/>
                <a:sym typeface="DM Sans"/>
              </a:rPr>
              <a:t> E</a:t>
            </a:r>
            <a:r>
              <a:rPr b="1" lang="es" sz="1250">
                <a:solidFill>
                  <a:schemeClr val="dk1"/>
                </a:solidFill>
                <a:highlight>
                  <a:srgbClr val="EAFF6A"/>
                </a:highlight>
                <a:latin typeface="DM Sans"/>
                <a:ea typeface="DM Sans"/>
                <a:cs typeface="DM Sans"/>
                <a:sym typeface="DM Sans"/>
              </a:rPr>
              <a:t>stá orientada a ejemplos en vivo, actividades colaborativas y prácticas.</a:t>
            </a:r>
            <a:endParaRPr b="1" sz="1250">
              <a:solidFill>
                <a:schemeClr val="dk1"/>
              </a:solidFill>
              <a:highlight>
                <a:srgbClr val="EAFF6A"/>
              </a:highlight>
              <a:latin typeface="DM Sans"/>
              <a:ea typeface="DM Sans"/>
              <a:cs typeface="DM Sans"/>
              <a:sym typeface="DM Sans"/>
            </a:endParaRPr>
          </a:p>
        </p:txBody>
      </p:sp>
      <p:sp>
        <p:nvSpPr>
          <p:cNvPr id="137" name="Google Shape;137;p24"/>
          <p:cNvSpPr txBox="1"/>
          <p:nvPr/>
        </p:nvSpPr>
        <p:spPr>
          <a:xfrm>
            <a:off x="4799750" y="4712600"/>
            <a:ext cx="40719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50"/>
          </a:p>
        </p:txBody>
      </p:sp>
      <p:grpSp>
        <p:nvGrpSpPr>
          <p:cNvPr id="138" name="Google Shape;138;p24"/>
          <p:cNvGrpSpPr/>
          <p:nvPr/>
        </p:nvGrpSpPr>
        <p:grpSpPr>
          <a:xfrm>
            <a:off x="660358" y="1395534"/>
            <a:ext cx="431100" cy="431100"/>
            <a:chOff x="664733" y="656834"/>
            <a:chExt cx="431100" cy="431100"/>
          </a:xfrm>
        </p:grpSpPr>
        <p:sp>
          <p:nvSpPr>
            <p:cNvPr id="139" name="Google Shape;139;p24"/>
            <p:cNvSpPr/>
            <p:nvPr/>
          </p:nvSpPr>
          <p:spPr>
            <a:xfrm>
              <a:off x="664733" y="656834"/>
              <a:ext cx="431100" cy="4311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0" name="Google Shape;140;p24"/>
            <p:cNvPicPr preferRelativeResize="0"/>
            <p:nvPr/>
          </p:nvPicPr>
          <p:blipFill>
            <a:blip r:embed="rId3">
              <a:alphaModFix/>
            </a:blip>
            <a:stretch>
              <a:fillRect/>
            </a:stretch>
          </p:blipFill>
          <p:spPr>
            <a:xfrm>
              <a:off x="718750" y="710875"/>
              <a:ext cx="323050" cy="323050"/>
            </a:xfrm>
            <a:prstGeom prst="rect">
              <a:avLst/>
            </a:prstGeom>
            <a:noFill/>
            <a:ln>
              <a:noFill/>
            </a:ln>
          </p:spPr>
        </p:pic>
      </p:grpSp>
      <p:grpSp>
        <p:nvGrpSpPr>
          <p:cNvPr id="141" name="Google Shape;141;p24"/>
          <p:cNvGrpSpPr/>
          <p:nvPr/>
        </p:nvGrpSpPr>
        <p:grpSpPr>
          <a:xfrm>
            <a:off x="4805508" y="1377609"/>
            <a:ext cx="431100" cy="431100"/>
            <a:chOff x="674858" y="2943959"/>
            <a:chExt cx="431100" cy="431100"/>
          </a:xfrm>
        </p:grpSpPr>
        <p:sp>
          <p:nvSpPr>
            <p:cNvPr id="142" name="Google Shape;142;p24"/>
            <p:cNvSpPr/>
            <p:nvPr/>
          </p:nvSpPr>
          <p:spPr>
            <a:xfrm>
              <a:off x="674858" y="2943959"/>
              <a:ext cx="431100" cy="4311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 name="Google Shape;143;p24"/>
            <p:cNvPicPr preferRelativeResize="0"/>
            <p:nvPr/>
          </p:nvPicPr>
          <p:blipFill>
            <a:blip r:embed="rId4">
              <a:alphaModFix/>
            </a:blip>
            <a:stretch>
              <a:fillRect/>
            </a:stretch>
          </p:blipFill>
          <p:spPr>
            <a:xfrm>
              <a:off x="728875" y="3008475"/>
              <a:ext cx="323050" cy="323050"/>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nvSpPr>
        <p:spPr>
          <a:xfrm>
            <a:off x="1113900" y="2216250"/>
            <a:ext cx="6916200" cy="7110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3800"/>
              <a:buFont typeface="Arial"/>
              <a:buNone/>
            </a:pPr>
            <a:r>
              <a:rPr b="1" lang="es" sz="3800">
                <a:solidFill>
                  <a:schemeClr val="dk1"/>
                </a:solidFill>
                <a:latin typeface="DM Sans"/>
                <a:ea typeface="DM Sans"/>
                <a:cs typeface="DM Sans"/>
                <a:sym typeface="DM Sans"/>
              </a:rPr>
              <a:t>Preentregas</a:t>
            </a:r>
            <a:r>
              <a:rPr b="1" lang="es" sz="3800">
                <a:solidFill>
                  <a:schemeClr val="dk1"/>
                </a:solidFill>
                <a:latin typeface="DM Sans"/>
                <a:ea typeface="DM Sans"/>
                <a:cs typeface="DM Sans"/>
                <a:sym typeface="DM Sans"/>
              </a:rPr>
              <a:t> y </a:t>
            </a:r>
            <a:r>
              <a:rPr b="1" i="0" lang="es" sz="3800" u="none" cap="none" strike="noStrike">
                <a:solidFill>
                  <a:schemeClr val="dk1"/>
                </a:solidFill>
                <a:latin typeface="DM Sans"/>
                <a:ea typeface="DM Sans"/>
                <a:cs typeface="DM Sans"/>
                <a:sym typeface="DM Sans"/>
              </a:rPr>
              <a:t>Proyecto Final</a:t>
            </a:r>
            <a:endParaRPr b="1" i="0" sz="3800" u="none" cap="none" strike="noStrike">
              <a:solidFill>
                <a:schemeClr val="dk1"/>
              </a:solidFill>
              <a:highlight>
                <a:srgbClr val="DEFC52"/>
              </a:highlight>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p:nvPr/>
        </p:nvSpPr>
        <p:spPr>
          <a:xfrm>
            <a:off x="588525" y="686550"/>
            <a:ext cx="1505100" cy="1209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6"/>
          <p:cNvSpPr txBox="1"/>
          <p:nvPr/>
        </p:nvSpPr>
        <p:spPr>
          <a:xfrm>
            <a:off x="588525" y="484650"/>
            <a:ext cx="1602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lang="es" sz="1600">
                <a:solidFill>
                  <a:schemeClr val="dk1"/>
                </a:solidFill>
                <a:latin typeface="DM Sans"/>
                <a:ea typeface="DM Sans"/>
                <a:cs typeface="DM Sans"/>
                <a:sym typeface="DM Sans"/>
              </a:rPr>
              <a:t>PREENTREGAS</a:t>
            </a:r>
            <a:endParaRPr b="0" i="0" sz="1400" u="none" cap="none" strike="noStrike">
              <a:solidFill>
                <a:srgbClr val="000000"/>
              </a:solidFill>
              <a:latin typeface="DM Sans"/>
              <a:ea typeface="DM Sans"/>
              <a:cs typeface="DM Sans"/>
              <a:sym typeface="DM Sans"/>
            </a:endParaRPr>
          </a:p>
        </p:txBody>
      </p:sp>
      <p:sp>
        <p:nvSpPr>
          <p:cNvPr id="155" name="Google Shape;155;p26"/>
          <p:cNvSpPr txBox="1"/>
          <p:nvPr/>
        </p:nvSpPr>
        <p:spPr>
          <a:xfrm>
            <a:off x="501450" y="894975"/>
            <a:ext cx="2795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¿Qué son?</a:t>
            </a:r>
            <a:endParaRPr b="1" i="0" sz="4000" u="none" cap="none" strike="noStrike">
              <a:solidFill>
                <a:schemeClr val="dk1"/>
              </a:solidFill>
              <a:latin typeface="DM Sans"/>
              <a:ea typeface="DM Sans"/>
              <a:cs typeface="DM Sans"/>
              <a:sym typeface="DM Sans"/>
            </a:endParaRPr>
          </a:p>
        </p:txBody>
      </p:sp>
      <p:sp>
        <p:nvSpPr>
          <p:cNvPr id="156" name="Google Shape;156;p26"/>
          <p:cNvSpPr txBox="1"/>
          <p:nvPr/>
        </p:nvSpPr>
        <p:spPr>
          <a:xfrm>
            <a:off x="402525" y="2584250"/>
            <a:ext cx="4012800" cy="110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500"/>
              <a:buFont typeface="Arial"/>
              <a:buNone/>
            </a:pPr>
            <a:r>
              <a:rPr b="0" i="0" lang="es" sz="1350" u="none" cap="none" strike="noStrike">
                <a:solidFill>
                  <a:schemeClr val="dk1"/>
                </a:solidFill>
                <a:latin typeface="DM Sans"/>
                <a:ea typeface="DM Sans"/>
                <a:cs typeface="DM Sans"/>
                <a:sym typeface="DM Sans"/>
              </a:rPr>
              <a:t>Actividades que les permitirán avanzar en el desarrollo del proyecto final. Deberán ser subidas a la plataforma hasta 7 días luego de la clase para ser corregidas por </a:t>
            </a:r>
            <a:r>
              <a:rPr lang="es" sz="1350">
                <a:solidFill>
                  <a:schemeClr val="dk1"/>
                </a:solidFill>
                <a:latin typeface="DM Sans"/>
                <a:ea typeface="DM Sans"/>
                <a:cs typeface="DM Sans"/>
                <a:sym typeface="DM Sans"/>
              </a:rPr>
              <a:t>tu profesor/a.</a:t>
            </a:r>
            <a:endParaRPr b="0" i="0" sz="1350" u="none" cap="none" strike="noStrike">
              <a:solidFill>
                <a:srgbClr val="000000"/>
              </a:solidFill>
              <a:latin typeface="DM Sans"/>
              <a:ea typeface="DM Sans"/>
              <a:cs typeface="DM Sans"/>
              <a:sym typeface="DM Sans"/>
            </a:endParaRPr>
          </a:p>
        </p:txBody>
      </p:sp>
      <p:sp>
        <p:nvSpPr>
          <p:cNvPr id="157" name="Google Shape;157;p26"/>
          <p:cNvSpPr txBox="1"/>
          <p:nvPr/>
        </p:nvSpPr>
        <p:spPr>
          <a:xfrm>
            <a:off x="1025750" y="2106775"/>
            <a:ext cx="2864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lang="es">
                <a:latin typeface="DM Sans"/>
                <a:ea typeface="DM Sans"/>
                <a:cs typeface="DM Sans"/>
                <a:sym typeface="DM Sans"/>
              </a:rPr>
              <a:t>Preentregas</a:t>
            </a:r>
            <a:endParaRPr b="1" i="0" sz="1400" u="none" cap="none" strike="noStrike">
              <a:solidFill>
                <a:srgbClr val="000000"/>
              </a:solidFill>
              <a:latin typeface="DM Sans"/>
              <a:ea typeface="DM Sans"/>
              <a:cs typeface="DM Sans"/>
              <a:sym typeface="DM Sans"/>
            </a:endParaRPr>
          </a:p>
        </p:txBody>
      </p:sp>
      <p:grpSp>
        <p:nvGrpSpPr>
          <p:cNvPr id="158" name="Google Shape;158;p26"/>
          <p:cNvGrpSpPr/>
          <p:nvPr/>
        </p:nvGrpSpPr>
        <p:grpSpPr>
          <a:xfrm>
            <a:off x="475501" y="2102586"/>
            <a:ext cx="401518" cy="401518"/>
            <a:chOff x="3137108" y="2467173"/>
            <a:chExt cx="738900" cy="738900"/>
          </a:xfrm>
        </p:grpSpPr>
        <p:sp>
          <p:nvSpPr>
            <p:cNvPr id="159" name="Google Shape;159;p26"/>
            <p:cNvSpPr/>
            <p:nvPr/>
          </p:nvSpPr>
          <p:spPr>
            <a:xfrm>
              <a:off x="3137108"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0" name="Google Shape;160;p26" title="ícono de desafío entregable"/>
            <p:cNvPicPr preferRelativeResize="0"/>
            <p:nvPr/>
          </p:nvPicPr>
          <p:blipFill>
            <a:blip r:embed="rId3">
              <a:alphaModFix/>
            </a:blip>
            <a:stretch>
              <a:fillRect/>
            </a:stretch>
          </p:blipFill>
          <p:spPr>
            <a:xfrm>
              <a:off x="3284109" y="2622263"/>
              <a:ext cx="428721" cy="428726"/>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nvSpPr>
        <p:spPr>
          <a:xfrm>
            <a:off x="501450" y="894975"/>
            <a:ext cx="3843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Proyecto final</a:t>
            </a:r>
            <a:endParaRPr b="1" i="0" sz="4000" u="none" cap="none" strike="noStrike">
              <a:solidFill>
                <a:schemeClr val="dk1"/>
              </a:solidFill>
              <a:latin typeface="DM Sans"/>
              <a:ea typeface="DM Sans"/>
              <a:cs typeface="DM Sans"/>
              <a:sym typeface="DM Sans"/>
            </a:endParaRPr>
          </a:p>
        </p:txBody>
      </p:sp>
      <p:sp>
        <p:nvSpPr>
          <p:cNvPr id="166" name="Google Shape;166;p27"/>
          <p:cNvSpPr txBox="1"/>
          <p:nvPr/>
        </p:nvSpPr>
        <p:spPr>
          <a:xfrm>
            <a:off x="473350" y="1908175"/>
            <a:ext cx="38346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s" sz="1350" u="none" cap="none" strike="noStrike">
                <a:solidFill>
                  <a:srgbClr val="000000"/>
                </a:solidFill>
                <a:latin typeface="DM Sans"/>
                <a:ea typeface="DM Sans"/>
                <a:cs typeface="DM Sans"/>
                <a:sym typeface="DM Sans"/>
              </a:rPr>
              <a:t>El Proyecto final se construye a partir de</a:t>
            </a:r>
            <a:r>
              <a:rPr b="0" i="0" lang="es" sz="1350" u="none" cap="none" strike="noStrike">
                <a:solidFill>
                  <a:srgbClr val="000000"/>
                </a:solidFill>
                <a:latin typeface="DM Sans"/>
                <a:ea typeface="DM Sans"/>
                <a:cs typeface="DM Sans"/>
                <a:sym typeface="DM Sans"/>
              </a:rPr>
              <a:t> </a:t>
            </a:r>
            <a:r>
              <a:rPr b="1" i="0" lang="es" sz="1350" u="none" cap="none" strike="noStrike">
                <a:solidFill>
                  <a:srgbClr val="000000"/>
                </a:solidFill>
                <a:highlight>
                  <a:srgbClr val="EAFF6A"/>
                </a:highlight>
                <a:latin typeface="DM Sans"/>
                <a:ea typeface="DM Sans"/>
                <a:cs typeface="DM Sans"/>
                <a:sym typeface="DM Sans"/>
              </a:rPr>
              <a:t>l</a:t>
            </a:r>
            <a:r>
              <a:rPr b="1" lang="es" sz="1350">
                <a:highlight>
                  <a:srgbClr val="EAFF6A"/>
                </a:highlight>
                <a:latin typeface="DM Sans"/>
                <a:ea typeface="DM Sans"/>
                <a:cs typeface="DM Sans"/>
                <a:sym typeface="DM Sans"/>
              </a:rPr>
              <a:t>a</a:t>
            </a:r>
            <a:r>
              <a:rPr b="1" i="0" lang="es" sz="1350" u="none" cap="none" strike="noStrike">
                <a:solidFill>
                  <a:srgbClr val="000000"/>
                </a:solidFill>
                <a:highlight>
                  <a:srgbClr val="EAFF6A"/>
                </a:highlight>
                <a:latin typeface="DM Sans"/>
                <a:ea typeface="DM Sans"/>
                <a:cs typeface="DM Sans"/>
                <a:sym typeface="DM Sans"/>
              </a:rPr>
              <a:t>s </a:t>
            </a:r>
            <a:r>
              <a:rPr b="1" lang="es" sz="1350">
                <a:highlight>
                  <a:srgbClr val="EAFF6A"/>
                </a:highlight>
                <a:latin typeface="DM Sans"/>
                <a:ea typeface="DM Sans"/>
                <a:cs typeface="DM Sans"/>
                <a:sym typeface="DM Sans"/>
              </a:rPr>
              <a:t>preentregas.</a:t>
            </a:r>
            <a:endParaRPr b="0"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t/>
            </a:r>
            <a:endParaRPr b="0"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rPr b="0" i="0" lang="es" sz="1350" u="none" cap="none" strike="noStrike">
                <a:solidFill>
                  <a:srgbClr val="000000"/>
                </a:solidFill>
                <a:latin typeface="DM Sans"/>
                <a:ea typeface="DM Sans"/>
                <a:cs typeface="DM Sans"/>
                <a:sym typeface="DM Sans"/>
              </a:rPr>
              <a:t>El objetivo es que cada estudiante pueda utilizar su Proyecto final como parte de su portfolio personal.</a:t>
            </a:r>
            <a:endParaRPr b="0"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chemeClr val="dk1"/>
              </a:buClr>
              <a:buSzPts val="1100"/>
              <a:buFont typeface="Arial"/>
              <a:buNone/>
            </a:pPr>
            <a:r>
              <a:t/>
            </a:r>
            <a:endParaRPr b="0" i="0" sz="135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DM Sans"/>
              <a:ea typeface="DM Sans"/>
              <a:cs typeface="DM Sans"/>
              <a:sym typeface="DM Sans"/>
            </a:endParaRPr>
          </a:p>
        </p:txBody>
      </p:sp>
      <p:sp>
        <p:nvSpPr>
          <p:cNvPr id="167" name="Google Shape;167;p27"/>
          <p:cNvSpPr txBox="1"/>
          <p:nvPr/>
        </p:nvSpPr>
        <p:spPr>
          <a:xfrm>
            <a:off x="4527575" y="1908175"/>
            <a:ext cx="4140900" cy="1223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latin typeface="DM Sans"/>
                <a:ea typeface="DM Sans"/>
                <a:cs typeface="DM Sans"/>
                <a:sym typeface="DM Sans"/>
              </a:rPr>
              <a:t>El Proyecto Final se debe subir a la plataforma la </a:t>
            </a:r>
            <a:r>
              <a:rPr b="0" i="0" lang="es" sz="1350" u="sng" cap="none" strike="noStrike">
                <a:solidFill>
                  <a:srgbClr val="000000"/>
                </a:solidFill>
                <a:latin typeface="DM Sans"/>
                <a:ea typeface="DM Sans"/>
                <a:cs typeface="DM Sans"/>
                <a:sym typeface="DM Sans"/>
              </a:rPr>
              <a:t> última clase</a:t>
            </a:r>
            <a:r>
              <a:rPr b="0" i="0" lang="es" sz="1350" u="none" cap="none" strike="noStrike">
                <a:solidFill>
                  <a:srgbClr val="000000"/>
                </a:solidFill>
                <a:latin typeface="DM Sans"/>
                <a:ea typeface="DM Sans"/>
                <a:cs typeface="DM Sans"/>
                <a:sym typeface="DM Sans"/>
              </a:rPr>
              <a:t> del curso. En caso de no hacerlo </a:t>
            </a:r>
            <a:r>
              <a:rPr b="1" i="0" lang="es" sz="1350" u="none" cap="none" strike="noStrike">
                <a:solidFill>
                  <a:srgbClr val="000000"/>
                </a:solidFill>
                <a:latin typeface="DM Sans"/>
                <a:ea typeface="DM Sans"/>
                <a:cs typeface="DM Sans"/>
                <a:sym typeface="DM Sans"/>
              </a:rPr>
              <a:t>tendrás </a:t>
            </a:r>
            <a:r>
              <a:rPr b="1" lang="es" sz="1350">
                <a:latin typeface="DM Sans"/>
                <a:ea typeface="DM Sans"/>
                <a:cs typeface="DM Sans"/>
                <a:sym typeface="DM Sans"/>
              </a:rPr>
              <a:t>1</a:t>
            </a:r>
            <a:r>
              <a:rPr b="1" i="0" lang="es" sz="1350" u="none" cap="none" strike="noStrike">
                <a:solidFill>
                  <a:srgbClr val="000000"/>
                </a:solidFill>
                <a:latin typeface="DM Sans"/>
                <a:ea typeface="DM Sans"/>
                <a:cs typeface="DM Sans"/>
                <a:sym typeface="DM Sans"/>
              </a:rPr>
              <a:t>0 días </a:t>
            </a:r>
            <a:r>
              <a:rPr b="0" i="0" lang="es" sz="1350" u="none" cap="none" strike="noStrike">
                <a:solidFill>
                  <a:srgbClr val="000000"/>
                </a:solidFill>
                <a:latin typeface="DM Sans"/>
                <a:ea typeface="DM Sans"/>
                <a:cs typeface="DM Sans"/>
                <a:sym typeface="DM Sans"/>
              </a:rPr>
              <a:t>a partir de la finalización del curso para cargarlo en la plataforma. Pasados esos días, el botón de entrega se inhabilitará.</a:t>
            </a:r>
            <a:endParaRPr b="0" i="0" sz="1350" u="none" cap="none" strike="noStrike">
              <a:solidFill>
                <a:srgbClr val="000000"/>
              </a:solidFill>
              <a:latin typeface="DM Sans"/>
              <a:ea typeface="DM Sans"/>
              <a:cs typeface="DM Sans"/>
              <a:sym typeface="DM Sans"/>
            </a:endParaRPr>
          </a:p>
        </p:txBody>
      </p:sp>
      <p:sp>
        <p:nvSpPr>
          <p:cNvPr id="168" name="Google Shape;168;p27"/>
          <p:cNvSpPr/>
          <p:nvPr/>
        </p:nvSpPr>
        <p:spPr>
          <a:xfrm>
            <a:off x="588525" y="686550"/>
            <a:ext cx="1831800" cy="1209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7"/>
          <p:cNvSpPr txBox="1"/>
          <p:nvPr/>
        </p:nvSpPr>
        <p:spPr>
          <a:xfrm>
            <a:off x="588525" y="484650"/>
            <a:ext cx="1831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PROYECTO FINAL</a:t>
            </a:r>
            <a:endParaRPr b="0" i="0" sz="1400" u="none" cap="none" strike="noStrike">
              <a:solidFill>
                <a:srgbClr val="000000"/>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p:nvPr/>
        </p:nvSpPr>
        <p:spPr>
          <a:xfrm>
            <a:off x="515502" y="2441858"/>
            <a:ext cx="7524000" cy="472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8"/>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PROYECTO FINAL</a:t>
            </a:r>
            <a:endParaRPr b="0" i="0" sz="1400" u="none" cap="none" strike="noStrike">
              <a:solidFill>
                <a:srgbClr val="000000"/>
              </a:solidFill>
              <a:latin typeface="DM Sans"/>
              <a:ea typeface="DM Sans"/>
              <a:cs typeface="DM Sans"/>
              <a:sym typeface="DM Sans"/>
            </a:endParaRPr>
          </a:p>
        </p:txBody>
      </p:sp>
      <p:sp>
        <p:nvSpPr>
          <p:cNvPr id="176" name="Google Shape;176;p28"/>
          <p:cNvSpPr/>
          <p:nvPr/>
        </p:nvSpPr>
        <p:spPr>
          <a:xfrm>
            <a:off x="539288" y="1556887"/>
            <a:ext cx="1776000" cy="3306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8"/>
          <p:cNvSpPr txBox="1"/>
          <p:nvPr/>
        </p:nvSpPr>
        <p:spPr>
          <a:xfrm>
            <a:off x="547329" y="1521213"/>
            <a:ext cx="1810200" cy="367500"/>
          </a:xfrm>
          <a:prstGeom prst="rect">
            <a:avLst/>
          </a:prstGeom>
          <a:solidFill>
            <a:srgbClr val="EAFF6A"/>
          </a:solidFill>
          <a:ln cap="flat" cmpd="sng" w="2857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DM Sans"/>
                <a:ea typeface="DM Sans"/>
                <a:cs typeface="DM Sans"/>
                <a:sym typeface="DM Sans"/>
              </a:rPr>
              <a:t>Entrega</a:t>
            </a:r>
            <a:endParaRPr b="1" i="0" sz="1400" u="none" cap="none" strike="noStrike">
              <a:solidFill>
                <a:srgbClr val="000000"/>
              </a:solidFill>
              <a:latin typeface="DM Sans"/>
              <a:ea typeface="DM Sans"/>
              <a:cs typeface="DM Sans"/>
              <a:sym typeface="DM Sans"/>
            </a:endParaRPr>
          </a:p>
        </p:txBody>
      </p:sp>
      <p:sp>
        <p:nvSpPr>
          <p:cNvPr id="178" name="Google Shape;178;p28"/>
          <p:cNvSpPr txBox="1"/>
          <p:nvPr/>
        </p:nvSpPr>
        <p:spPr>
          <a:xfrm>
            <a:off x="513549" y="2017360"/>
            <a:ext cx="18102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000000"/>
                </a:solidFill>
                <a:latin typeface="DM Sans"/>
                <a:ea typeface="DM Sans"/>
                <a:cs typeface="DM Sans"/>
                <a:sym typeface="DM Sans"/>
              </a:rPr>
              <a:t>1° preentrega</a:t>
            </a:r>
            <a:endParaRPr b="0" i="0" sz="1200" u="none" cap="none" strike="noStrike">
              <a:solidFill>
                <a:srgbClr val="000000"/>
              </a:solidFill>
              <a:latin typeface="DM Sans"/>
              <a:ea typeface="DM Sans"/>
              <a:cs typeface="DM Sans"/>
              <a:sym typeface="DM Sans"/>
            </a:endParaRPr>
          </a:p>
        </p:txBody>
      </p:sp>
      <p:sp>
        <p:nvSpPr>
          <p:cNvPr id="179" name="Google Shape;179;p28"/>
          <p:cNvSpPr/>
          <p:nvPr/>
        </p:nvSpPr>
        <p:spPr>
          <a:xfrm>
            <a:off x="2489650" y="1556887"/>
            <a:ext cx="3574500" cy="3306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8"/>
          <p:cNvSpPr txBox="1"/>
          <p:nvPr/>
        </p:nvSpPr>
        <p:spPr>
          <a:xfrm>
            <a:off x="2336432" y="1521200"/>
            <a:ext cx="3855900" cy="367500"/>
          </a:xfrm>
          <a:prstGeom prst="rect">
            <a:avLst/>
          </a:prstGeom>
          <a:solidFill>
            <a:srgbClr val="EAFF6A"/>
          </a:solidFill>
          <a:ln cap="flat" cmpd="sng" w="2857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s">
                <a:latin typeface="DM Sans"/>
                <a:ea typeface="DM Sans"/>
                <a:cs typeface="DM Sans"/>
                <a:sym typeface="DM Sans"/>
              </a:rPr>
              <a:t>Nombre</a:t>
            </a:r>
            <a:endParaRPr b="1" i="0" sz="1400" u="none" cap="none" strike="noStrike">
              <a:solidFill>
                <a:srgbClr val="000000"/>
              </a:solidFill>
              <a:latin typeface="DM Sans"/>
              <a:ea typeface="DM Sans"/>
              <a:cs typeface="DM Sans"/>
              <a:sym typeface="DM Sans"/>
            </a:endParaRPr>
          </a:p>
        </p:txBody>
      </p:sp>
      <p:sp>
        <p:nvSpPr>
          <p:cNvPr id="181" name="Google Shape;181;p28"/>
          <p:cNvSpPr/>
          <p:nvPr/>
        </p:nvSpPr>
        <p:spPr>
          <a:xfrm>
            <a:off x="6255898" y="1556887"/>
            <a:ext cx="1776000" cy="3306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8"/>
          <p:cNvSpPr txBox="1"/>
          <p:nvPr/>
        </p:nvSpPr>
        <p:spPr>
          <a:xfrm>
            <a:off x="6213390" y="1521213"/>
            <a:ext cx="1810200" cy="367500"/>
          </a:xfrm>
          <a:prstGeom prst="rect">
            <a:avLst/>
          </a:prstGeom>
          <a:solidFill>
            <a:srgbClr val="EAFF6A"/>
          </a:solidFill>
          <a:ln cap="flat" cmpd="sng" w="2857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DM Sans"/>
                <a:ea typeface="DM Sans"/>
                <a:cs typeface="DM Sans"/>
                <a:sym typeface="DM Sans"/>
              </a:rPr>
              <a:t>Fecha</a:t>
            </a:r>
            <a:endParaRPr b="1" i="0" sz="1400" u="none" cap="none" strike="noStrike">
              <a:solidFill>
                <a:srgbClr val="000000"/>
              </a:solidFill>
              <a:latin typeface="DM Sans"/>
              <a:ea typeface="DM Sans"/>
              <a:cs typeface="DM Sans"/>
              <a:sym typeface="DM Sans"/>
            </a:endParaRPr>
          </a:p>
        </p:txBody>
      </p:sp>
      <p:sp>
        <p:nvSpPr>
          <p:cNvPr id="183" name="Google Shape;183;p28"/>
          <p:cNvSpPr txBox="1"/>
          <p:nvPr/>
        </p:nvSpPr>
        <p:spPr>
          <a:xfrm>
            <a:off x="6301489" y="2017360"/>
            <a:ext cx="18102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lang="es" sz="1200">
                <a:latin typeface="DM Sans"/>
                <a:ea typeface="DM Sans"/>
                <a:cs typeface="DM Sans"/>
                <a:sym typeface="DM Sans"/>
              </a:rPr>
              <a:t>Unidad </a:t>
            </a:r>
            <a:r>
              <a:rPr b="0" i="0" lang="es" sz="1200" u="none" cap="none" strike="noStrike">
                <a:solidFill>
                  <a:srgbClr val="000000"/>
                </a:solidFill>
                <a:latin typeface="DM Sans"/>
                <a:ea typeface="DM Sans"/>
                <a:cs typeface="DM Sans"/>
                <a:sym typeface="DM Sans"/>
              </a:rPr>
              <a:t>2</a:t>
            </a:r>
            <a:endParaRPr b="0" i="0" sz="1200" u="none" cap="none" strike="noStrike">
              <a:solidFill>
                <a:srgbClr val="000000"/>
              </a:solidFill>
              <a:latin typeface="DM Sans"/>
              <a:ea typeface="DM Sans"/>
              <a:cs typeface="DM Sans"/>
              <a:sym typeface="DM Sans"/>
            </a:endParaRPr>
          </a:p>
        </p:txBody>
      </p:sp>
      <p:sp>
        <p:nvSpPr>
          <p:cNvPr id="184" name="Google Shape;184;p28"/>
          <p:cNvSpPr txBox="1"/>
          <p:nvPr/>
        </p:nvSpPr>
        <p:spPr>
          <a:xfrm>
            <a:off x="513561" y="2494307"/>
            <a:ext cx="18102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000000"/>
                </a:solidFill>
                <a:latin typeface="DM Sans"/>
                <a:ea typeface="DM Sans"/>
                <a:cs typeface="DM Sans"/>
                <a:sym typeface="DM Sans"/>
              </a:rPr>
              <a:t>2° preentrega</a:t>
            </a:r>
            <a:endParaRPr b="0" i="0" sz="1200" u="none" cap="none" strike="noStrike">
              <a:solidFill>
                <a:srgbClr val="000000"/>
              </a:solidFill>
              <a:latin typeface="DM Sans"/>
              <a:ea typeface="DM Sans"/>
              <a:cs typeface="DM Sans"/>
              <a:sym typeface="DM Sans"/>
            </a:endParaRPr>
          </a:p>
        </p:txBody>
      </p:sp>
      <p:sp>
        <p:nvSpPr>
          <p:cNvPr id="185" name="Google Shape;185;p28"/>
          <p:cNvSpPr txBox="1"/>
          <p:nvPr/>
        </p:nvSpPr>
        <p:spPr>
          <a:xfrm>
            <a:off x="6301501" y="2494307"/>
            <a:ext cx="18102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lang="es" sz="1200">
                <a:latin typeface="DM Sans"/>
                <a:ea typeface="DM Sans"/>
                <a:cs typeface="DM Sans"/>
                <a:sym typeface="DM Sans"/>
              </a:rPr>
              <a:t>Unidad </a:t>
            </a:r>
            <a:r>
              <a:rPr lang="es" sz="1200">
                <a:latin typeface="DM Sans"/>
                <a:ea typeface="DM Sans"/>
                <a:cs typeface="DM Sans"/>
                <a:sym typeface="DM Sans"/>
              </a:rPr>
              <a:t>5</a:t>
            </a:r>
            <a:endParaRPr b="0" i="0" sz="1200" u="none" cap="none" strike="noStrike">
              <a:solidFill>
                <a:srgbClr val="000000"/>
              </a:solidFill>
              <a:latin typeface="DM Sans"/>
              <a:ea typeface="DM Sans"/>
              <a:cs typeface="DM Sans"/>
              <a:sym typeface="DM Sans"/>
            </a:endParaRPr>
          </a:p>
        </p:txBody>
      </p:sp>
      <p:sp>
        <p:nvSpPr>
          <p:cNvPr id="186" name="Google Shape;186;p28"/>
          <p:cNvSpPr txBox="1"/>
          <p:nvPr/>
        </p:nvSpPr>
        <p:spPr>
          <a:xfrm>
            <a:off x="513561" y="2971255"/>
            <a:ext cx="18102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lang="es" sz="1200">
                <a:latin typeface="DM Sans"/>
                <a:ea typeface="DM Sans"/>
                <a:cs typeface="DM Sans"/>
                <a:sym typeface="DM Sans"/>
              </a:rPr>
              <a:t>Proyecto Final</a:t>
            </a:r>
            <a:endParaRPr b="0" i="0" sz="1200" u="none" cap="none" strike="noStrike">
              <a:solidFill>
                <a:srgbClr val="000000"/>
              </a:solidFill>
              <a:latin typeface="DM Sans"/>
              <a:ea typeface="DM Sans"/>
              <a:cs typeface="DM Sans"/>
              <a:sym typeface="DM Sans"/>
            </a:endParaRPr>
          </a:p>
        </p:txBody>
      </p:sp>
      <p:sp>
        <p:nvSpPr>
          <p:cNvPr id="187" name="Google Shape;187;p28"/>
          <p:cNvSpPr txBox="1"/>
          <p:nvPr/>
        </p:nvSpPr>
        <p:spPr>
          <a:xfrm>
            <a:off x="6301501" y="2971255"/>
            <a:ext cx="18102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lang="es" sz="1200">
                <a:latin typeface="DM Sans"/>
                <a:ea typeface="DM Sans"/>
                <a:cs typeface="DM Sans"/>
                <a:sym typeface="DM Sans"/>
              </a:rPr>
              <a:t>Unidad </a:t>
            </a:r>
            <a:r>
              <a:rPr b="0" i="0" lang="es" sz="1200" u="none" cap="none" strike="noStrike">
                <a:solidFill>
                  <a:srgbClr val="000000"/>
                </a:solidFill>
                <a:latin typeface="DM Sans"/>
                <a:ea typeface="DM Sans"/>
                <a:cs typeface="DM Sans"/>
                <a:sym typeface="DM Sans"/>
              </a:rPr>
              <a:t>8</a:t>
            </a:r>
            <a:endParaRPr b="0" i="0" sz="1200" u="none" cap="none" strike="noStrike">
              <a:solidFill>
                <a:srgbClr val="000000"/>
              </a:solidFill>
              <a:latin typeface="DM Sans"/>
              <a:ea typeface="DM Sans"/>
              <a:cs typeface="DM Sans"/>
              <a:sym typeface="DM Sans"/>
            </a:endParaRPr>
          </a:p>
        </p:txBody>
      </p:sp>
      <p:sp>
        <p:nvSpPr>
          <p:cNvPr id="188" name="Google Shape;188;p28"/>
          <p:cNvSpPr txBox="1"/>
          <p:nvPr/>
        </p:nvSpPr>
        <p:spPr>
          <a:xfrm>
            <a:off x="2596982" y="3925150"/>
            <a:ext cx="38187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DM Sans"/>
              <a:ea typeface="DM Sans"/>
              <a:cs typeface="DM Sans"/>
              <a:sym typeface="DM Sans"/>
            </a:endParaRPr>
          </a:p>
        </p:txBody>
      </p:sp>
      <p:sp>
        <p:nvSpPr>
          <p:cNvPr id="189" name="Google Shape;189;p28"/>
          <p:cNvSpPr txBox="1"/>
          <p:nvPr/>
        </p:nvSpPr>
        <p:spPr>
          <a:xfrm>
            <a:off x="2540895" y="4059200"/>
            <a:ext cx="38187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DM Sans"/>
              <a:ea typeface="DM Sans"/>
              <a:cs typeface="DM Sans"/>
              <a:sym typeface="DM Sans"/>
            </a:endParaRPr>
          </a:p>
        </p:txBody>
      </p:sp>
      <p:sp>
        <p:nvSpPr>
          <p:cNvPr id="190" name="Google Shape;190;p28"/>
          <p:cNvSpPr txBox="1"/>
          <p:nvPr/>
        </p:nvSpPr>
        <p:spPr>
          <a:xfrm>
            <a:off x="6640476" y="4059200"/>
            <a:ext cx="19338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DM Sans"/>
              <a:ea typeface="DM Sans"/>
              <a:cs typeface="DM Sans"/>
              <a:sym typeface="DM Sans"/>
            </a:endParaRPr>
          </a:p>
        </p:txBody>
      </p:sp>
      <p:grpSp>
        <p:nvGrpSpPr>
          <p:cNvPr id="191" name="Google Shape;191;p28"/>
          <p:cNvGrpSpPr/>
          <p:nvPr/>
        </p:nvGrpSpPr>
        <p:grpSpPr>
          <a:xfrm>
            <a:off x="547335" y="483074"/>
            <a:ext cx="401518" cy="401518"/>
            <a:chOff x="7208351" y="2467173"/>
            <a:chExt cx="738900" cy="738900"/>
          </a:xfrm>
        </p:grpSpPr>
        <p:sp>
          <p:nvSpPr>
            <p:cNvPr id="192" name="Google Shape;192;p28"/>
            <p:cNvSpPr/>
            <p:nvPr/>
          </p:nvSpPr>
          <p:spPr>
            <a:xfrm>
              <a:off x="7208351"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3" name="Google Shape;193;p28" title="ícono de proyecto final"/>
            <p:cNvPicPr preferRelativeResize="0"/>
            <p:nvPr/>
          </p:nvPicPr>
          <p:blipFill>
            <a:blip r:embed="rId3">
              <a:alphaModFix/>
            </a:blip>
            <a:stretch>
              <a:fillRect/>
            </a:stretch>
          </p:blipFill>
          <p:spPr>
            <a:xfrm>
              <a:off x="7352500" y="2611301"/>
              <a:ext cx="450600" cy="450622"/>
            </a:xfrm>
            <a:prstGeom prst="rect">
              <a:avLst/>
            </a:prstGeom>
            <a:noFill/>
            <a:ln>
              <a:noFill/>
            </a:ln>
          </p:spPr>
        </p:pic>
      </p:grpSp>
      <p:sp>
        <p:nvSpPr>
          <p:cNvPr id="194" name="Google Shape;194;p28"/>
          <p:cNvSpPr txBox="1"/>
          <p:nvPr/>
        </p:nvSpPr>
        <p:spPr>
          <a:xfrm>
            <a:off x="2749950" y="1964563"/>
            <a:ext cx="227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latin typeface="DM Sans"/>
                <a:ea typeface="DM Sans"/>
                <a:cs typeface="DM Sans"/>
                <a:sym typeface="DM Sans"/>
              </a:rPr>
              <a:t>Crea tu landing</a:t>
            </a:r>
            <a:endParaRPr sz="1200">
              <a:latin typeface="DM Sans"/>
              <a:ea typeface="DM Sans"/>
              <a:cs typeface="DM Sans"/>
              <a:sym typeface="DM Sans"/>
            </a:endParaRPr>
          </a:p>
        </p:txBody>
      </p:sp>
      <p:sp>
        <p:nvSpPr>
          <p:cNvPr id="195" name="Google Shape;195;p28"/>
          <p:cNvSpPr txBox="1"/>
          <p:nvPr/>
        </p:nvSpPr>
        <p:spPr>
          <a:xfrm>
            <a:off x="2826225" y="2510513"/>
            <a:ext cx="227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latin typeface="DM Sans"/>
                <a:ea typeface="DM Sans"/>
                <a:cs typeface="DM Sans"/>
                <a:sym typeface="DM Sans"/>
              </a:rPr>
              <a:t>Navega las rutas</a:t>
            </a:r>
            <a:endParaRPr sz="1200">
              <a:latin typeface="DM Sans"/>
              <a:ea typeface="DM Sans"/>
              <a:cs typeface="DM Sans"/>
              <a:sym typeface="DM Sans"/>
            </a:endParaRPr>
          </a:p>
        </p:txBody>
      </p:sp>
      <p:sp>
        <p:nvSpPr>
          <p:cNvPr id="196" name="Google Shape;196;p28"/>
          <p:cNvSpPr txBox="1"/>
          <p:nvPr/>
        </p:nvSpPr>
        <p:spPr>
          <a:xfrm>
            <a:off x="2826225" y="3011888"/>
            <a:ext cx="227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latin typeface="DM Sans"/>
                <a:ea typeface="DM Sans"/>
                <a:cs typeface="DM Sans"/>
                <a:sym typeface="DM Sans"/>
              </a:rPr>
              <a:t>Web App de e-commerce </a:t>
            </a:r>
            <a:endParaRPr sz="1200">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nvSpPr>
        <p:spPr>
          <a:xfrm>
            <a:off x="1461300" y="2343663"/>
            <a:ext cx="62214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Arial"/>
              <a:buNone/>
            </a:pPr>
            <a:r>
              <a:rPr b="1" i="0" lang="es" sz="4000" u="none" cap="none" strike="noStrike">
                <a:solidFill>
                  <a:schemeClr val="dk1"/>
                </a:solidFill>
                <a:latin typeface="DM Sans"/>
                <a:ea typeface="DM Sans"/>
                <a:cs typeface="DM Sans"/>
                <a:sym typeface="DM Sans"/>
              </a:rPr>
              <a:t>¿Cuál es nuestro </a:t>
            </a:r>
            <a:r>
              <a:rPr b="1" i="0" lang="es" sz="4000" u="sng" cap="none" strike="noStrike">
                <a:solidFill>
                  <a:schemeClr val="dk1"/>
                </a:solidFill>
                <a:latin typeface="DM Sans"/>
                <a:ea typeface="DM Sans"/>
                <a:cs typeface="DM Sans"/>
                <a:sym typeface="DM Sans"/>
              </a:rPr>
              <a:t>Proyecto final?</a:t>
            </a:r>
            <a:endParaRPr b="1" i="0" sz="4000" u="sng" cap="none" strike="noStrike">
              <a:solidFill>
                <a:schemeClr val="dk1"/>
              </a:solidFill>
              <a:latin typeface="DM Sans"/>
              <a:ea typeface="DM Sans"/>
              <a:cs typeface="DM Sans"/>
              <a:sym typeface="DM Sans"/>
            </a:endParaRPr>
          </a:p>
        </p:txBody>
      </p:sp>
      <p:grpSp>
        <p:nvGrpSpPr>
          <p:cNvPr id="202" name="Google Shape;202;p29"/>
          <p:cNvGrpSpPr/>
          <p:nvPr/>
        </p:nvGrpSpPr>
        <p:grpSpPr>
          <a:xfrm>
            <a:off x="4202551" y="1469748"/>
            <a:ext cx="738900" cy="738900"/>
            <a:chOff x="7208351" y="2467173"/>
            <a:chExt cx="738900" cy="738900"/>
          </a:xfrm>
        </p:grpSpPr>
        <p:sp>
          <p:nvSpPr>
            <p:cNvPr id="203" name="Google Shape;203;p29"/>
            <p:cNvSpPr/>
            <p:nvPr/>
          </p:nvSpPr>
          <p:spPr>
            <a:xfrm>
              <a:off x="7208351"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4" name="Google Shape;204;p29" title="ícono de proyecto final"/>
            <p:cNvPicPr preferRelativeResize="0"/>
            <p:nvPr/>
          </p:nvPicPr>
          <p:blipFill>
            <a:blip r:embed="rId3">
              <a:alphaModFix/>
            </a:blip>
            <a:stretch>
              <a:fillRect/>
            </a:stretch>
          </p:blipFill>
          <p:spPr>
            <a:xfrm>
              <a:off x="7352500" y="2611301"/>
              <a:ext cx="450600" cy="450622"/>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0"/>
          <p:cNvSpPr txBox="1"/>
          <p:nvPr/>
        </p:nvSpPr>
        <p:spPr>
          <a:xfrm>
            <a:off x="457350" y="1084475"/>
            <a:ext cx="47301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lang="es" sz="4000">
                <a:solidFill>
                  <a:schemeClr val="dk1"/>
                </a:solidFill>
                <a:latin typeface="DM Sans"/>
                <a:ea typeface="DM Sans"/>
                <a:cs typeface="DM Sans"/>
                <a:sym typeface="DM Sans"/>
              </a:rPr>
              <a:t>Web App de e-commerce</a:t>
            </a:r>
            <a:endParaRPr b="1" i="0" sz="4000" u="none" cap="none" strike="noStrike">
              <a:solidFill>
                <a:schemeClr val="dk1"/>
              </a:solidFill>
              <a:latin typeface="DM Sans"/>
              <a:ea typeface="DM Sans"/>
              <a:cs typeface="DM Sans"/>
              <a:sym typeface="DM Sans"/>
            </a:endParaRPr>
          </a:p>
        </p:txBody>
      </p:sp>
      <p:sp>
        <p:nvSpPr>
          <p:cNvPr id="210" name="Google Shape;210;p30"/>
          <p:cNvSpPr txBox="1"/>
          <p:nvPr/>
        </p:nvSpPr>
        <p:spPr>
          <a:xfrm>
            <a:off x="457350" y="2562575"/>
            <a:ext cx="4730100" cy="1701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50"/>
              <a:buFont typeface="Arial"/>
              <a:buNone/>
            </a:pPr>
            <a:r>
              <a:rPr b="1" i="0" lang="es" sz="1350" u="none" cap="none" strike="noStrike">
                <a:solidFill>
                  <a:srgbClr val="000000"/>
                </a:solidFill>
                <a:latin typeface="DM Sans"/>
                <a:ea typeface="DM Sans"/>
                <a:cs typeface="DM Sans"/>
                <a:sym typeface="DM Sans"/>
              </a:rPr>
              <a:t>Consigna: </a:t>
            </a:r>
            <a:endParaRPr b="1" i="0" sz="1350" u="none" cap="none" strike="noStrike">
              <a:solidFill>
                <a:srgbClr val="000000"/>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350"/>
              <a:buFont typeface="Arial"/>
              <a:buNone/>
            </a:pPr>
            <a:r>
              <a:t/>
            </a:r>
            <a:endParaRPr b="1"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Desarrollarás el front end de una tienda online con carrito de compras, utilizando los componentes de React y Firebase como servidor en la nube. Crearás así una experiencia de usuario amigable con actualizaciones visuales instantáneas y código escalable.</a:t>
            </a:r>
            <a:endParaRPr sz="1350">
              <a:solidFill>
                <a:schemeClr val="dk1"/>
              </a:solidFill>
              <a:latin typeface="DM Sans"/>
              <a:ea typeface="DM Sans"/>
              <a:cs typeface="DM Sans"/>
              <a:sym typeface="DM Sans"/>
            </a:endParaRPr>
          </a:p>
        </p:txBody>
      </p:sp>
      <p:sp>
        <p:nvSpPr>
          <p:cNvPr id="211" name="Google Shape;211;p30"/>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DM Sans"/>
                <a:ea typeface="DM Sans"/>
                <a:cs typeface="DM Sans"/>
                <a:sym typeface="DM Sans"/>
              </a:rPr>
              <a:t>PROYECTO FINAL</a:t>
            </a:r>
            <a:endParaRPr b="0" i="0" sz="1400" u="none" cap="none" strike="noStrike">
              <a:solidFill>
                <a:srgbClr val="000000"/>
              </a:solidFill>
              <a:latin typeface="DM Sans"/>
              <a:ea typeface="DM Sans"/>
              <a:cs typeface="DM Sans"/>
              <a:sym typeface="DM Sans"/>
            </a:endParaRPr>
          </a:p>
        </p:txBody>
      </p:sp>
      <p:pic>
        <p:nvPicPr>
          <p:cNvPr id="212" name="Google Shape;212;p30"/>
          <p:cNvPicPr preferRelativeResize="0"/>
          <p:nvPr/>
        </p:nvPicPr>
        <p:blipFill rotWithShape="1">
          <a:blip r:embed="rId3">
            <a:alphaModFix/>
          </a:blip>
          <a:srcRect b="3051" l="0" r="0" t="3060"/>
          <a:stretch/>
        </p:blipFill>
        <p:spPr>
          <a:xfrm>
            <a:off x="5712875" y="468275"/>
            <a:ext cx="2923973" cy="4118748"/>
          </a:xfrm>
          <a:prstGeom prst="rect">
            <a:avLst/>
          </a:prstGeom>
          <a:noFill/>
          <a:ln>
            <a:noFill/>
          </a:ln>
        </p:spPr>
      </p:pic>
      <p:grpSp>
        <p:nvGrpSpPr>
          <p:cNvPr id="213" name="Google Shape;213;p30"/>
          <p:cNvGrpSpPr/>
          <p:nvPr/>
        </p:nvGrpSpPr>
        <p:grpSpPr>
          <a:xfrm>
            <a:off x="547335" y="483074"/>
            <a:ext cx="401518" cy="401518"/>
            <a:chOff x="7208351" y="2467173"/>
            <a:chExt cx="738900" cy="738900"/>
          </a:xfrm>
        </p:grpSpPr>
        <p:sp>
          <p:nvSpPr>
            <p:cNvPr id="214" name="Google Shape;214;p30"/>
            <p:cNvSpPr/>
            <p:nvPr/>
          </p:nvSpPr>
          <p:spPr>
            <a:xfrm>
              <a:off x="7208351"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5" name="Google Shape;215;p30" title="ícono de proyecto final"/>
            <p:cNvPicPr preferRelativeResize="0"/>
            <p:nvPr/>
          </p:nvPicPr>
          <p:blipFill>
            <a:blip r:embed="rId4">
              <a:alphaModFix/>
            </a:blip>
            <a:stretch>
              <a:fillRect/>
            </a:stretch>
          </p:blipFill>
          <p:spPr>
            <a:xfrm>
              <a:off x="7352500" y="2611301"/>
              <a:ext cx="450600" cy="450622"/>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1"/>
          <p:cNvSpPr txBox="1"/>
          <p:nvPr/>
        </p:nvSpPr>
        <p:spPr>
          <a:xfrm>
            <a:off x="457350" y="1034325"/>
            <a:ext cx="8141100" cy="129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Proyectos de nuestros estudiantes</a:t>
            </a:r>
            <a:endParaRPr b="1" sz="4000">
              <a:solidFill>
                <a:schemeClr val="dk1"/>
              </a:solidFill>
              <a:latin typeface="DM Sans"/>
              <a:ea typeface="DM Sans"/>
              <a:cs typeface="DM Sans"/>
              <a:sym typeface="DM Sans"/>
            </a:endParaRPr>
          </a:p>
        </p:txBody>
      </p:sp>
      <p:sp>
        <p:nvSpPr>
          <p:cNvPr id="221" name="Google Shape;221;p31"/>
          <p:cNvSpPr txBox="1"/>
          <p:nvPr/>
        </p:nvSpPr>
        <p:spPr>
          <a:xfrm>
            <a:off x="473350" y="2462275"/>
            <a:ext cx="4229700" cy="1608600"/>
          </a:xfrm>
          <a:prstGeom prst="rect">
            <a:avLst/>
          </a:prstGeom>
          <a:noFill/>
          <a:ln>
            <a:noFill/>
          </a:ln>
        </p:spPr>
        <p:txBody>
          <a:bodyPr anchorCtr="0" anchor="t" bIns="91425" lIns="91425" spcFirstLastPara="1" rIns="91425" wrap="square" tIns="91425">
            <a:spAutoFit/>
          </a:bodyPr>
          <a:lstStyle/>
          <a:p>
            <a:pPr indent="-314325" lvl="0" marL="457200" rtl="0" algn="l">
              <a:spcBef>
                <a:spcPts val="0"/>
              </a:spcBef>
              <a:spcAft>
                <a:spcPts val="0"/>
              </a:spcAft>
              <a:buSzPts val="1350"/>
              <a:buFont typeface="DM Sans"/>
              <a:buChar char="✓"/>
            </a:pPr>
            <a:r>
              <a:rPr lang="es" sz="1350" u="sng">
                <a:solidFill>
                  <a:schemeClr val="hlink"/>
                </a:solidFill>
                <a:latin typeface="DM Sans"/>
                <a:ea typeface="DM Sans"/>
                <a:cs typeface="DM Sans"/>
                <a:sym typeface="DM Sans"/>
                <a:hlinkClick r:id="rId3"/>
              </a:rPr>
              <a:t>A.M. Florist</a:t>
            </a:r>
            <a:endParaRPr sz="1350">
              <a:latin typeface="DM Sans"/>
              <a:ea typeface="DM Sans"/>
              <a:cs typeface="DM Sans"/>
              <a:sym typeface="DM Sans"/>
            </a:endParaRPr>
          </a:p>
          <a:p>
            <a:pPr indent="-314325" lvl="0" marL="457200" rtl="0" algn="l">
              <a:spcBef>
                <a:spcPts val="1000"/>
              </a:spcBef>
              <a:spcAft>
                <a:spcPts val="0"/>
              </a:spcAft>
              <a:buSzPts val="1350"/>
              <a:buFont typeface="DM Sans"/>
              <a:buChar char="✓"/>
            </a:pPr>
            <a:r>
              <a:rPr lang="es" sz="1350" u="sng">
                <a:solidFill>
                  <a:schemeClr val="hlink"/>
                </a:solidFill>
                <a:latin typeface="DM Sans"/>
                <a:ea typeface="DM Sans"/>
                <a:cs typeface="DM Sans"/>
                <a:sym typeface="DM Sans"/>
                <a:hlinkClick r:id="rId4"/>
              </a:rPr>
              <a:t>Refugio Tienda Deco</a:t>
            </a:r>
            <a:endParaRPr sz="1350">
              <a:latin typeface="DM Sans"/>
              <a:ea typeface="DM Sans"/>
              <a:cs typeface="DM Sans"/>
              <a:sym typeface="DM Sans"/>
            </a:endParaRPr>
          </a:p>
          <a:p>
            <a:pPr indent="-314325" lvl="0" marL="457200" rtl="0" algn="l">
              <a:spcBef>
                <a:spcPts val="1000"/>
              </a:spcBef>
              <a:spcAft>
                <a:spcPts val="0"/>
              </a:spcAft>
              <a:buSzPts val="1350"/>
              <a:buFont typeface="DM Sans"/>
              <a:buChar char="✓"/>
            </a:pPr>
            <a:r>
              <a:rPr lang="es" sz="1350" u="sng">
                <a:solidFill>
                  <a:schemeClr val="hlink"/>
                </a:solidFill>
                <a:latin typeface="DM Sans"/>
                <a:ea typeface="DM Sans"/>
                <a:cs typeface="DM Sans"/>
                <a:sym typeface="DM Sans"/>
                <a:hlinkClick r:id="rId5"/>
              </a:rPr>
              <a:t>Del Campe</a:t>
            </a:r>
            <a:endParaRPr sz="1350">
              <a:latin typeface="DM Sans"/>
              <a:ea typeface="DM Sans"/>
              <a:cs typeface="DM Sans"/>
              <a:sym typeface="DM Sans"/>
            </a:endParaRPr>
          </a:p>
          <a:p>
            <a:pPr indent="0" lvl="0" marL="0" rtl="0" algn="l">
              <a:spcBef>
                <a:spcPts val="100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rPr b="1" lang="es" sz="1350">
                <a:latin typeface="DM Sans"/>
                <a:ea typeface="DM Sans"/>
                <a:cs typeface="DM Sans"/>
                <a:sym typeface="DM Sans"/>
              </a:rPr>
              <a:t>¡Esperamos que les resulten inspiradores!</a:t>
            </a:r>
            <a:endParaRPr b="1" sz="1350">
              <a:latin typeface="DM Sans"/>
              <a:ea typeface="DM Sans"/>
              <a:cs typeface="DM Sans"/>
              <a:sym typeface="DM Sans"/>
            </a:endParaRPr>
          </a:p>
        </p:txBody>
      </p:sp>
      <p:sp>
        <p:nvSpPr>
          <p:cNvPr id="222" name="Google Shape;222;p31"/>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PROYECTO FINAL</a:t>
            </a:r>
            <a:endParaRPr>
              <a:latin typeface="DM Sans"/>
              <a:ea typeface="DM Sans"/>
              <a:cs typeface="DM Sans"/>
              <a:sym typeface="DM Sans"/>
            </a:endParaRPr>
          </a:p>
        </p:txBody>
      </p:sp>
      <p:pic>
        <p:nvPicPr>
          <p:cNvPr id="223" name="Google Shape;223;p31" title="gif de oveja animada haciendo el gesto de &quot;ok&quot;"/>
          <p:cNvPicPr preferRelativeResize="0"/>
          <p:nvPr/>
        </p:nvPicPr>
        <p:blipFill>
          <a:blip r:embed="rId6">
            <a:alphaModFix/>
          </a:blip>
          <a:stretch>
            <a:fillRect/>
          </a:stretch>
        </p:blipFill>
        <p:spPr>
          <a:xfrm>
            <a:off x="5085174" y="2301538"/>
            <a:ext cx="2497675" cy="1960675"/>
          </a:xfrm>
          <a:prstGeom prst="rect">
            <a:avLst/>
          </a:prstGeom>
          <a:noFill/>
          <a:ln>
            <a:noFill/>
          </a:ln>
        </p:spPr>
      </p:pic>
      <p:grpSp>
        <p:nvGrpSpPr>
          <p:cNvPr id="224" name="Google Shape;224;p31"/>
          <p:cNvGrpSpPr/>
          <p:nvPr/>
        </p:nvGrpSpPr>
        <p:grpSpPr>
          <a:xfrm>
            <a:off x="457343" y="468298"/>
            <a:ext cx="431074" cy="431074"/>
            <a:chOff x="7208351" y="2467173"/>
            <a:chExt cx="738900" cy="738900"/>
          </a:xfrm>
        </p:grpSpPr>
        <p:sp>
          <p:nvSpPr>
            <p:cNvPr id="225" name="Google Shape;225;p31"/>
            <p:cNvSpPr/>
            <p:nvPr/>
          </p:nvSpPr>
          <p:spPr>
            <a:xfrm>
              <a:off x="7208351"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6" name="Google Shape;226;p31" title="ícono de proyecto final"/>
            <p:cNvPicPr preferRelativeResize="0"/>
            <p:nvPr/>
          </p:nvPicPr>
          <p:blipFill>
            <a:blip r:embed="rId7">
              <a:alphaModFix/>
            </a:blip>
            <a:stretch>
              <a:fillRect/>
            </a:stretch>
          </p:blipFill>
          <p:spPr>
            <a:xfrm>
              <a:off x="7352500" y="2611301"/>
              <a:ext cx="450600" cy="450622"/>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32" title="imagen decorativa"/>
          <p:cNvPicPr preferRelativeResize="0"/>
          <p:nvPr/>
        </p:nvPicPr>
        <p:blipFill rotWithShape="1">
          <a:blip r:embed="rId3">
            <a:alphaModFix/>
          </a:blip>
          <a:srcRect b="0" l="33171" r="23876" t="0"/>
          <a:stretch/>
        </p:blipFill>
        <p:spPr>
          <a:xfrm>
            <a:off x="5838075" y="0"/>
            <a:ext cx="3314524" cy="5143501"/>
          </a:xfrm>
          <a:prstGeom prst="rect">
            <a:avLst/>
          </a:prstGeom>
          <a:noFill/>
          <a:ln>
            <a:noFill/>
          </a:ln>
        </p:spPr>
      </p:pic>
      <p:sp>
        <p:nvSpPr>
          <p:cNvPr id="232" name="Google Shape;232;p32"/>
          <p:cNvSpPr txBox="1"/>
          <p:nvPr/>
        </p:nvSpPr>
        <p:spPr>
          <a:xfrm>
            <a:off x="501450" y="670175"/>
            <a:ext cx="4987200" cy="11697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s" sz="4000">
                <a:solidFill>
                  <a:schemeClr val="dk1"/>
                </a:solidFill>
                <a:latin typeface="DM Sans"/>
                <a:ea typeface="DM Sans"/>
                <a:cs typeface="DM Sans"/>
                <a:sym typeface="DM Sans"/>
              </a:rPr>
              <a:t>Queremos</a:t>
            </a:r>
            <a:endParaRPr b="1" sz="4000">
              <a:solidFill>
                <a:schemeClr val="dk1"/>
              </a:solidFill>
              <a:latin typeface="DM Sans"/>
              <a:ea typeface="DM Sans"/>
              <a:cs typeface="DM Sans"/>
              <a:sym typeface="DM Sans"/>
            </a:endParaRPr>
          </a:p>
          <a:p>
            <a:pPr indent="0" lvl="0" marL="0" rtl="0" algn="l">
              <a:lnSpc>
                <a:spcPct val="80000"/>
              </a:lnSpc>
              <a:spcBef>
                <a:spcPts val="0"/>
              </a:spcBef>
              <a:spcAft>
                <a:spcPts val="0"/>
              </a:spcAft>
              <a:buNone/>
            </a:pPr>
            <a:r>
              <a:rPr b="1" lang="es" sz="4000">
                <a:solidFill>
                  <a:schemeClr val="dk1"/>
                </a:solidFill>
                <a:latin typeface="DM Sans"/>
                <a:ea typeface="DM Sans"/>
                <a:cs typeface="DM Sans"/>
                <a:sym typeface="DM Sans"/>
              </a:rPr>
              <a:t>saber +</a:t>
            </a:r>
            <a:endParaRPr b="1" sz="4000">
              <a:solidFill>
                <a:schemeClr val="dk1"/>
              </a:solidFill>
              <a:latin typeface="DM Sans"/>
              <a:ea typeface="DM Sans"/>
              <a:cs typeface="DM Sans"/>
              <a:sym typeface="DM Sans"/>
            </a:endParaRPr>
          </a:p>
        </p:txBody>
      </p:sp>
      <p:sp>
        <p:nvSpPr>
          <p:cNvPr id="233" name="Google Shape;233;p32"/>
          <p:cNvSpPr txBox="1"/>
          <p:nvPr/>
        </p:nvSpPr>
        <p:spPr>
          <a:xfrm>
            <a:off x="501450" y="1987400"/>
            <a:ext cx="4987200" cy="229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s" sz="1500">
                <a:solidFill>
                  <a:schemeClr val="dk1"/>
                </a:solidFill>
                <a:latin typeface="DM Sans"/>
                <a:ea typeface="DM Sans"/>
                <a:cs typeface="DM Sans"/>
                <a:sym typeface="DM Sans"/>
              </a:rPr>
              <a:t>Contesta mediante el chat de Zoom </a:t>
            </a:r>
            <a:endParaRPr sz="1800">
              <a:solidFill>
                <a:schemeClr val="dk1"/>
              </a:solidFill>
              <a:latin typeface="DM Sans Medium"/>
              <a:ea typeface="DM Sans Medium"/>
              <a:cs typeface="DM Sans Medium"/>
              <a:sym typeface="DM Sans Medium"/>
            </a:endParaRPr>
          </a:p>
          <a:p>
            <a:pPr indent="0" lvl="0" marL="0" rtl="0" algn="l">
              <a:spcBef>
                <a:spcPts val="0"/>
              </a:spcBef>
              <a:spcAft>
                <a:spcPts val="0"/>
              </a:spcAft>
              <a:buNone/>
            </a:pPr>
            <a:r>
              <a:t/>
            </a:r>
            <a:endParaRPr sz="1600">
              <a:latin typeface="Helvetica Neue Light"/>
              <a:ea typeface="Helvetica Neue Light"/>
              <a:cs typeface="Helvetica Neue Light"/>
              <a:sym typeface="Helvetica Neue Light"/>
            </a:endParaRPr>
          </a:p>
          <a:p>
            <a:pPr indent="-314325" lvl="0" marL="457200" rtl="0" algn="l">
              <a:spcBef>
                <a:spcPts val="0"/>
              </a:spcBef>
              <a:spcAft>
                <a:spcPts val="0"/>
              </a:spcAft>
              <a:buClr>
                <a:schemeClr val="dk2"/>
              </a:buClr>
              <a:buSzPts val="1350"/>
              <a:buFont typeface="DM Sans"/>
              <a:buChar char="✓"/>
            </a:pPr>
            <a:r>
              <a:rPr lang="es" sz="1350">
                <a:solidFill>
                  <a:schemeClr val="dk1"/>
                </a:solidFill>
                <a:latin typeface="DM Sans"/>
                <a:ea typeface="DM Sans"/>
                <a:cs typeface="DM Sans"/>
                <a:sym typeface="DM Sans"/>
              </a:rPr>
              <a:t>¿Alguien de la clase ya conocía </a:t>
            </a:r>
            <a:r>
              <a:rPr b="1" lang="es" sz="1350">
                <a:solidFill>
                  <a:schemeClr val="dk1"/>
                </a:solidFill>
                <a:latin typeface="DM Sans"/>
                <a:ea typeface="DM Sans"/>
                <a:cs typeface="DM Sans"/>
                <a:sym typeface="DM Sans"/>
              </a:rPr>
              <a:t>React Js</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indent="-314325" lvl="0" marL="457200" rtl="0" algn="l">
              <a:spcBef>
                <a:spcPts val="1000"/>
              </a:spcBef>
              <a:spcAft>
                <a:spcPts val="0"/>
              </a:spcAft>
              <a:buClr>
                <a:schemeClr val="dk2"/>
              </a:buClr>
              <a:buSzPts val="1350"/>
              <a:buFont typeface="DM Sans"/>
              <a:buChar char="✓"/>
            </a:pPr>
            <a:r>
              <a:rPr lang="es" sz="1350">
                <a:solidFill>
                  <a:schemeClr val="dk1"/>
                </a:solidFill>
                <a:latin typeface="DM Sans"/>
                <a:ea typeface="DM Sans"/>
                <a:cs typeface="DM Sans"/>
                <a:sym typeface="DM Sans"/>
              </a:rPr>
              <a:t>¿Alguien ya ha trabajado con esta herramienta?</a:t>
            </a:r>
            <a:endParaRPr sz="1350">
              <a:solidFill>
                <a:schemeClr val="dk1"/>
              </a:solidFill>
              <a:latin typeface="DM Sans"/>
              <a:ea typeface="DM Sans"/>
              <a:cs typeface="DM Sans"/>
              <a:sym typeface="DM Sans"/>
            </a:endParaRPr>
          </a:p>
          <a:p>
            <a:pPr indent="-314325" lvl="0" marL="457200" rtl="0" algn="l">
              <a:spcBef>
                <a:spcPts val="1000"/>
              </a:spcBef>
              <a:spcAft>
                <a:spcPts val="0"/>
              </a:spcAft>
              <a:buClr>
                <a:schemeClr val="dk2"/>
              </a:buClr>
              <a:buSzPts val="1350"/>
              <a:buFont typeface="DM Sans"/>
              <a:buChar char="✓"/>
            </a:pPr>
            <a:r>
              <a:rPr lang="es" sz="1350">
                <a:solidFill>
                  <a:schemeClr val="dk1"/>
                </a:solidFill>
                <a:latin typeface="DM Sans"/>
                <a:ea typeface="DM Sans"/>
                <a:cs typeface="DM Sans"/>
                <a:sym typeface="DM Sans"/>
              </a:rPr>
              <a:t>¿Qué ventajas pueden identificar a la hora de utilizarla?</a:t>
            </a:r>
            <a:endParaRPr sz="1350">
              <a:solidFill>
                <a:schemeClr val="dk1"/>
              </a:solidFill>
              <a:latin typeface="DM Sans"/>
              <a:ea typeface="DM Sans"/>
              <a:cs typeface="DM Sans"/>
              <a:sym typeface="DM Sans"/>
            </a:endParaRPr>
          </a:p>
          <a:p>
            <a:pPr indent="-314325" lvl="0" marL="457200" rtl="0" algn="l">
              <a:spcBef>
                <a:spcPts val="1000"/>
              </a:spcBef>
              <a:spcAft>
                <a:spcPts val="1000"/>
              </a:spcAft>
              <a:buClr>
                <a:schemeClr val="dk2"/>
              </a:buClr>
              <a:buSzPts val="1350"/>
              <a:buFont typeface="DM Sans"/>
              <a:buChar char="✓"/>
            </a:pPr>
            <a:r>
              <a:rPr lang="es" sz="1350">
                <a:solidFill>
                  <a:schemeClr val="dk1"/>
                </a:solidFill>
                <a:latin typeface="DM Sans"/>
                <a:ea typeface="DM Sans"/>
                <a:cs typeface="DM Sans"/>
                <a:sym typeface="DM Sans"/>
              </a:rPr>
              <a:t>¿Por qué es importante esta herramienta para el analista de datos?</a:t>
            </a:r>
            <a:endParaRPr sz="1350">
              <a:latin typeface="DM Sans"/>
              <a:ea typeface="DM Sans"/>
              <a:cs typeface="DM Sans"/>
              <a:sym typeface="DM Sans"/>
            </a:endParaRPr>
          </a:p>
        </p:txBody>
      </p:sp>
      <p:pic>
        <p:nvPicPr>
          <p:cNvPr id="234" name="Google Shape;234;p32"/>
          <p:cNvPicPr preferRelativeResize="0"/>
          <p:nvPr/>
        </p:nvPicPr>
        <p:blipFill>
          <a:blip r:embed="rId4">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grpSp>
        <p:nvGrpSpPr>
          <p:cNvPr id="239" name="Google Shape;239;p33"/>
          <p:cNvGrpSpPr/>
          <p:nvPr/>
        </p:nvGrpSpPr>
        <p:grpSpPr>
          <a:xfrm>
            <a:off x="457338" y="468286"/>
            <a:ext cx="431100" cy="431100"/>
            <a:chOff x="4616400" y="1950761"/>
            <a:chExt cx="431100" cy="431100"/>
          </a:xfrm>
        </p:grpSpPr>
        <p:sp>
          <p:nvSpPr>
            <p:cNvPr id="240" name="Google Shape;240;p33"/>
            <p:cNvSpPr/>
            <p:nvPr/>
          </p:nvSpPr>
          <p:spPr>
            <a:xfrm>
              <a:off x="4616400" y="1950761"/>
              <a:ext cx="431100" cy="431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1" name="Google Shape;241;p33" title="ícono para recordar"/>
            <p:cNvPicPr preferRelativeResize="0"/>
            <p:nvPr/>
          </p:nvPicPr>
          <p:blipFill rotWithShape="1">
            <a:blip r:embed="rId3">
              <a:alphaModFix/>
            </a:blip>
            <a:srcRect b="0" l="0" r="0" t="0"/>
            <a:stretch/>
          </p:blipFill>
          <p:spPr>
            <a:xfrm>
              <a:off x="4699911" y="2034249"/>
              <a:ext cx="264076" cy="264076"/>
            </a:xfrm>
            <a:prstGeom prst="rect">
              <a:avLst/>
            </a:prstGeom>
            <a:noFill/>
            <a:ln>
              <a:noFill/>
            </a:ln>
          </p:spPr>
        </p:pic>
      </p:grpSp>
      <p:sp>
        <p:nvSpPr>
          <p:cNvPr id="242" name="Google Shape;242;p33"/>
          <p:cNvSpPr txBox="1"/>
          <p:nvPr/>
        </p:nvSpPr>
        <p:spPr>
          <a:xfrm>
            <a:off x="457350" y="1574475"/>
            <a:ext cx="8537700" cy="294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2200">
                <a:solidFill>
                  <a:schemeClr val="lt1"/>
                </a:solidFill>
                <a:latin typeface="DM Sans"/>
                <a:ea typeface="DM Sans"/>
                <a:cs typeface="DM Sans"/>
                <a:sym typeface="DM Sans"/>
              </a:rPr>
              <a:t>Este curso cuenta con:</a:t>
            </a:r>
            <a:endParaRPr sz="2200">
              <a:solidFill>
                <a:schemeClr val="lt1"/>
              </a:solidFill>
              <a:latin typeface="DM Sans"/>
              <a:ea typeface="DM Sans"/>
              <a:cs typeface="DM Sans"/>
              <a:sym typeface="DM Sans"/>
            </a:endParaRPr>
          </a:p>
          <a:p>
            <a:pPr indent="-368300" lvl="0" marL="457200" rtl="0" algn="l">
              <a:spcBef>
                <a:spcPts val="0"/>
              </a:spcBef>
              <a:spcAft>
                <a:spcPts val="0"/>
              </a:spcAft>
              <a:buClr>
                <a:srgbClr val="EAFF6A"/>
              </a:buClr>
              <a:buSzPts val="2200"/>
              <a:buFont typeface="DM Sans"/>
              <a:buChar char="●"/>
            </a:pPr>
            <a:r>
              <a:rPr lang="es" sz="2200">
                <a:solidFill>
                  <a:schemeClr val="lt1"/>
                </a:solidFill>
                <a:latin typeface="DM Sans"/>
                <a:ea typeface="DM Sans"/>
                <a:cs typeface="DM Sans"/>
                <a:sym typeface="DM Sans"/>
              </a:rPr>
              <a:t> Una </a:t>
            </a:r>
            <a:r>
              <a:rPr b="1" lang="es" sz="2200" u="sng">
                <a:solidFill>
                  <a:schemeClr val="hlink"/>
                </a:solidFill>
                <a:latin typeface="DM Sans"/>
                <a:ea typeface="DM Sans"/>
                <a:cs typeface="DM Sans"/>
                <a:sym typeface="DM Sans"/>
                <a:hlinkClick r:id="rId4"/>
              </a:rPr>
              <a:t>valija de recursos nivelatorios</a:t>
            </a:r>
            <a:r>
              <a:rPr b="1" lang="es" sz="2200">
                <a:solidFill>
                  <a:schemeClr val="lt1"/>
                </a:solidFill>
                <a:latin typeface="DM Sans"/>
                <a:ea typeface="DM Sans"/>
                <a:cs typeface="DM Sans"/>
                <a:sym typeface="DM Sans"/>
              </a:rPr>
              <a:t>. </a:t>
            </a:r>
            <a:r>
              <a:rPr lang="es" sz="2200">
                <a:solidFill>
                  <a:schemeClr val="lt1"/>
                </a:solidFill>
                <a:latin typeface="DM Sans"/>
                <a:ea typeface="DM Sans"/>
                <a:cs typeface="DM Sans"/>
                <a:sym typeface="DM Sans"/>
              </a:rPr>
              <a:t>Podrás encontrar tutoriales y una </a:t>
            </a:r>
            <a:r>
              <a:rPr b="1" lang="es" sz="2200" u="sng">
                <a:solidFill>
                  <a:schemeClr val="hlink"/>
                </a:solidFill>
                <a:latin typeface="DM Sans"/>
                <a:ea typeface="DM Sans"/>
                <a:cs typeface="DM Sans"/>
                <a:sym typeface="DM Sans"/>
                <a:hlinkClick r:id="rId5"/>
              </a:rPr>
              <a:t>autoevaluación</a:t>
            </a:r>
            <a:r>
              <a:rPr lang="es" sz="2200">
                <a:solidFill>
                  <a:schemeClr val="lt1"/>
                </a:solidFill>
                <a:latin typeface="DM Sans"/>
                <a:ea typeface="DM Sans"/>
                <a:cs typeface="DM Sans"/>
                <a:sym typeface="DM Sans"/>
              </a:rPr>
              <a:t>.</a:t>
            </a:r>
            <a:endParaRPr sz="2200">
              <a:solidFill>
                <a:schemeClr val="lt1"/>
              </a:solidFill>
              <a:latin typeface="DM Sans"/>
              <a:ea typeface="DM Sans"/>
              <a:cs typeface="DM Sans"/>
              <a:sym typeface="DM Sans"/>
            </a:endParaRPr>
          </a:p>
          <a:p>
            <a:pPr indent="-368300" lvl="0" marL="457200" rtl="0" algn="l">
              <a:spcBef>
                <a:spcPts val="0"/>
              </a:spcBef>
              <a:spcAft>
                <a:spcPts val="0"/>
              </a:spcAft>
              <a:buClr>
                <a:srgbClr val="EAFF6A"/>
              </a:buClr>
              <a:buSzPts val="2200"/>
              <a:buFont typeface="DM Sans"/>
              <a:buChar char="●"/>
            </a:pPr>
            <a:r>
              <a:rPr lang="es" sz="2200">
                <a:solidFill>
                  <a:schemeClr val="lt1"/>
                </a:solidFill>
                <a:latin typeface="DM Sans"/>
                <a:ea typeface="DM Sans"/>
                <a:cs typeface="DM Sans"/>
                <a:sym typeface="DM Sans"/>
              </a:rPr>
              <a:t> Un </a:t>
            </a:r>
            <a:r>
              <a:rPr b="1" lang="es" sz="2200" u="sng">
                <a:solidFill>
                  <a:schemeClr val="hlink"/>
                </a:solidFill>
                <a:latin typeface="DM Sans"/>
                <a:ea typeface="DM Sans"/>
                <a:cs typeface="DM Sans"/>
                <a:sym typeface="DM Sans"/>
                <a:hlinkClick r:id="rId6"/>
              </a:rPr>
              <a:t>glosario</a:t>
            </a:r>
            <a:r>
              <a:rPr lang="es" sz="2200">
                <a:solidFill>
                  <a:schemeClr val="lt1"/>
                </a:solidFill>
                <a:latin typeface="DM Sans"/>
                <a:ea typeface="DM Sans"/>
                <a:cs typeface="DM Sans"/>
                <a:sym typeface="DM Sans"/>
              </a:rPr>
              <a:t> para que puedas consultar definiciones.</a:t>
            </a:r>
            <a:endParaRPr sz="2200">
              <a:solidFill>
                <a:schemeClr val="lt1"/>
              </a:solidFill>
              <a:latin typeface="DM Sans"/>
              <a:ea typeface="DM Sans"/>
              <a:cs typeface="DM Sans"/>
              <a:sym typeface="DM Sans"/>
            </a:endParaRPr>
          </a:p>
          <a:p>
            <a:pPr indent="-368300" lvl="0" marL="457200" rtl="0" algn="l">
              <a:spcBef>
                <a:spcPts val="0"/>
              </a:spcBef>
              <a:spcAft>
                <a:spcPts val="0"/>
              </a:spcAft>
              <a:buClr>
                <a:srgbClr val="EAFF6A"/>
              </a:buClr>
              <a:buSzPts val="2200"/>
              <a:buFont typeface="DM Sans"/>
              <a:buChar char="●"/>
            </a:pPr>
            <a:r>
              <a:rPr lang="es" sz="2200">
                <a:solidFill>
                  <a:schemeClr val="lt1"/>
                </a:solidFill>
                <a:latin typeface="DM Sans"/>
                <a:ea typeface="DM Sans"/>
                <a:cs typeface="DM Sans"/>
                <a:sym typeface="DM Sans"/>
              </a:rPr>
              <a:t>Una </a:t>
            </a:r>
            <a:r>
              <a:rPr b="1" lang="es" sz="2200" u="sng">
                <a:solidFill>
                  <a:schemeClr val="hlink"/>
                </a:solidFill>
                <a:latin typeface="DM Sans"/>
                <a:ea typeface="DM Sans"/>
                <a:cs typeface="DM Sans"/>
                <a:sym typeface="DM Sans"/>
                <a:hlinkClick r:id="rId7"/>
              </a:rPr>
              <a:t>hoja de ruta</a:t>
            </a:r>
            <a:r>
              <a:rPr lang="es" sz="2200">
                <a:solidFill>
                  <a:schemeClr val="lt1"/>
                </a:solidFill>
                <a:latin typeface="DM Sans"/>
                <a:ea typeface="DM Sans"/>
                <a:cs typeface="DM Sans"/>
                <a:sym typeface="DM Sans"/>
              </a:rPr>
              <a:t> para que te acompañe en todo tu recorrido.</a:t>
            </a:r>
            <a:endParaRPr sz="2200">
              <a:solidFill>
                <a:schemeClr val="lt1"/>
              </a:solidFill>
              <a:latin typeface="DM Sans"/>
              <a:ea typeface="DM Sans"/>
              <a:cs typeface="DM Sans"/>
              <a:sym typeface="DM Sans"/>
            </a:endParaRPr>
          </a:p>
          <a:p>
            <a:pPr indent="0" lvl="0" marL="0" rtl="0" algn="l">
              <a:spcBef>
                <a:spcPts val="0"/>
              </a:spcBef>
              <a:spcAft>
                <a:spcPts val="0"/>
              </a:spcAft>
              <a:buNone/>
            </a:pPr>
            <a:r>
              <a:t/>
            </a:r>
            <a:endParaRPr sz="2200">
              <a:solidFill>
                <a:schemeClr val="lt1"/>
              </a:solidFill>
              <a:latin typeface="DM Sans"/>
              <a:ea typeface="DM Sans"/>
              <a:cs typeface="DM Sans"/>
              <a:sym typeface="DM Sans"/>
            </a:endParaRPr>
          </a:p>
          <a:p>
            <a:pPr indent="0" lvl="0" marL="0" rtl="0" algn="l">
              <a:spcBef>
                <a:spcPts val="0"/>
              </a:spcBef>
              <a:spcAft>
                <a:spcPts val="0"/>
              </a:spcAft>
              <a:buNone/>
            </a:pPr>
            <a:r>
              <a:rPr b="1" lang="es" sz="2500">
                <a:solidFill>
                  <a:schemeClr val="accent6"/>
                </a:solidFill>
                <a:latin typeface="DM Sans"/>
                <a:ea typeface="DM Sans"/>
                <a:cs typeface="DM Sans"/>
                <a:sym typeface="DM Sans"/>
              </a:rPr>
              <a:t>¡Anímate a descubrirlos!</a:t>
            </a:r>
            <a:endParaRPr b="1" sz="2500">
              <a:solidFill>
                <a:srgbClr val="EAFF6A"/>
              </a:solidFill>
              <a:latin typeface="DM Sans"/>
              <a:ea typeface="DM Sans"/>
              <a:cs typeface="DM Sans"/>
              <a:sym typeface="DM Sans"/>
            </a:endParaRPr>
          </a:p>
        </p:txBody>
      </p:sp>
      <p:sp>
        <p:nvSpPr>
          <p:cNvPr id="243" name="Google Shape;243;p33"/>
          <p:cNvSpPr txBox="1"/>
          <p:nvPr/>
        </p:nvSpPr>
        <p:spPr>
          <a:xfrm>
            <a:off x="501450" y="990513"/>
            <a:ext cx="7310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lang="es" sz="4000">
                <a:solidFill>
                  <a:srgbClr val="EAFF6A"/>
                </a:solidFill>
                <a:latin typeface="DM Sans"/>
                <a:ea typeface="DM Sans"/>
                <a:cs typeface="DM Sans"/>
                <a:sym typeface="DM Sans"/>
              </a:rPr>
              <a:t>A tener en cuenta</a:t>
            </a:r>
            <a:endParaRPr b="1" i="0" sz="4000" u="none" cap="none" strike="noStrike">
              <a:solidFill>
                <a:srgbClr val="EAFF6A"/>
              </a:solidFill>
              <a:latin typeface="DM Sans"/>
              <a:ea typeface="DM Sans"/>
              <a:cs typeface="DM Sans"/>
              <a:sym typeface="DM Sans"/>
            </a:endParaRPr>
          </a:p>
        </p:txBody>
      </p:sp>
      <p:sp>
        <p:nvSpPr>
          <p:cNvPr id="244" name="Google Shape;244;p33"/>
          <p:cNvSpPr txBox="1"/>
          <p:nvPr/>
        </p:nvSpPr>
        <p:spPr>
          <a:xfrm>
            <a:off x="930550" y="468275"/>
            <a:ext cx="2917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lt1"/>
                </a:solidFill>
                <a:latin typeface="DM Sans"/>
                <a:ea typeface="DM Sans"/>
                <a:cs typeface="DM Sans"/>
                <a:sym typeface="DM Sans"/>
              </a:rPr>
              <a:t>PARA RECORDAR</a:t>
            </a:r>
            <a:endParaRPr b="0" i="0" sz="1400" u="none" cap="none" strike="noStrike">
              <a:solidFill>
                <a:schemeClr val="lt1"/>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grpSp>
        <p:nvGrpSpPr>
          <p:cNvPr id="249" name="Google Shape;249;p34"/>
          <p:cNvGrpSpPr/>
          <p:nvPr/>
        </p:nvGrpSpPr>
        <p:grpSpPr>
          <a:xfrm>
            <a:off x="457338" y="468286"/>
            <a:ext cx="431100" cy="431100"/>
            <a:chOff x="4616400" y="1950761"/>
            <a:chExt cx="431100" cy="431100"/>
          </a:xfrm>
        </p:grpSpPr>
        <p:sp>
          <p:nvSpPr>
            <p:cNvPr id="250" name="Google Shape;250;p34"/>
            <p:cNvSpPr/>
            <p:nvPr/>
          </p:nvSpPr>
          <p:spPr>
            <a:xfrm>
              <a:off x="4616400" y="1950761"/>
              <a:ext cx="431100" cy="431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1" name="Google Shape;251;p34" title="ícono para recordar"/>
            <p:cNvPicPr preferRelativeResize="0"/>
            <p:nvPr/>
          </p:nvPicPr>
          <p:blipFill rotWithShape="1">
            <a:blip r:embed="rId3">
              <a:alphaModFix/>
            </a:blip>
            <a:srcRect b="0" l="0" r="0" t="0"/>
            <a:stretch/>
          </p:blipFill>
          <p:spPr>
            <a:xfrm>
              <a:off x="4699911" y="2034249"/>
              <a:ext cx="264076" cy="264076"/>
            </a:xfrm>
            <a:prstGeom prst="rect">
              <a:avLst/>
            </a:prstGeom>
            <a:noFill/>
            <a:ln>
              <a:noFill/>
            </a:ln>
          </p:spPr>
        </p:pic>
      </p:grpSp>
      <p:sp>
        <p:nvSpPr>
          <p:cNvPr id="252" name="Google Shape;252;p34"/>
          <p:cNvSpPr txBox="1"/>
          <p:nvPr/>
        </p:nvSpPr>
        <p:spPr>
          <a:xfrm>
            <a:off x="457350" y="1695600"/>
            <a:ext cx="83295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2000">
                <a:solidFill>
                  <a:schemeClr val="lt1"/>
                </a:solidFill>
                <a:latin typeface="DM Sans"/>
                <a:ea typeface="DM Sans"/>
                <a:cs typeface="DM Sans"/>
                <a:sym typeface="DM Sans"/>
              </a:rPr>
              <a:t>También contarás con:</a:t>
            </a:r>
            <a:endParaRPr sz="2000">
              <a:solidFill>
                <a:schemeClr val="lt1"/>
              </a:solidFill>
              <a:latin typeface="DM Sans"/>
              <a:ea typeface="DM Sans"/>
              <a:cs typeface="DM Sans"/>
              <a:sym typeface="DM Sans"/>
            </a:endParaRPr>
          </a:p>
          <a:p>
            <a:pPr indent="-355600" lvl="0" marL="457200" rtl="0" algn="l">
              <a:spcBef>
                <a:spcPts val="0"/>
              </a:spcBef>
              <a:spcAft>
                <a:spcPts val="0"/>
              </a:spcAft>
              <a:buClr>
                <a:srgbClr val="EAFF6A"/>
              </a:buClr>
              <a:buSzPts val="2000"/>
              <a:buFont typeface="DM Sans"/>
              <a:buChar char="●"/>
            </a:pPr>
            <a:r>
              <a:rPr lang="es" sz="2000">
                <a:solidFill>
                  <a:schemeClr val="lt1"/>
                </a:solidFill>
                <a:latin typeface="DM Sans"/>
                <a:ea typeface="DM Sans"/>
                <a:cs typeface="DM Sans"/>
                <a:sym typeface="DM Sans"/>
              </a:rPr>
              <a:t> Una </a:t>
            </a:r>
            <a:r>
              <a:rPr b="1" lang="es" sz="2000" u="sng">
                <a:solidFill>
                  <a:schemeClr val="hlink"/>
                </a:solidFill>
                <a:latin typeface="DM Sans"/>
                <a:ea typeface="DM Sans"/>
                <a:cs typeface="DM Sans"/>
                <a:sym typeface="DM Sans"/>
                <a:hlinkClick r:id="rId4"/>
              </a:rPr>
              <a:t>guía de actividades hacia el Proyecto final</a:t>
            </a:r>
            <a:r>
              <a:rPr b="1" lang="es" sz="2000">
                <a:solidFill>
                  <a:schemeClr val="lt1"/>
                </a:solidFill>
                <a:latin typeface="DM Sans"/>
                <a:ea typeface="DM Sans"/>
                <a:cs typeface="DM Sans"/>
                <a:sym typeface="DM Sans"/>
              </a:rPr>
              <a:t>*, </a:t>
            </a:r>
            <a:r>
              <a:rPr lang="es" sz="2000">
                <a:solidFill>
                  <a:schemeClr val="lt1"/>
                </a:solidFill>
                <a:latin typeface="DM Sans"/>
                <a:ea typeface="DM Sans"/>
                <a:cs typeface="DM Sans"/>
                <a:sym typeface="DM Sans"/>
              </a:rPr>
              <a:t>donde encontrarás propuestas prácticas que te ayudarán a construir tu proyecto.</a:t>
            </a:r>
            <a:endParaRPr sz="2000">
              <a:solidFill>
                <a:schemeClr val="lt1"/>
              </a:solidFill>
              <a:latin typeface="DM Sans"/>
              <a:ea typeface="DM Sans"/>
              <a:cs typeface="DM Sans"/>
              <a:sym typeface="DM Sans"/>
            </a:endParaRPr>
          </a:p>
          <a:p>
            <a:pPr indent="-355600" lvl="0" marL="457200" rtl="0" algn="l">
              <a:spcBef>
                <a:spcPts val="0"/>
              </a:spcBef>
              <a:spcAft>
                <a:spcPts val="0"/>
              </a:spcAft>
              <a:buClr>
                <a:srgbClr val="EAFF6A"/>
              </a:buClr>
              <a:buSzPts val="2000"/>
              <a:buFont typeface="DM Sans"/>
              <a:buChar char="●"/>
            </a:pPr>
            <a:r>
              <a:rPr lang="es" sz="2000">
                <a:solidFill>
                  <a:schemeClr val="lt1"/>
                </a:solidFill>
                <a:latin typeface="DM Sans"/>
                <a:ea typeface="DM Sans"/>
                <a:cs typeface="DM Sans"/>
                <a:sym typeface="DM Sans"/>
              </a:rPr>
              <a:t>Una </a:t>
            </a:r>
            <a:r>
              <a:rPr b="1" lang="es" sz="2000" u="sng">
                <a:solidFill>
                  <a:schemeClr val="hlink"/>
                </a:solidFill>
                <a:latin typeface="DM Sans"/>
                <a:ea typeface="DM Sans"/>
                <a:cs typeface="DM Sans"/>
                <a:sym typeface="DM Sans"/>
                <a:hlinkClick r:id="rId5"/>
              </a:rPr>
              <a:t>guía de ejercicios complementarios</a:t>
            </a:r>
            <a:r>
              <a:rPr b="1" lang="es" sz="2000">
                <a:solidFill>
                  <a:schemeClr val="lt1"/>
                </a:solidFill>
                <a:latin typeface="DM Sans"/>
                <a:ea typeface="DM Sans"/>
                <a:cs typeface="DM Sans"/>
                <a:sym typeface="DM Sans"/>
              </a:rPr>
              <a:t>*</a:t>
            </a:r>
            <a:r>
              <a:rPr lang="es" sz="2000">
                <a:solidFill>
                  <a:schemeClr val="lt1"/>
                </a:solidFill>
                <a:latin typeface="DM Sans"/>
                <a:ea typeface="DM Sans"/>
                <a:cs typeface="DM Sans"/>
                <a:sym typeface="DM Sans"/>
              </a:rPr>
              <a:t>, para que puedas seguir practicando.</a:t>
            </a:r>
            <a:endParaRPr sz="2000">
              <a:solidFill>
                <a:schemeClr val="lt1"/>
              </a:solidFill>
              <a:latin typeface="DM Sans"/>
              <a:ea typeface="DM Sans"/>
              <a:cs typeface="DM Sans"/>
              <a:sym typeface="DM Sans"/>
            </a:endParaRPr>
          </a:p>
          <a:p>
            <a:pPr indent="-355600" lvl="0" marL="457200" rtl="0" algn="l">
              <a:spcBef>
                <a:spcPts val="0"/>
              </a:spcBef>
              <a:spcAft>
                <a:spcPts val="0"/>
              </a:spcAft>
              <a:buClr>
                <a:srgbClr val="EAFF6A"/>
              </a:buClr>
              <a:buSzPts val="2000"/>
              <a:buFont typeface="DM Sans"/>
              <a:buChar char="●"/>
            </a:pPr>
            <a:r>
              <a:rPr b="1" lang="es" sz="2000" u="sng">
                <a:solidFill>
                  <a:schemeClr val="hlink"/>
                </a:solidFill>
                <a:latin typeface="DM Sans"/>
                <a:ea typeface="DM Sans"/>
                <a:cs typeface="DM Sans"/>
                <a:sym typeface="DM Sans"/>
                <a:hlinkClick r:id="rId6"/>
              </a:rPr>
              <a:t>Errores frecuentes</a:t>
            </a:r>
            <a:r>
              <a:rPr lang="es" sz="2000">
                <a:solidFill>
                  <a:schemeClr val="lt1"/>
                </a:solidFill>
                <a:latin typeface="DM Sans"/>
                <a:ea typeface="DM Sans"/>
                <a:cs typeface="DM Sans"/>
                <a:sym typeface="DM Sans"/>
              </a:rPr>
              <a:t>, para que puedas evitarlos en tu Proyecto final.</a:t>
            </a:r>
            <a:endParaRPr sz="2200">
              <a:solidFill>
                <a:schemeClr val="lt1"/>
              </a:solidFill>
              <a:latin typeface="DM Sans"/>
              <a:ea typeface="DM Sans"/>
              <a:cs typeface="DM Sans"/>
              <a:sym typeface="DM Sans"/>
            </a:endParaRPr>
          </a:p>
          <a:p>
            <a:pPr indent="0" lvl="0" marL="0" rtl="0" algn="l">
              <a:spcBef>
                <a:spcPts val="0"/>
              </a:spcBef>
              <a:spcAft>
                <a:spcPts val="0"/>
              </a:spcAft>
              <a:buNone/>
            </a:pPr>
            <a:r>
              <a:rPr lang="es" sz="1600">
                <a:solidFill>
                  <a:schemeClr val="lt1"/>
                </a:solidFill>
                <a:latin typeface="DM Sans"/>
                <a:ea typeface="DM Sans"/>
                <a:cs typeface="DM Sans"/>
                <a:sym typeface="DM Sans"/>
              </a:rPr>
              <a:t>*La resolución de ambas guías es optativa, pero te sugerimos que realices las actividades para fortalecer tus conocimientos.</a:t>
            </a:r>
            <a:endParaRPr sz="1600">
              <a:solidFill>
                <a:schemeClr val="lt1"/>
              </a:solidFill>
              <a:latin typeface="DM Sans"/>
              <a:ea typeface="DM Sans"/>
              <a:cs typeface="DM Sans"/>
              <a:sym typeface="DM Sans"/>
            </a:endParaRPr>
          </a:p>
        </p:txBody>
      </p:sp>
      <p:sp>
        <p:nvSpPr>
          <p:cNvPr id="253" name="Google Shape;253;p34"/>
          <p:cNvSpPr txBox="1"/>
          <p:nvPr/>
        </p:nvSpPr>
        <p:spPr>
          <a:xfrm>
            <a:off x="501450" y="990513"/>
            <a:ext cx="7310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lang="es" sz="4000">
                <a:solidFill>
                  <a:srgbClr val="EAFF6A"/>
                </a:solidFill>
                <a:latin typeface="DM Sans"/>
                <a:ea typeface="DM Sans"/>
                <a:cs typeface="DM Sans"/>
                <a:sym typeface="DM Sans"/>
              </a:rPr>
              <a:t>A tener en cuenta</a:t>
            </a:r>
            <a:endParaRPr b="1" i="0" sz="4000" u="none" cap="none" strike="noStrike">
              <a:solidFill>
                <a:srgbClr val="EAFF6A"/>
              </a:solidFill>
              <a:latin typeface="DM Sans"/>
              <a:ea typeface="DM Sans"/>
              <a:cs typeface="DM Sans"/>
              <a:sym typeface="DM Sans"/>
            </a:endParaRPr>
          </a:p>
        </p:txBody>
      </p:sp>
      <p:sp>
        <p:nvSpPr>
          <p:cNvPr id="254" name="Google Shape;254;p34"/>
          <p:cNvSpPr txBox="1"/>
          <p:nvPr/>
        </p:nvSpPr>
        <p:spPr>
          <a:xfrm>
            <a:off x="930550" y="468275"/>
            <a:ext cx="2917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lt1"/>
                </a:solidFill>
                <a:latin typeface="DM Sans"/>
                <a:ea typeface="DM Sans"/>
                <a:cs typeface="DM Sans"/>
                <a:sym typeface="DM Sans"/>
              </a:rPr>
              <a:t>PARA RECORDAR</a:t>
            </a:r>
            <a:endParaRPr b="0" i="0" sz="1400" u="none" cap="none" strike="noStrike">
              <a:solidFill>
                <a:schemeClr val="lt1"/>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5"/>
          <p:cNvSpPr/>
          <p:nvPr/>
        </p:nvSpPr>
        <p:spPr>
          <a:xfrm>
            <a:off x="1481100" y="1023900"/>
            <a:ext cx="6181800" cy="3095700"/>
          </a:xfrm>
          <a:prstGeom prst="rect">
            <a:avLst/>
          </a:prstGeom>
          <a:solidFill>
            <a:srgbClr val="C9CBD8">
              <a:alpha val="38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5"/>
          <p:cNvSpPr txBox="1"/>
          <p:nvPr/>
        </p:nvSpPr>
        <p:spPr>
          <a:xfrm>
            <a:off x="1905000" y="2202300"/>
            <a:ext cx="5372100" cy="6003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s" sz="3000">
                <a:solidFill>
                  <a:schemeClr val="dk1"/>
                </a:solidFill>
                <a:latin typeface="DM Sans"/>
                <a:ea typeface="DM Sans"/>
                <a:cs typeface="DM Sans"/>
                <a:sym typeface="DM Sans"/>
              </a:rPr>
              <a:t>Tutoriales para instalaciones</a:t>
            </a:r>
            <a:endParaRPr sz="3000">
              <a:solidFill>
                <a:schemeClr val="dk1"/>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6"/>
          <p:cNvSpPr txBox="1"/>
          <p:nvPr/>
        </p:nvSpPr>
        <p:spPr>
          <a:xfrm>
            <a:off x="457350" y="466225"/>
            <a:ext cx="5573100" cy="1182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600">
                <a:solidFill>
                  <a:schemeClr val="dk1"/>
                </a:solidFill>
                <a:latin typeface="DM Sans"/>
                <a:ea typeface="DM Sans"/>
                <a:cs typeface="DM Sans"/>
                <a:sym typeface="DM Sans"/>
              </a:rPr>
              <a:t>¿Cómo instalar programas y softwares?</a:t>
            </a:r>
            <a:endParaRPr b="1" sz="3400">
              <a:solidFill>
                <a:schemeClr val="dk1"/>
              </a:solidFill>
              <a:latin typeface="DM Sans"/>
              <a:ea typeface="DM Sans"/>
              <a:cs typeface="DM Sans"/>
              <a:sym typeface="DM Sans"/>
            </a:endParaRPr>
          </a:p>
        </p:txBody>
      </p:sp>
      <p:sp>
        <p:nvSpPr>
          <p:cNvPr id="266" name="Google Shape;266;p36"/>
          <p:cNvSpPr txBox="1"/>
          <p:nvPr/>
        </p:nvSpPr>
        <p:spPr>
          <a:xfrm>
            <a:off x="475500" y="1797800"/>
            <a:ext cx="7646700" cy="8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50">
                <a:latin typeface="DM Sans"/>
                <a:ea typeface="DM Sans"/>
                <a:cs typeface="DM Sans"/>
                <a:sym typeface="DM Sans"/>
              </a:rPr>
              <a:t>Dentro de la carpeta </a:t>
            </a:r>
            <a:r>
              <a:rPr lang="es" sz="1350" u="sng">
                <a:solidFill>
                  <a:schemeClr val="hlink"/>
                </a:solidFill>
                <a:latin typeface="DM Sans"/>
                <a:ea typeface="DM Sans"/>
                <a:cs typeface="DM Sans"/>
                <a:sym typeface="DM Sans"/>
                <a:hlinkClick r:id="rId3"/>
              </a:rPr>
              <a:t>“Tutoriales” </a:t>
            </a:r>
            <a:r>
              <a:rPr lang="es" sz="1350">
                <a:latin typeface="DM Sans"/>
                <a:ea typeface="DM Sans"/>
                <a:cs typeface="DM Sans"/>
                <a:sym typeface="DM Sans"/>
              </a:rPr>
              <a:t>encontrarás videos donde te explicamos cómo instalar los softwares y programas que utilizarás a lo largo del curso. Para optimizar la calidad de imagen de los mismos al reproducirlos, deberás seguir los siguientes pasos:</a:t>
            </a:r>
            <a:endParaRPr sz="1350">
              <a:latin typeface="DM Sans"/>
              <a:ea typeface="DM Sans"/>
              <a:cs typeface="DM Sans"/>
              <a:sym typeface="DM Sans"/>
            </a:endParaRPr>
          </a:p>
        </p:txBody>
      </p:sp>
      <p:pic>
        <p:nvPicPr>
          <p:cNvPr id="267" name="Google Shape;267;p36"/>
          <p:cNvPicPr preferRelativeResize="0"/>
          <p:nvPr/>
        </p:nvPicPr>
        <p:blipFill>
          <a:blip r:embed="rId4">
            <a:alphaModFix/>
          </a:blip>
          <a:stretch>
            <a:fillRect/>
          </a:stretch>
        </p:blipFill>
        <p:spPr>
          <a:xfrm>
            <a:off x="785000" y="3143281"/>
            <a:ext cx="1734925" cy="863150"/>
          </a:xfrm>
          <a:prstGeom prst="rect">
            <a:avLst/>
          </a:prstGeom>
          <a:noFill/>
          <a:ln>
            <a:noFill/>
          </a:ln>
        </p:spPr>
      </p:pic>
      <p:cxnSp>
        <p:nvCxnSpPr>
          <p:cNvPr id="268" name="Google Shape;268;p36"/>
          <p:cNvCxnSpPr/>
          <p:nvPr/>
        </p:nvCxnSpPr>
        <p:spPr>
          <a:xfrm>
            <a:off x="2595300" y="3574856"/>
            <a:ext cx="523200" cy="0"/>
          </a:xfrm>
          <a:prstGeom prst="straightConnector1">
            <a:avLst/>
          </a:prstGeom>
          <a:noFill/>
          <a:ln cap="flat" cmpd="sng" w="9525">
            <a:solidFill>
              <a:srgbClr val="FF0000"/>
            </a:solidFill>
            <a:prstDash val="solid"/>
            <a:round/>
            <a:headEnd len="med" w="med" type="none"/>
            <a:tailEnd len="med" w="med" type="triangle"/>
          </a:ln>
        </p:spPr>
      </p:cxnSp>
      <p:pic>
        <p:nvPicPr>
          <p:cNvPr id="269" name="Google Shape;269;p36"/>
          <p:cNvPicPr preferRelativeResize="0"/>
          <p:nvPr/>
        </p:nvPicPr>
        <p:blipFill>
          <a:blip r:embed="rId5">
            <a:alphaModFix/>
          </a:blip>
          <a:stretch>
            <a:fillRect/>
          </a:stretch>
        </p:blipFill>
        <p:spPr>
          <a:xfrm>
            <a:off x="3207850" y="2758431"/>
            <a:ext cx="2597600" cy="1453775"/>
          </a:xfrm>
          <a:prstGeom prst="rect">
            <a:avLst/>
          </a:prstGeom>
          <a:noFill/>
          <a:ln>
            <a:noFill/>
          </a:ln>
        </p:spPr>
      </p:pic>
      <p:pic>
        <p:nvPicPr>
          <p:cNvPr id="270" name="Google Shape;270;p36"/>
          <p:cNvPicPr preferRelativeResize="0"/>
          <p:nvPr/>
        </p:nvPicPr>
        <p:blipFill>
          <a:blip r:embed="rId6">
            <a:alphaModFix/>
          </a:blip>
          <a:stretch>
            <a:fillRect/>
          </a:stretch>
        </p:blipFill>
        <p:spPr>
          <a:xfrm>
            <a:off x="6467420" y="2771269"/>
            <a:ext cx="1734925" cy="1428106"/>
          </a:xfrm>
          <a:prstGeom prst="rect">
            <a:avLst/>
          </a:prstGeom>
          <a:noFill/>
          <a:ln>
            <a:noFill/>
          </a:ln>
        </p:spPr>
      </p:pic>
      <p:cxnSp>
        <p:nvCxnSpPr>
          <p:cNvPr id="271" name="Google Shape;271;p36"/>
          <p:cNvCxnSpPr/>
          <p:nvPr/>
        </p:nvCxnSpPr>
        <p:spPr>
          <a:xfrm>
            <a:off x="5871900" y="3574856"/>
            <a:ext cx="523200" cy="0"/>
          </a:xfrm>
          <a:prstGeom prst="straightConnector1">
            <a:avLst/>
          </a:prstGeom>
          <a:noFill/>
          <a:ln cap="flat" cmpd="sng" w="9525">
            <a:solidFill>
              <a:srgbClr val="FF0000"/>
            </a:solidFill>
            <a:prstDash val="solid"/>
            <a:round/>
            <a:headEnd len="med" w="med" type="none"/>
            <a:tailEnd len="med" w="med" type="triangle"/>
          </a:ln>
        </p:spPr>
      </p:cxnSp>
      <p:sp>
        <p:nvSpPr>
          <p:cNvPr id="272" name="Google Shape;272;p36"/>
          <p:cNvSpPr txBox="1"/>
          <p:nvPr/>
        </p:nvSpPr>
        <p:spPr>
          <a:xfrm>
            <a:off x="537954" y="4199371"/>
            <a:ext cx="22290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solidFill>
                  <a:srgbClr val="000000"/>
                </a:solidFill>
                <a:latin typeface="DM Sans"/>
                <a:ea typeface="DM Sans"/>
                <a:cs typeface="DM Sans"/>
                <a:sym typeface="DM Sans"/>
              </a:rPr>
              <a:t>Haz clic en</a:t>
            </a:r>
            <a:r>
              <a:rPr lang="es" sz="1350">
                <a:latin typeface="DM Sans"/>
                <a:ea typeface="DM Sans"/>
                <a:cs typeface="DM Sans"/>
                <a:sym typeface="DM Sans"/>
              </a:rPr>
              <a:t> </a:t>
            </a:r>
            <a:r>
              <a:rPr lang="es" sz="1350">
                <a:solidFill>
                  <a:srgbClr val="000000"/>
                </a:solidFill>
                <a:latin typeface="DM Sans"/>
                <a:ea typeface="DM Sans"/>
                <a:cs typeface="DM Sans"/>
                <a:sym typeface="DM Sans"/>
              </a:rPr>
              <a:t>configuración </a:t>
            </a:r>
            <a:endParaRPr sz="1350">
              <a:latin typeface="DM Sans"/>
              <a:ea typeface="DM Sans"/>
              <a:cs typeface="DM Sans"/>
              <a:sym typeface="DM Sans"/>
            </a:endParaRPr>
          </a:p>
        </p:txBody>
      </p:sp>
      <p:sp>
        <p:nvSpPr>
          <p:cNvPr id="273" name="Google Shape;273;p36"/>
          <p:cNvSpPr txBox="1"/>
          <p:nvPr/>
        </p:nvSpPr>
        <p:spPr>
          <a:xfrm>
            <a:off x="3660441" y="4199374"/>
            <a:ext cx="17349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solidFill>
                  <a:schemeClr val="dk1"/>
                </a:solidFill>
                <a:latin typeface="DM Sans"/>
                <a:ea typeface="DM Sans"/>
                <a:cs typeface="DM Sans"/>
                <a:sym typeface="DM Sans"/>
              </a:rPr>
              <a:t>Luego en calidad</a:t>
            </a:r>
            <a:endParaRPr sz="1350">
              <a:latin typeface="DM Sans"/>
              <a:ea typeface="DM Sans"/>
              <a:cs typeface="DM Sans"/>
              <a:sym typeface="DM Sans"/>
            </a:endParaRPr>
          </a:p>
        </p:txBody>
      </p:sp>
      <p:sp>
        <p:nvSpPr>
          <p:cNvPr id="274" name="Google Shape;274;p36"/>
          <p:cNvSpPr txBox="1"/>
          <p:nvPr/>
        </p:nvSpPr>
        <p:spPr>
          <a:xfrm>
            <a:off x="6170150" y="4199375"/>
            <a:ext cx="25977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solidFill>
                  <a:srgbClr val="000000"/>
                </a:solidFill>
                <a:latin typeface="DM Sans"/>
                <a:ea typeface="DM Sans"/>
                <a:cs typeface="DM Sans"/>
                <a:sym typeface="DM Sans"/>
              </a:rPr>
              <a:t>Y por último selecciona 720p</a:t>
            </a:r>
            <a:endParaRPr sz="1350">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p:nvPr/>
        </p:nvSpPr>
        <p:spPr>
          <a:xfrm>
            <a:off x="1481100" y="1023900"/>
            <a:ext cx="6181800" cy="3095700"/>
          </a:xfrm>
          <a:prstGeom prst="rect">
            <a:avLst/>
          </a:prstGeom>
          <a:solidFill>
            <a:srgbClr val="C9CBD8">
              <a:alpha val="38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7"/>
          <p:cNvSpPr txBox="1"/>
          <p:nvPr/>
        </p:nvSpPr>
        <p:spPr>
          <a:xfrm>
            <a:off x="1905000" y="2202300"/>
            <a:ext cx="5372100" cy="10158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s" sz="3000">
                <a:solidFill>
                  <a:schemeClr val="dk1"/>
                </a:solidFill>
                <a:latin typeface="DM Sans"/>
                <a:ea typeface="DM Sans"/>
                <a:cs typeface="DM Sans"/>
                <a:sym typeface="DM Sans"/>
              </a:rPr>
              <a:t>	Introducción a React JS y configuración del entorno</a:t>
            </a:r>
            <a:endParaRPr sz="3000">
              <a:solidFill>
                <a:schemeClr val="dk1"/>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8"/>
          <p:cNvSpPr txBox="1"/>
          <p:nvPr/>
        </p:nvSpPr>
        <p:spPr>
          <a:xfrm>
            <a:off x="475500" y="2114025"/>
            <a:ext cx="4796700" cy="249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200">
                <a:solidFill>
                  <a:schemeClr val="dk1"/>
                </a:solidFill>
                <a:latin typeface="DM Sans"/>
                <a:ea typeface="DM Sans"/>
                <a:cs typeface="DM Sans"/>
                <a:sym typeface="DM Sans"/>
              </a:rPr>
              <a:t>React JS fue </a:t>
            </a:r>
            <a:r>
              <a:rPr lang="es" sz="1200">
                <a:solidFill>
                  <a:schemeClr val="dk1"/>
                </a:solidFill>
                <a:latin typeface="DM Sans"/>
                <a:ea typeface="DM Sans"/>
                <a:cs typeface="DM Sans"/>
                <a:sym typeface="DM Sans"/>
              </a:rPr>
              <a:t>creada por el equipo</a:t>
            </a:r>
            <a:r>
              <a:rPr lang="es" sz="1200">
                <a:solidFill>
                  <a:schemeClr val="dk1"/>
                </a:solidFill>
                <a:latin typeface="DM Sans"/>
                <a:ea typeface="DM Sans"/>
                <a:cs typeface="DM Sans"/>
                <a:sym typeface="DM Sans"/>
              </a:rPr>
              <a:t> de desarrollo de Facebook como solución </a:t>
            </a:r>
            <a:r>
              <a:rPr b="1" lang="es" sz="1200">
                <a:solidFill>
                  <a:schemeClr val="dk1"/>
                </a:solidFill>
                <a:latin typeface="DM Sans"/>
                <a:ea typeface="DM Sans"/>
                <a:cs typeface="DM Sans"/>
                <a:sym typeface="DM Sans"/>
              </a:rPr>
              <a:t>para construir interfaces de usuario en aplicaciones web</a:t>
            </a:r>
            <a:r>
              <a:rPr lang="es" sz="1200">
                <a:solidFill>
                  <a:schemeClr val="dk1"/>
                </a:solidFill>
                <a:latin typeface="DM Sans"/>
                <a:ea typeface="DM Sans"/>
                <a:cs typeface="DM Sans"/>
                <a:sym typeface="DM Sans"/>
              </a:rPr>
              <a:t>.</a:t>
            </a:r>
            <a:endParaRPr sz="12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s" sz="1200">
                <a:solidFill>
                  <a:schemeClr val="dk1"/>
                </a:solidFill>
                <a:latin typeface="DM Sans"/>
                <a:ea typeface="DM Sans"/>
                <a:cs typeface="DM Sans"/>
                <a:sym typeface="DM Sans"/>
              </a:rPr>
              <a:t> </a:t>
            </a:r>
            <a:endParaRPr sz="120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00">
                <a:solidFill>
                  <a:schemeClr val="dk1"/>
                </a:solidFill>
                <a:latin typeface="DM Sans"/>
                <a:ea typeface="DM Sans"/>
                <a:cs typeface="DM Sans"/>
                <a:sym typeface="DM Sans"/>
              </a:rPr>
              <a:t>A diferencia de Bootstrap, React es una biblioteca de JavaScript para construir interfaces y su lógica interna,</a:t>
            </a:r>
            <a:r>
              <a:rPr b="1" lang="es" sz="1200">
                <a:solidFill>
                  <a:schemeClr val="dk1"/>
                </a:solidFill>
                <a:latin typeface="DM Sans"/>
                <a:ea typeface="DM Sans"/>
                <a:cs typeface="DM Sans"/>
                <a:sym typeface="DM Sans"/>
              </a:rPr>
              <a:t> sin un enfoque particular en el apartado estético.</a:t>
            </a:r>
            <a:endParaRPr b="1" sz="12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2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s" sz="1200">
                <a:solidFill>
                  <a:schemeClr val="dk1"/>
                </a:solidFill>
                <a:latin typeface="DM Sans"/>
                <a:ea typeface="DM Sans"/>
                <a:cs typeface="DM Sans"/>
                <a:sym typeface="DM Sans"/>
              </a:rPr>
              <a:t>Crearemos estas interfaces mediante </a:t>
            </a:r>
            <a:r>
              <a:rPr b="1" lang="es" sz="1200">
                <a:solidFill>
                  <a:schemeClr val="dk1"/>
                </a:solidFill>
                <a:latin typeface="DM Sans"/>
                <a:ea typeface="DM Sans"/>
                <a:cs typeface="DM Sans"/>
                <a:sym typeface="DM Sans"/>
              </a:rPr>
              <a:t>componentes. </a:t>
            </a:r>
            <a:r>
              <a:rPr lang="es" sz="1200">
                <a:solidFill>
                  <a:schemeClr val="dk1"/>
                </a:solidFill>
                <a:latin typeface="DM Sans"/>
                <a:ea typeface="DM Sans"/>
                <a:cs typeface="DM Sans"/>
                <a:sym typeface="DM Sans"/>
              </a:rPr>
              <a:t>Un componente es un elemento que cumple un rol específico en la interfaz. Por ejemplo, un botón, un formulario o una imagen.</a:t>
            </a:r>
            <a:endParaRPr sz="1200">
              <a:solidFill>
                <a:schemeClr val="dk1"/>
              </a:solidFill>
              <a:latin typeface="DM Sans"/>
              <a:ea typeface="DM Sans"/>
              <a:cs typeface="DM Sans"/>
              <a:sym typeface="DM Sans"/>
            </a:endParaRPr>
          </a:p>
        </p:txBody>
      </p:sp>
      <p:sp>
        <p:nvSpPr>
          <p:cNvPr id="286" name="Google Shape;286;p38"/>
          <p:cNvSpPr txBox="1"/>
          <p:nvPr/>
        </p:nvSpPr>
        <p:spPr>
          <a:xfrm>
            <a:off x="475500" y="971050"/>
            <a:ext cx="4849500" cy="1071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200">
                <a:solidFill>
                  <a:schemeClr val="dk1"/>
                </a:solidFill>
                <a:latin typeface="DM Sans"/>
                <a:ea typeface="DM Sans"/>
                <a:cs typeface="DM Sans"/>
                <a:sym typeface="DM Sans"/>
              </a:rPr>
              <a:t>React: una librería para crear interfaces.</a:t>
            </a:r>
            <a:endParaRPr b="1" sz="4000">
              <a:solidFill>
                <a:schemeClr val="dk1"/>
              </a:solidFill>
              <a:latin typeface="DM Sans"/>
              <a:ea typeface="DM Sans"/>
              <a:cs typeface="DM Sans"/>
              <a:sym typeface="DM Sans"/>
            </a:endParaRPr>
          </a:p>
        </p:txBody>
      </p:sp>
      <p:pic>
        <p:nvPicPr>
          <p:cNvPr id="287" name="Google Shape;287;p38"/>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288" name="Google Shape;288;p38"/>
          <p:cNvSpPr txBox="1"/>
          <p:nvPr/>
        </p:nvSpPr>
        <p:spPr>
          <a:xfrm>
            <a:off x="930550" y="468275"/>
            <a:ext cx="382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DM Sans"/>
              <a:ea typeface="DM Sans"/>
              <a:cs typeface="DM Sans"/>
              <a:sym typeface="DM Sans"/>
            </a:endParaRPr>
          </a:p>
        </p:txBody>
      </p:sp>
      <p:pic>
        <p:nvPicPr>
          <p:cNvPr id="289" name="Google Shape;289;p38"/>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290" name="Google Shape;290;p38"/>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9"/>
          <p:cNvSpPr txBox="1"/>
          <p:nvPr/>
        </p:nvSpPr>
        <p:spPr>
          <a:xfrm>
            <a:off x="475500" y="971050"/>
            <a:ext cx="4849500" cy="627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200">
                <a:solidFill>
                  <a:schemeClr val="dk1"/>
                </a:solidFill>
                <a:latin typeface="DM Sans"/>
                <a:ea typeface="DM Sans"/>
                <a:cs typeface="DM Sans"/>
                <a:sym typeface="DM Sans"/>
              </a:rPr>
              <a:t>Código Declarativo</a:t>
            </a:r>
            <a:endParaRPr b="1" sz="3200">
              <a:solidFill>
                <a:schemeClr val="dk1"/>
              </a:solidFill>
              <a:latin typeface="DM Sans"/>
              <a:ea typeface="DM Sans"/>
              <a:cs typeface="DM Sans"/>
              <a:sym typeface="DM Sans"/>
            </a:endParaRPr>
          </a:p>
        </p:txBody>
      </p:sp>
      <p:pic>
        <p:nvPicPr>
          <p:cNvPr id="296" name="Google Shape;296;p39"/>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297" name="Google Shape;297;p39"/>
          <p:cNvSpPr txBox="1"/>
          <p:nvPr/>
        </p:nvSpPr>
        <p:spPr>
          <a:xfrm>
            <a:off x="475500" y="1793175"/>
            <a:ext cx="5088600" cy="249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 sz="1200">
                <a:solidFill>
                  <a:schemeClr val="dk1"/>
                </a:solidFill>
                <a:latin typeface="DM Sans"/>
                <a:ea typeface="DM Sans"/>
                <a:cs typeface="DM Sans"/>
                <a:sym typeface="DM Sans"/>
              </a:rPr>
              <a:t>React utiliza un enfoque </a:t>
            </a:r>
            <a:r>
              <a:rPr b="1" lang="es" sz="1200">
                <a:solidFill>
                  <a:schemeClr val="dk1"/>
                </a:solidFill>
                <a:latin typeface="DM Sans"/>
                <a:ea typeface="DM Sans"/>
                <a:cs typeface="DM Sans"/>
                <a:sym typeface="DM Sans"/>
              </a:rPr>
              <a:t>declarativo </a:t>
            </a:r>
            <a:r>
              <a:rPr lang="es" sz="1200">
                <a:solidFill>
                  <a:schemeClr val="dk1"/>
                </a:solidFill>
                <a:latin typeface="DM Sans"/>
                <a:ea typeface="DM Sans"/>
                <a:cs typeface="DM Sans"/>
                <a:sym typeface="DM Sans"/>
              </a:rPr>
              <a:t>en su programación, lo que significa que nos enfocamos en declarar nuestras intenciones y lógica en lugar de especificar los pasos detallados.</a:t>
            </a:r>
            <a:endParaRPr sz="120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00">
                <a:solidFill>
                  <a:schemeClr val="dk1"/>
                </a:solidFill>
                <a:latin typeface="DM Sans"/>
                <a:ea typeface="DM Sans"/>
                <a:cs typeface="DM Sans"/>
                <a:sym typeface="DM Sans"/>
              </a:rPr>
              <a:t>Repasamos conceptos básicos de JavaScript:</a:t>
            </a:r>
            <a:endParaRPr sz="1200">
              <a:solidFill>
                <a:schemeClr val="dk1"/>
              </a:solidFill>
              <a:latin typeface="DM Sans"/>
              <a:ea typeface="DM Sans"/>
              <a:cs typeface="DM Sans"/>
              <a:sym typeface="DM Sans"/>
            </a:endParaRPr>
          </a:p>
          <a:p>
            <a:pPr indent="-304800" lvl="0" marL="457200" rtl="0" algn="l">
              <a:lnSpc>
                <a:spcPct val="115000"/>
              </a:lnSpc>
              <a:spcBef>
                <a:spcPts val="0"/>
              </a:spcBef>
              <a:spcAft>
                <a:spcPts val="0"/>
              </a:spcAft>
              <a:buClr>
                <a:schemeClr val="dk1"/>
              </a:buClr>
              <a:buSzPts val="1200"/>
              <a:buFont typeface="DM Sans"/>
              <a:buChar char="●"/>
            </a:pPr>
            <a:r>
              <a:rPr b="1" lang="es" sz="1200">
                <a:solidFill>
                  <a:schemeClr val="dk1"/>
                </a:solidFill>
                <a:latin typeface="DM Sans"/>
                <a:ea typeface="DM Sans"/>
                <a:cs typeface="DM Sans"/>
                <a:sym typeface="DM Sans"/>
              </a:rPr>
              <a:t>Una expresión </a:t>
            </a:r>
            <a:r>
              <a:rPr lang="es" sz="1200">
                <a:solidFill>
                  <a:schemeClr val="dk1"/>
                </a:solidFill>
                <a:latin typeface="DM Sans"/>
                <a:ea typeface="DM Sans"/>
                <a:cs typeface="DM Sans"/>
                <a:sym typeface="DM Sans"/>
              </a:rPr>
              <a:t>es una combinación de valores, variables, operadores y llamadas a funciones que se evalúa y produce un resultado. </a:t>
            </a:r>
            <a:endParaRPr sz="1200">
              <a:solidFill>
                <a:schemeClr val="dk1"/>
              </a:solidFill>
              <a:latin typeface="DM Sans"/>
              <a:ea typeface="DM Sans"/>
              <a:cs typeface="DM Sans"/>
              <a:sym typeface="DM Sans"/>
            </a:endParaRPr>
          </a:p>
          <a:p>
            <a:pPr indent="-304800" lvl="0" marL="457200" rtl="0" algn="l">
              <a:lnSpc>
                <a:spcPct val="115000"/>
              </a:lnSpc>
              <a:spcBef>
                <a:spcPts val="0"/>
              </a:spcBef>
              <a:spcAft>
                <a:spcPts val="0"/>
              </a:spcAft>
              <a:buClr>
                <a:schemeClr val="dk1"/>
              </a:buClr>
              <a:buSzPts val="1200"/>
              <a:buFont typeface="DM Sans"/>
              <a:buChar char="●"/>
            </a:pPr>
            <a:r>
              <a:rPr b="1" lang="es" sz="1200">
                <a:solidFill>
                  <a:schemeClr val="dk1"/>
                </a:solidFill>
                <a:latin typeface="DM Sans"/>
                <a:ea typeface="DM Sans"/>
                <a:cs typeface="DM Sans"/>
                <a:sym typeface="DM Sans"/>
              </a:rPr>
              <a:t>Una función es un bloque de código reutilizable </a:t>
            </a:r>
            <a:r>
              <a:rPr lang="es" sz="1200">
                <a:solidFill>
                  <a:schemeClr val="dk1"/>
                </a:solidFill>
                <a:latin typeface="DM Sans"/>
                <a:ea typeface="DM Sans"/>
                <a:cs typeface="DM Sans"/>
                <a:sym typeface="DM Sans"/>
              </a:rPr>
              <a:t>qué podemos tratar de dos maneras: como </a:t>
            </a:r>
            <a:r>
              <a:rPr b="1" lang="es" sz="1200">
                <a:solidFill>
                  <a:schemeClr val="dk1"/>
                </a:solidFill>
                <a:latin typeface="DM Sans"/>
                <a:ea typeface="DM Sans"/>
                <a:cs typeface="DM Sans"/>
                <a:sym typeface="DM Sans"/>
              </a:rPr>
              <a:t>referencia</a:t>
            </a:r>
            <a:r>
              <a:rPr lang="es" sz="1200">
                <a:solidFill>
                  <a:schemeClr val="dk1"/>
                </a:solidFill>
                <a:latin typeface="DM Sans"/>
                <a:ea typeface="DM Sans"/>
                <a:cs typeface="DM Sans"/>
                <a:sym typeface="DM Sans"/>
              </a:rPr>
              <a:t> o como el valor </a:t>
            </a:r>
            <a:r>
              <a:rPr b="1" lang="es" sz="1200">
                <a:solidFill>
                  <a:schemeClr val="dk1"/>
                </a:solidFill>
                <a:latin typeface="DM Sans"/>
                <a:ea typeface="DM Sans"/>
                <a:cs typeface="DM Sans"/>
                <a:sym typeface="DM Sans"/>
              </a:rPr>
              <a:t>resultado </a:t>
            </a:r>
            <a:r>
              <a:rPr lang="es" sz="1200">
                <a:solidFill>
                  <a:schemeClr val="dk1"/>
                </a:solidFill>
                <a:latin typeface="DM Sans"/>
                <a:ea typeface="DM Sans"/>
                <a:cs typeface="DM Sans"/>
                <a:sym typeface="DM Sans"/>
              </a:rPr>
              <a:t>o return.</a:t>
            </a:r>
            <a:endParaRPr sz="1200">
              <a:solidFill>
                <a:schemeClr val="dk1"/>
              </a:solidFill>
              <a:latin typeface="DM Sans"/>
              <a:ea typeface="DM Sans"/>
              <a:cs typeface="DM Sans"/>
              <a:sym typeface="DM Sans"/>
            </a:endParaRPr>
          </a:p>
        </p:txBody>
      </p:sp>
      <p:pic>
        <p:nvPicPr>
          <p:cNvPr id="298" name="Google Shape;298;p39"/>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299" name="Google Shape;299;p39"/>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0"/>
          <p:cNvSpPr txBox="1"/>
          <p:nvPr/>
        </p:nvSpPr>
        <p:spPr>
          <a:xfrm>
            <a:off x="530225" y="468275"/>
            <a:ext cx="4849500" cy="1071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200">
                <a:solidFill>
                  <a:schemeClr val="dk1"/>
                </a:solidFill>
                <a:latin typeface="DM Sans"/>
                <a:ea typeface="DM Sans"/>
                <a:cs typeface="DM Sans"/>
                <a:sym typeface="DM Sans"/>
              </a:rPr>
              <a:t>React detrás de escena</a:t>
            </a:r>
            <a:endParaRPr b="1" sz="3200">
              <a:solidFill>
                <a:schemeClr val="dk1"/>
              </a:solidFill>
              <a:latin typeface="DM Sans"/>
              <a:ea typeface="DM Sans"/>
              <a:cs typeface="DM Sans"/>
              <a:sym typeface="DM Sans"/>
            </a:endParaRPr>
          </a:p>
        </p:txBody>
      </p:sp>
      <p:pic>
        <p:nvPicPr>
          <p:cNvPr id="305" name="Google Shape;305;p40"/>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306" name="Google Shape;306;p40"/>
          <p:cNvSpPr txBox="1"/>
          <p:nvPr/>
        </p:nvSpPr>
        <p:spPr>
          <a:xfrm>
            <a:off x="475500" y="1670625"/>
            <a:ext cx="5088600" cy="270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200">
                <a:latin typeface="DM Sans"/>
                <a:ea typeface="DM Sans"/>
                <a:cs typeface="DM Sans"/>
                <a:sym typeface="DM Sans"/>
              </a:rPr>
              <a:t>Premisas de React:</a:t>
            </a:r>
            <a:endParaRPr b="1" sz="1200">
              <a:latin typeface="DM Sans"/>
              <a:ea typeface="DM Sans"/>
              <a:cs typeface="DM Sans"/>
              <a:sym typeface="DM Sans"/>
            </a:endParaRPr>
          </a:p>
          <a:p>
            <a:pPr indent="-304800" lvl="0" marL="457200" rtl="0" algn="l">
              <a:lnSpc>
                <a:spcPct val="115000"/>
              </a:lnSpc>
              <a:spcBef>
                <a:spcPts val="0"/>
              </a:spcBef>
              <a:spcAft>
                <a:spcPts val="0"/>
              </a:spcAft>
              <a:buSzPts val="1200"/>
              <a:buFont typeface="DM Sans"/>
              <a:buChar char="●"/>
            </a:pPr>
            <a:r>
              <a:rPr lang="es" sz="1200">
                <a:latin typeface="DM Sans"/>
                <a:ea typeface="DM Sans"/>
                <a:cs typeface="DM Sans"/>
                <a:sym typeface="DM Sans"/>
              </a:rPr>
              <a:t>El acceso al DOM es costoso</a:t>
            </a:r>
            <a:endParaRPr sz="1200">
              <a:latin typeface="DM Sans"/>
              <a:ea typeface="DM Sans"/>
              <a:cs typeface="DM Sans"/>
              <a:sym typeface="DM Sans"/>
            </a:endParaRPr>
          </a:p>
          <a:p>
            <a:pPr indent="-304800" lvl="0" marL="457200" rtl="0" algn="l">
              <a:lnSpc>
                <a:spcPct val="115000"/>
              </a:lnSpc>
              <a:spcBef>
                <a:spcPts val="0"/>
              </a:spcBef>
              <a:spcAft>
                <a:spcPts val="0"/>
              </a:spcAft>
              <a:buSzPts val="1200"/>
              <a:buFont typeface="DM Sans"/>
              <a:buChar char="●"/>
            </a:pPr>
            <a:r>
              <a:rPr lang="es" sz="1200">
                <a:latin typeface="DM Sans"/>
                <a:ea typeface="DM Sans"/>
                <a:cs typeface="DM Sans"/>
                <a:sym typeface="DM Sans"/>
              </a:rPr>
              <a:t>Flujo de datos unidireccional</a:t>
            </a:r>
            <a:endParaRPr sz="1200">
              <a:latin typeface="DM Sans"/>
              <a:ea typeface="DM Sans"/>
              <a:cs typeface="DM Sans"/>
              <a:sym typeface="DM Sans"/>
            </a:endParaRPr>
          </a:p>
          <a:p>
            <a:pPr indent="0" lvl="0" marL="457200" rtl="0" algn="l">
              <a:lnSpc>
                <a:spcPct val="115000"/>
              </a:lnSpc>
              <a:spcBef>
                <a:spcPts val="0"/>
              </a:spcBef>
              <a:spcAft>
                <a:spcPts val="0"/>
              </a:spcAft>
              <a:buNone/>
            </a:pPr>
            <a:r>
              <a:t/>
            </a:r>
            <a:endParaRPr sz="1200">
              <a:latin typeface="DM Sans"/>
              <a:ea typeface="DM Sans"/>
              <a:cs typeface="DM Sans"/>
              <a:sym typeface="DM Sans"/>
            </a:endParaRPr>
          </a:p>
          <a:p>
            <a:pPr indent="0" lvl="0" marL="0" rtl="0" algn="l">
              <a:lnSpc>
                <a:spcPct val="115000"/>
              </a:lnSpc>
              <a:spcBef>
                <a:spcPts val="0"/>
              </a:spcBef>
              <a:spcAft>
                <a:spcPts val="0"/>
              </a:spcAft>
              <a:buNone/>
            </a:pPr>
            <a:r>
              <a:rPr lang="es" sz="1200">
                <a:latin typeface="DM Sans"/>
                <a:ea typeface="DM Sans"/>
                <a:cs typeface="DM Sans"/>
                <a:sym typeface="DM Sans"/>
              </a:rPr>
              <a:t>React logra un enorme rendimiento gracias a dos conceptos fundamentales:</a:t>
            </a:r>
            <a:endParaRPr b="1" sz="1200">
              <a:latin typeface="DM Sans"/>
              <a:ea typeface="DM Sans"/>
              <a:cs typeface="DM Sans"/>
              <a:sym typeface="DM Sans"/>
            </a:endParaRPr>
          </a:p>
          <a:p>
            <a:pPr indent="-304800" lvl="0" marL="457200" rtl="0" algn="l">
              <a:lnSpc>
                <a:spcPct val="115000"/>
              </a:lnSpc>
              <a:spcBef>
                <a:spcPts val="0"/>
              </a:spcBef>
              <a:spcAft>
                <a:spcPts val="0"/>
              </a:spcAft>
              <a:buSzPts val="1200"/>
              <a:buFont typeface="DM Sans"/>
              <a:buChar char="●"/>
            </a:pPr>
            <a:r>
              <a:rPr b="1" lang="es" sz="1200">
                <a:latin typeface="DM Sans"/>
                <a:ea typeface="DM Sans"/>
                <a:cs typeface="DM Sans"/>
                <a:sym typeface="DM Sans"/>
              </a:rPr>
              <a:t>El Virtual DOM</a:t>
            </a:r>
            <a:r>
              <a:rPr lang="es" sz="1200">
                <a:latin typeface="DM Sans"/>
                <a:ea typeface="DM Sans"/>
                <a:cs typeface="DM Sans"/>
                <a:sym typeface="DM Sans"/>
              </a:rPr>
              <a:t> permite procesar los cambios en una representación virtual en memoria en lugar de modificar directamente el DOM real. </a:t>
            </a:r>
            <a:endParaRPr sz="1200">
              <a:latin typeface="DM Sans"/>
              <a:ea typeface="DM Sans"/>
              <a:cs typeface="DM Sans"/>
              <a:sym typeface="DM Sans"/>
            </a:endParaRPr>
          </a:p>
          <a:p>
            <a:pPr indent="-304800" lvl="0" marL="457200" rtl="0" algn="l">
              <a:lnSpc>
                <a:spcPct val="115000"/>
              </a:lnSpc>
              <a:spcBef>
                <a:spcPts val="0"/>
              </a:spcBef>
              <a:spcAft>
                <a:spcPts val="0"/>
              </a:spcAft>
              <a:buSzPts val="1200"/>
              <a:buFont typeface="DM Sans"/>
              <a:buChar char="●"/>
            </a:pPr>
            <a:r>
              <a:rPr b="1" lang="es" sz="1200">
                <a:latin typeface="DM Sans"/>
                <a:ea typeface="DM Sans"/>
                <a:cs typeface="DM Sans"/>
                <a:sym typeface="DM Sans"/>
              </a:rPr>
              <a:t>La reconciliación</a:t>
            </a:r>
            <a:r>
              <a:rPr lang="es" sz="1200">
                <a:latin typeface="DM Sans"/>
                <a:ea typeface="DM Sans"/>
                <a:cs typeface="DM Sans"/>
                <a:sym typeface="DM Sans"/>
              </a:rPr>
              <a:t> es el proceso en el que React compara el Virtual DOM actual con su versión previa y aplica solo los cambios necesarios en el DOM real. </a:t>
            </a:r>
            <a:endParaRPr b="1" sz="1200">
              <a:latin typeface="DM Sans"/>
              <a:ea typeface="DM Sans"/>
              <a:cs typeface="DM Sans"/>
              <a:sym typeface="DM Sans"/>
            </a:endParaRPr>
          </a:p>
        </p:txBody>
      </p:sp>
      <p:pic>
        <p:nvPicPr>
          <p:cNvPr id="307" name="Google Shape;307;p40"/>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308" name="Google Shape;308;p40"/>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1"/>
          <p:cNvSpPr txBox="1"/>
          <p:nvPr/>
        </p:nvSpPr>
        <p:spPr>
          <a:xfrm>
            <a:off x="475500" y="971050"/>
            <a:ext cx="48495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Node</a:t>
            </a:r>
            <a:r>
              <a:rPr b="1" lang="es" sz="4000">
                <a:solidFill>
                  <a:schemeClr val="dk1"/>
                </a:solidFill>
                <a:latin typeface="DM Sans"/>
                <a:ea typeface="DM Sans"/>
                <a:cs typeface="DM Sans"/>
                <a:sym typeface="DM Sans"/>
              </a:rPr>
              <a:t> y NPM</a:t>
            </a:r>
            <a:endParaRPr b="1" sz="4000">
              <a:solidFill>
                <a:schemeClr val="dk1"/>
              </a:solidFill>
              <a:latin typeface="DM Sans"/>
              <a:ea typeface="DM Sans"/>
              <a:cs typeface="DM Sans"/>
              <a:sym typeface="DM Sans"/>
            </a:endParaRPr>
          </a:p>
        </p:txBody>
      </p:sp>
      <p:pic>
        <p:nvPicPr>
          <p:cNvPr id="314" name="Google Shape;314;p41"/>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315" name="Google Shape;315;p41"/>
          <p:cNvSpPr txBox="1"/>
          <p:nvPr/>
        </p:nvSpPr>
        <p:spPr>
          <a:xfrm>
            <a:off x="475500" y="1928825"/>
            <a:ext cx="4566600" cy="206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200">
                <a:latin typeface="DM Sans"/>
                <a:ea typeface="DM Sans"/>
                <a:cs typeface="DM Sans"/>
                <a:sym typeface="DM Sans"/>
              </a:rPr>
              <a:t>Node.js</a:t>
            </a:r>
            <a:r>
              <a:rPr lang="es" sz="1200">
                <a:latin typeface="DM Sans"/>
                <a:ea typeface="DM Sans"/>
                <a:cs typeface="DM Sans"/>
                <a:sym typeface="DM Sans"/>
              </a:rPr>
              <a:t> es un entorno de ejecución de JavaScript que permite correr código en el servidor o en la computadora local. Proporciona acceso a recursos del sistema operativo, operaciones de entrada/salida y comunicación en red. </a:t>
            </a:r>
            <a:endParaRPr sz="1200">
              <a:latin typeface="DM Sans"/>
              <a:ea typeface="DM Sans"/>
              <a:cs typeface="DM Sans"/>
              <a:sym typeface="DM Sans"/>
            </a:endParaRPr>
          </a:p>
          <a:p>
            <a:pPr indent="0" lvl="0" marL="0" rtl="0" algn="l">
              <a:lnSpc>
                <a:spcPct val="115000"/>
              </a:lnSpc>
              <a:spcBef>
                <a:spcPts val="0"/>
              </a:spcBef>
              <a:spcAft>
                <a:spcPts val="0"/>
              </a:spcAft>
              <a:buNone/>
            </a:pPr>
            <a:r>
              <a:t/>
            </a:r>
            <a:endParaRPr sz="1200">
              <a:latin typeface="DM Sans"/>
              <a:ea typeface="DM Sans"/>
              <a:cs typeface="DM Sans"/>
              <a:sym typeface="DM Sans"/>
            </a:endParaRPr>
          </a:p>
          <a:p>
            <a:pPr indent="0" lvl="0" marL="0" rtl="0" algn="l">
              <a:lnSpc>
                <a:spcPct val="115000"/>
              </a:lnSpc>
              <a:spcBef>
                <a:spcPts val="0"/>
              </a:spcBef>
              <a:spcAft>
                <a:spcPts val="0"/>
              </a:spcAft>
              <a:buNone/>
            </a:pPr>
            <a:r>
              <a:rPr lang="es" sz="1200">
                <a:latin typeface="DM Sans"/>
                <a:ea typeface="DM Sans"/>
                <a:cs typeface="DM Sans"/>
                <a:sym typeface="DM Sans"/>
              </a:rPr>
              <a:t>Se pueden instalar módulos adicionales utilizando </a:t>
            </a:r>
            <a:r>
              <a:rPr b="1" lang="es" sz="1200">
                <a:latin typeface="DM Sans"/>
                <a:ea typeface="DM Sans"/>
                <a:cs typeface="DM Sans"/>
                <a:sym typeface="DM Sans"/>
              </a:rPr>
              <a:t>NPM,</a:t>
            </a:r>
            <a:r>
              <a:rPr lang="es" sz="1200">
                <a:latin typeface="DM Sans"/>
                <a:ea typeface="DM Sans"/>
                <a:cs typeface="DM Sans"/>
                <a:sym typeface="DM Sans"/>
              </a:rPr>
              <a:t> una herramienta para gestionar paquetes en Node.js NPM funciona como repositorio y herramienta de línea de comandos </a:t>
            </a:r>
            <a:r>
              <a:rPr b="1" lang="es" sz="1200">
                <a:latin typeface="DM Sans"/>
                <a:ea typeface="DM Sans"/>
                <a:cs typeface="DM Sans"/>
                <a:sym typeface="DM Sans"/>
              </a:rPr>
              <a:t>(CLI) </a:t>
            </a:r>
            <a:r>
              <a:rPr lang="es" sz="1200">
                <a:latin typeface="DM Sans"/>
                <a:ea typeface="DM Sans"/>
                <a:cs typeface="DM Sans"/>
                <a:sym typeface="DM Sans"/>
              </a:rPr>
              <a:t>para la gestión de paquetes.</a:t>
            </a:r>
            <a:endParaRPr b="1" sz="1200">
              <a:latin typeface="DM Sans"/>
              <a:ea typeface="DM Sans"/>
              <a:cs typeface="DM Sans"/>
              <a:sym typeface="DM Sans"/>
            </a:endParaRPr>
          </a:p>
        </p:txBody>
      </p:sp>
      <p:pic>
        <p:nvPicPr>
          <p:cNvPr id="316" name="Google Shape;316;p41"/>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317" name="Google Shape;317;p41"/>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grpSp>
        <p:nvGrpSpPr>
          <p:cNvPr id="322" name="Google Shape;322;p42"/>
          <p:cNvGrpSpPr/>
          <p:nvPr/>
        </p:nvGrpSpPr>
        <p:grpSpPr>
          <a:xfrm>
            <a:off x="4202551" y="1088764"/>
            <a:ext cx="738900" cy="738974"/>
            <a:chOff x="974706" y="2467173"/>
            <a:chExt cx="738900" cy="738900"/>
          </a:xfrm>
        </p:grpSpPr>
        <p:sp>
          <p:nvSpPr>
            <p:cNvPr id="323" name="Google Shape;323;p42"/>
            <p:cNvSpPr/>
            <p:nvPr/>
          </p:nvSpPr>
          <p:spPr>
            <a:xfrm>
              <a:off x="974706"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4" name="Google Shape;324;p42"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325" name="Google Shape;325;p42"/>
          <p:cNvSpPr txBox="1"/>
          <p:nvPr/>
        </p:nvSpPr>
        <p:spPr>
          <a:xfrm>
            <a:off x="1547025" y="1925250"/>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Ejercicio</a:t>
            </a:r>
            <a:endParaRPr b="1" sz="4000">
              <a:solidFill>
                <a:schemeClr val="dk1"/>
              </a:solidFill>
              <a:highlight>
                <a:srgbClr val="EAFF6A"/>
              </a:highlight>
              <a:latin typeface="DM Sans"/>
              <a:ea typeface="DM Sans"/>
              <a:cs typeface="DM Sans"/>
              <a:sym typeface="DM Sans"/>
            </a:endParaRPr>
          </a:p>
        </p:txBody>
      </p:sp>
      <p:sp>
        <p:nvSpPr>
          <p:cNvPr id="326" name="Google Shape;326;p42"/>
          <p:cNvSpPr txBox="1"/>
          <p:nvPr/>
        </p:nvSpPr>
        <p:spPr>
          <a:xfrm>
            <a:off x="987300" y="3287388"/>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rgbClr val="999999"/>
                </a:solidFill>
                <a:latin typeface="DM Sans"/>
                <a:ea typeface="DM Sans"/>
                <a:cs typeface="DM Sans"/>
                <a:sym typeface="DM Sans"/>
              </a:rPr>
              <a:t>¡Vamos a recuperar lo trabajado durante la semana! </a:t>
            </a:r>
            <a:endParaRPr sz="2000">
              <a:solidFill>
                <a:srgbClr val="999999"/>
              </a:solidFill>
              <a:latin typeface="DM Sans"/>
              <a:ea typeface="DM Sans"/>
              <a:cs typeface="DM Sans"/>
              <a:sym typeface="DM Sans"/>
            </a:endParaRPr>
          </a:p>
        </p:txBody>
      </p:sp>
      <p:sp>
        <p:nvSpPr>
          <p:cNvPr id="327" name="Google Shape;327;p42"/>
          <p:cNvSpPr txBox="1"/>
          <p:nvPr/>
        </p:nvSpPr>
        <p:spPr>
          <a:xfrm>
            <a:off x="987300" y="3849138"/>
            <a:ext cx="716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800">
                <a:solidFill>
                  <a:srgbClr val="83AEFB"/>
                </a:solidFill>
                <a:latin typeface="DM Sans"/>
                <a:ea typeface="DM Sans"/>
                <a:cs typeface="DM Sans"/>
                <a:sym typeface="DM Sans"/>
              </a:rPr>
              <a:t>Duración: </a:t>
            </a:r>
            <a:r>
              <a:rPr b="1" lang="es" sz="1800">
                <a:solidFill>
                  <a:srgbClr val="83AEFB"/>
                </a:solidFill>
                <a:latin typeface="DM Sans"/>
                <a:ea typeface="DM Sans"/>
                <a:cs typeface="DM Sans"/>
                <a:sym typeface="DM Sans"/>
              </a:rPr>
              <a:t>15 </a:t>
            </a:r>
            <a:r>
              <a:rPr b="1" lang="es" sz="1800">
                <a:solidFill>
                  <a:srgbClr val="83AEFB"/>
                </a:solidFill>
                <a:latin typeface="DM Sans"/>
                <a:ea typeface="DM Sans"/>
                <a:cs typeface="DM Sans"/>
                <a:sym typeface="DM Sans"/>
              </a:rPr>
              <a:t>minutos</a:t>
            </a:r>
            <a:r>
              <a:rPr lang="es" sz="1800">
                <a:solidFill>
                  <a:srgbClr val="83AEFB"/>
                </a:solidFill>
                <a:latin typeface="DM Sans"/>
                <a:ea typeface="DM Sans"/>
                <a:cs typeface="DM Sans"/>
                <a:sym typeface="DM Sans"/>
              </a:rPr>
              <a:t>.</a:t>
            </a:r>
            <a:endParaRPr sz="1800">
              <a:solidFill>
                <a:srgbClr val="83AEFB"/>
              </a:solidFill>
              <a:latin typeface="DM Sans"/>
              <a:ea typeface="DM Sans"/>
              <a:cs typeface="DM Sans"/>
              <a:sym typeface="DM Sans"/>
            </a:endParaRPr>
          </a:p>
        </p:txBody>
      </p:sp>
      <p:grpSp>
        <p:nvGrpSpPr>
          <p:cNvPr id="328" name="Google Shape;328;p42"/>
          <p:cNvGrpSpPr/>
          <p:nvPr/>
        </p:nvGrpSpPr>
        <p:grpSpPr>
          <a:xfrm>
            <a:off x="0" y="-7400"/>
            <a:ext cx="9143925" cy="44400"/>
            <a:chOff x="0" y="-7400"/>
            <a:chExt cx="9143925" cy="44400"/>
          </a:xfrm>
        </p:grpSpPr>
        <p:sp>
          <p:nvSpPr>
            <p:cNvPr id="329" name="Google Shape;329;p42"/>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330" name="Google Shape;330;p42"/>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4" name="Shape 334"/>
        <p:cNvGrpSpPr/>
        <p:nvPr/>
      </p:nvGrpSpPr>
      <p:grpSpPr>
        <a:xfrm>
          <a:off x="0" y="0"/>
          <a:ext cx="0" cy="0"/>
          <a:chOff x="0" y="0"/>
          <a:chExt cx="0" cy="0"/>
        </a:xfrm>
      </p:grpSpPr>
      <p:sp>
        <p:nvSpPr>
          <p:cNvPr id="335" name="Google Shape;335;p43"/>
          <p:cNvSpPr/>
          <p:nvPr/>
        </p:nvSpPr>
        <p:spPr>
          <a:xfrm>
            <a:off x="485050" y="3730700"/>
            <a:ext cx="8183700" cy="76200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3"/>
          <p:cNvSpPr/>
          <p:nvPr/>
        </p:nvSpPr>
        <p:spPr>
          <a:xfrm>
            <a:off x="485050" y="1696300"/>
            <a:ext cx="2646900" cy="192510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7" name="Google Shape;337;p43"/>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338" name="Google Shape;338;p43"/>
          <p:cNvSpPr txBox="1"/>
          <p:nvPr/>
        </p:nvSpPr>
        <p:spPr>
          <a:xfrm>
            <a:off x="469200" y="1077850"/>
            <a:ext cx="73533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500">
                <a:solidFill>
                  <a:schemeClr val="dk1"/>
                </a:solidFill>
                <a:latin typeface="DM Sans"/>
                <a:ea typeface="DM Sans"/>
                <a:cs typeface="DM Sans"/>
                <a:sym typeface="DM Sans"/>
              </a:rPr>
              <a:t>Componente Botón</a:t>
            </a:r>
            <a:endParaRPr b="1" sz="2500">
              <a:solidFill>
                <a:schemeClr val="dk1"/>
              </a:solidFill>
              <a:latin typeface="DM Sans"/>
              <a:ea typeface="DM Sans"/>
              <a:cs typeface="DM Sans"/>
              <a:sym typeface="DM Sans"/>
            </a:endParaRPr>
          </a:p>
        </p:txBody>
      </p:sp>
      <p:sp>
        <p:nvSpPr>
          <p:cNvPr id="339" name="Google Shape;339;p43"/>
          <p:cNvSpPr txBox="1"/>
          <p:nvPr/>
        </p:nvSpPr>
        <p:spPr>
          <a:xfrm>
            <a:off x="675350" y="1839250"/>
            <a:ext cx="2367600" cy="1563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s" sz="1350">
                <a:latin typeface="DM Sans"/>
                <a:ea typeface="DM Sans"/>
                <a:cs typeface="DM Sans"/>
                <a:sym typeface="DM Sans"/>
              </a:rPr>
              <a:t>Consigna</a:t>
            </a:r>
            <a:endParaRPr b="1" sz="1350">
              <a:latin typeface="DM Sans"/>
              <a:ea typeface="DM Sans"/>
              <a:cs typeface="DM Sans"/>
              <a:sym typeface="DM Sans"/>
            </a:endParaRPr>
          </a:p>
          <a:p>
            <a:pPr indent="0" lvl="0" marL="0" rtl="0" algn="l">
              <a:lnSpc>
                <a:spcPct val="30000"/>
              </a:lnSpc>
              <a:spcBef>
                <a:spcPts val="0"/>
              </a:spcBef>
              <a:spcAft>
                <a:spcPts val="0"/>
              </a:spcAft>
              <a:buNone/>
            </a:pPr>
            <a:r>
              <a:t/>
            </a:r>
            <a:endParaRPr b="1" sz="1350">
              <a:latin typeface="DM Sans"/>
              <a:ea typeface="DM Sans"/>
              <a:cs typeface="DM Sans"/>
              <a:sym typeface="DM Sans"/>
            </a:endParaRPr>
          </a:p>
          <a:p>
            <a:pPr indent="0" lvl="0" marL="0" rtl="0" algn="l">
              <a:spcBef>
                <a:spcPts val="0"/>
              </a:spcBef>
              <a:spcAft>
                <a:spcPts val="0"/>
              </a:spcAft>
              <a:buNone/>
            </a:pPr>
            <a:r>
              <a:rPr lang="es" sz="1200">
                <a:solidFill>
                  <a:schemeClr val="dk1"/>
                </a:solidFill>
                <a:latin typeface="DM Sans"/>
                <a:ea typeface="DM Sans"/>
                <a:cs typeface="DM Sans"/>
                <a:sym typeface="DM Sans"/>
              </a:rPr>
              <a:t>Crea una función JavaScript que se encargue de agregar un elemento </a:t>
            </a:r>
            <a:r>
              <a:rPr b="1" lang="es" sz="1200">
                <a:solidFill>
                  <a:schemeClr val="dk1"/>
                </a:solidFill>
                <a:latin typeface="DM Sans"/>
                <a:ea typeface="DM Sans"/>
                <a:cs typeface="DM Sans"/>
                <a:sym typeface="DM Sans"/>
              </a:rPr>
              <a:t>botón</a:t>
            </a:r>
            <a:r>
              <a:rPr lang="es" sz="1200">
                <a:solidFill>
                  <a:schemeClr val="dk1"/>
                </a:solidFill>
                <a:latin typeface="DM Sans"/>
                <a:ea typeface="DM Sans"/>
                <a:cs typeface="DM Sans"/>
                <a:sym typeface="DM Sans"/>
              </a:rPr>
              <a:t> al DOM. El botón debe ser anidado dentro de un div con </a:t>
            </a:r>
            <a:r>
              <a:rPr b="1" lang="es" sz="1200">
                <a:solidFill>
                  <a:schemeClr val="dk1"/>
                </a:solidFill>
                <a:latin typeface="DM Sans"/>
                <a:ea typeface="DM Sans"/>
                <a:cs typeface="DM Sans"/>
                <a:sym typeface="DM Sans"/>
              </a:rPr>
              <a:t>id=”root”.</a:t>
            </a:r>
            <a:endParaRPr b="1" sz="1200">
              <a:solidFill>
                <a:schemeClr val="dk1"/>
              </a:solidFill>
              <a:latin typeface="DM Sans"/>
              <a:ea typeface="DM Sans"/>
              <a:cs typeface="DM Sans"/>
              <a:sym typeface="DM Sans"/>
            </a:endParaRPr>
          </a:p>
        </p:txBody>
      </p:sp>
      <p:sp>
        <p:nvSpPr>
          <p:cNvPr id="340" name="Google Shape;340;p43"/>
          <p:cNvSpPr txBox="1"/>
          <p:nvPr/>
        </p:nvSpPr>
        <p:spPr>
          <a:xfrm>
            <a:off x="544329" y="3867475"/>
            <a:ext cx="7765500" cy="577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s" sz="1350">
                <a:solidFill>
                  <a:schemeClr val="dk1"/>
                </a:solidFill>
                <a:latin typeface="DM Sans"/>
                <a:ea typeface="DM Sans"/>
                <a:cs typeface="DM Sans"/>
                <a:sym typeface="DM Sans"/>
              </a:rPr>
              <a:t>Duración</a:t>
            </a:r>
            <a:r>
              <a:rPr b="1" lang="es" sz="1350">
                <a:solidFill>
                  <a:schemeClr val="dk1"/>
                </a:solidFill>
                <a:latin typeface="DM Sans"/>
                <a:ea typeface="DM Sans"/>
                <a:cs typeface="DM Sans"/>
                <a:sym typeface="DM Sans"/>
              </a:rPr>
              <a:t>: 15 minutos</a:t>
            </a:r>
            <a:endParaRPr b="1" sz="1350">
              <a:solidFill>
                <a:schemeClr val="dk1"/>
              </a:solidFill>
              <a:latin typeface="DM Sans"/>
              <a:ea typeface="DM Sans"/>
              <a:cs typeface="DM Sans"/>
              <a:sym typeface="DM Sans"/>
            </a:endParaRPr>
          </a:p>
          <a:p>
            <a:pPr indent="0" lvl="0" marL="0" rtl="0" algn="l">
              <a:lnSpc>
                <a:spcPct val="100000"/>
              </a:lnSpc>
              <a:spcBef>
                <a:spcPts val="0"/>
              </a:spcBef>
              <a:spcAft>
                <a:spcPts val="0"/>
              </a:spcAft>
              <a:buNone/>
            </a:pPr>
            <a:r>
              <a:t/>
            </a:r>
            <a:endParaRPr sz="1200">
              <a:solidFill>
                <a:schemeClr val="dk1"/>
              </a:solidFill>
              <a:latin typeface="DM Sans"/>
              <a:ea typeface="DM Sans"/>
              <a:cs typeface="DM Sans"/>
              <a:sym typeface="DM Sans"/>
            </a:endParaRPr>
          </a:p>
        </p:txBody>
      </p:sp>
      <p:sp>
        <p:nvSpPr>
          <p:cNvPr id="341" name="Google Shape;341;p43"/>
          <p:cNvSpPr txBox="1"/>
          <p:nvPr/>
        </p:nvSpPr>
        <p:spPr>
          <a:xfrm>
            <a:off x="900300" y="455050"/>
            <a:ext cx="30000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EJERCICIO</a:t>
            </a:r>
            <a:endParaRPr/>
          </a:p>
        </p:txBody>
      </p:sp>
      <p:sp>
        <p:nvSpPr>
          <p:cNvPr id="342" name="Google Shape;342;p43"/>
          <p:cNvSpPr/>
          <p:nvPr/>
        </p:nvSpPr>
        <p:spPr>
          <a:xfrm>
            <a:off x="3227425" y="1694775"/>
            <a:ext cx="5441100" cy="192510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3"/>
          <p:cNvSpPr txBox="1"/>
          <p:nvPr/>
        </p:nvSpPr>
        <p:spPr>
          <a:xfrm>
            <a:off x="3443835" y="1839250"/>
            <a:ext cx="5033400" cy="392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s" sz="1350">
                <a:latin typeface="DM Sans"/>
                <a:ea typeface="DM Sans"/>
                <a:cs typeface="DM Sans"/>
                <a:sym typeface="DM Sans"/>
              </a:rPr>
              <a:t>Tips</a:t>
            </a:r>
            <a:endParaRPr sz="1200" u="sng">
              <a:solidFill>
                <a:srgbClr val="83AEFB"/>
              </a:solidFill>
              <a:latin typeface="DM Sans"/>
              <a:ea typeface="DM Sans"/>
              <a:cs typeface="DM Sans"/>
              <a:sym typeface="DM Sans"/>
            </a:endParaRPr>
          </a:p>
        </p:txBody>
      </p:sp>
      <p:sp>
        <p:nvSpPr>
          <p:cNvPr id="344" name="Google Shape;344;p43"/>
          <p:cNvSpPr txBox="1"/>
          <p:nvPr/>
        </p:nvSpPr>
        <p:spPr>
          <a:xfrm>
            <a:off x="3284700" y="2111075"/>
            <a:ext cx="5244900" cy="14775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2"/>
              </a:buClr>
              <a:buSzPts val="1200"/>
              <a:buFont typeface="DM Sans"/>
              <a:buChar char="✓"/>
            </a:pPr>
            <a:r>
              <a:rPr lang="es" sz="1200">
                <a:solidFill>
                  <a:schemeClr val="dk1"/>
                </a:solidFill>
                <a:latin typeface="DM Sans"/>
                <a:ea typeface="DM Sans"/>
                <a:cs typeface="DM Sans"/>
                <a:sym typeface="DM Sans"/>
              </a:rPr>
              <a:t>Los métodos </a:t>
            </a:r>
            <a:r>
              <a:rPr b="1" lang="es" sz="1200">
                <a:solidFill>
                  <a:schemeClr val="dk1"/>
                </a:solidFill>
                <a:latin typeface="DM Sans"/>
                <a:ea typeface="DM Sans"/>
                <a:cs typeface="DM Sans"/>
                <a:sym typeface="DM Sans"/>
              </a:rPr>
              <a:t>querySelector o getElementById </a:t>
            </a:r>
            <a:r>
              <a:rPr lang="es" sz="1200">
                <a:solidFill>
                  <a:schemeClr val="dk1"/>
                </a:solidFill>
                <a:latin typeface="DM Sans"/>
                <a:ea typeface="DM Sans"/>
                <a:cs typeface="DM Sans"/>
                <a:sym typeface="DM Sans"/>
              </a:rPr>
              <a:t>te ayudarán a obtener nodos del DOM</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2"/>
              </a:buClr>
              <a:buSzPts val="1200"/>
              <a:buFont typeface="DM Sans"/>
              <a:buChar char="✓"/>
            </a:pPr>
            <a:r>
              <a:rPr lang="es" sz="1200">
                <a:solidFill>
                  <a:schemeClr val="dk1"/>
                </a:solidFill>
                <a:latin typeface="DM Sans"/>
                <a:ea typeface="DM Sans"/>
                <a:cs typeface="DM Sans"/>
                <a:sym typeface="DM Sans"/>
              </a:rPr>
              <a:t>Existen muchas formas de resolverlo: por ejemplo, utilizando </a:t>
            </a:r>
            <a:r>
              <a:rPr b="1" lang="es" sz="1200">
                <a:solidFill>
                  <a:schemeClr val="dk1"/>
                </a:solidFill>
                <a:latin typeface="DM Sans"/>
                <a:ea typeface="DM Sans"/>
                <a:cs typeface="DM Sans"/>
                <a:sym typeface="DM Sans"/>
              </a:rPr>
              <a:t>createElement, innerHTML, appendChild.</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2"/>
              </a:buClr>
              <a:buSzPts val="1200"/>
              <a:buFont typeface="DM Sans"/>
              <a:buChar char="✓"/>
            </a:pPr>
            <a:r>
              <a:rPr lang="es" sz="1200">
                <a:solidFill>
                  <a:schemeClr val="dk1"/>
                </a:solidFill>
                <a:latin typeface="DM Sans"/>
                <a:ea typeface="DM Sans"/>
                <a:cs typeface="DM Sans"/>
                <a:sym typeface="DM Sans"/>
              </a:rPr>
              <a:t>Puedes crear botones de forma dinámica si tu función toma </a:t>
            </a:r>
            <a:r>
              <a:rPr b="1" lang="es" sz="1200">
                <a:solidFill>
                  <a:schemeClr val="dk1"/>
                </a:solidFill>
                <a:latin typeface="DM Sans"/>
                <a:ea typeface="DM Sans"/>
                <a:cs typeface="DM Sans"/>
                <a:sym typeface="DM Sans"/>
              </a:rPr>
              <a:t>parámetros</a:t>
            </a:r>
            <a:r>
              <a:rPr lang="es" sz="1200">
                <a:solidFill>
                  <a:schemeClr val="dk1"/>
                </a:solidFill>
                <a:latin typeface="DM Sans"/>
                <a:ea typeface="DM Sans"/>
                <a:cs typeface="DM Sans"/>
                <a:sym typeface="DM Sans"/>
              </a:rPr>
              <a:t> y los utilizas para definir los atributos y contenido del elemento (</a:t>
            </a:r>
            <a:r>
              <a:rPr i="1" lang="es" sz="1200">
                <a:solidFill>
                  <a:schemeClr val="dk1"/>
                </a:solidFill>
                <a:latin typeface="DM Sans"/>
                <a:ea typeface="DM Sans"/>
                <a:cs typeface="DM Sans"/>
                <a:sym typeface="DM Sans"/>
              </a:rPr>
              <a:t>texto, class, id, disabled</a:t>
            </a:r>
            <a:r>
              <a:rPr lang="es" sz="1200">
                <a:solidFill>
                  <a:schemeClr val="dk1"/>
                </a:solidFill>
                <a:latin typeface="DM Sans"/>
                <a:ea typeface="DM Sans"/>
                <a:cs typeface="DM Sans"/>
                <a:sym typeface="DM Sans"/>
              </a:rPr>
              <a:t>)</a:t>
            </a:r>
            <a:endParaRPr sz="1200">
              <a:solidFill>
                <a:schemeClr val="dk1"/>
              </a:solidFill>
              <a:latin typeface="DM Sans"/>
              <a:ea typeface="DM Sans"/>
              <a:cs typeface="DM Sans"/>
              <a:sym typeface="DM Sans"/>
            </a:endParaRPr>
          </a:p>
        </p:txBody>
      </p:sp>
      <p:grpSp>
        <p:nvGrpSpPr>
          <p:cNvPr id="345" name="Google Shape;345;p43"/>
          <p:cNvGrpSpPr/>
          <p:nvPr/>
        </p:nvGrpSpPr>
        <p:grpSpPr>
          <a:xfrm>
            <a:off x="0" y="-7400"/>
            <a:ext cx="9143925" cy="44400"/>
            <a:chOff x="0" y="-7400"/>
            <a:chExt cx="9143925" cy="44400"/>
          </a:xfrm>
        </p:grpSpPr>
        <p:sp>
          <p:nvSpPr>
            <p:cNvPr id="346" name="Google Shape;346;p43"/>
            <p:cNvSpPr/>
            <p:nvPr/>
          </p:nvSpPr>
          <p:spPr>
            <a:xfrm>
              <a:off x="5846625" y="-7400"/>
              <a:ext cx="3297300" cy="444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latin typeface="DM Sans"/>
                <a:ea typeface="DM Sans"/>
                <a:cs typeface="DM Sans"/>
                <a:sym typeface="DM Sans"/>
              </a:endParaRPr>
            </a:p>
          </p:txBody>
        </p:sp>
        <p:sp>
          <p:nvSpPr>
            <p:cNvPr id="347" name="Google Shape;347;p43"/>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grpSp>
        <p:nvGrpSpPr>
          <p:cNvPr id="348" name="Google Shape;348;p43"/>
          <p:cNvGrpSpPr/>
          <p:nvPr/>
        </p:nvGrpSpPr>
        <p:grpSpPr>
          <a:xfrm>
            <a:off x="475509" y="435709"/>
            <a:ext cx="431100" cy="431100"/>
            <a:chOff x="475509" y="435709"/>
            <a:chExt cx="431100" cy="431100"/>
          </a:xfrm>
        </p:grpSpPr>
        <p:sp>
          <p:nvSpPr>
            <p:cNvPr id="349" name="Google Shape;349;p43"/>
            <p:cNvSpPr/>
            <p:nvPr/>
          </p:nvSpPr>
          <p:spPr>
            <a:xfrm>
              <a:off x="475509" y="435709"/>
              <a:ext cx="431100" cy="4311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300">
                <a:latin typeface="DM Sans"/>
                <a:ea typeface="DM Sans"/>
                <a:cs typeface="DM Sans"/>
                <a:sym typeface="DM Sans"/>
              </a:endParaRPr>
            </a:p>
          </p:txBody>
        </p:sp>
        <p:pic>
          <p:nvPicPr>
            <p:cNvPr id="350" name="Google Shape;350;p43" title="ícono de actividad en clase"/>
            <p:cNvPicPr preferRelativeResize="0"/>
            <p:nvPr/>
          </p:nvPicPr>
          <p:blipFill>
            <a:blip r:embed="rId4">
              <a:alphaModFix/>
            </a:blip>
            <a:stretch>
              <a:fillRect/>
            </a:stretch>
          </p:blipFill>
          <p:spPr>
            <a:xfrm>
              <a:off x="539150" y="499350"/>
              <a:ext cx="303800" cy="303800"/>
            </a:xfrm>
            <a:prstGeom prst="rect">
              <a:avLst/>
            </a:prstGeom>
            <a:noFill/>
            <a:ln>
              <a:noFill/>
            </a:ln>
          </p:spPr>
        </p:pic>
      </p:grpSp>
      <p:pic>
        <p:nvPicPr>
          <p:cNvPr id="351" name="Google Shape;351;p43" title="MD 01">
            <a:hlinkClick r:id="rId5"/>
          </p:cNvPr>
          <p:cNvPicPr preferRelativeResize="0"/>
          <p:nvPr/>
        </p:nvPicPr>
        <p:blipFill>
          <a:blip r:embed="rId6">
            <a:alphaModFix/>
          </a:blip>
          <a:stretch>
            <a:fillRect/>
          </a:stretch>
        </p:blipFill>
        <p:spPr>
          <a:xfrm>
            <a:off x="3764850" y="770500"/>
            <a:ext cx="762000" cy="762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grpSp>
        <p:nvGrpSpPr>
          <p:cNvPr id="356" name="Google Shape;356;p44"/>
          <p:cNvGrpSpPr/>
          <p:nvPr/>
        </p:nvGrpSpPr>
        <p:grpSpPr>
          <a:xfrm>
            <a:off x="2172088" y="1852650"/>
            <a:ext cx="197100" cy="197100"/>
            <a:chOff x="2172088" y="1852650"/>
            <a:chExt cx="197100" cy="197100"/>
          </a:xfrm>
        </p:grpSpPr>
        <p:sp>
          <p:nvSpPr>
            <p:cNvPr id="357" name="Google Shape;357;p44"/>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4"/>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 name="Google Shape;359;p44"/>
          <p:cNvGrpSpPr/>
          <p:nvPr/>
        </p:nvGrpSpPr>
        <p:grpSpPr>
          <a:xfrm>
            <a:off x="2172088" y="2455775"/>
            <a:ext cx="197100" cy="197100"/>
            <a:chOff x="2172088" y="2455775"/>
            <a:chExt cx="197100" cy="197100"/>
          </a:xfrm>
        </p:grpSpPr>
        <p:sp>
          <p:nvSpPr>
            <p:cNvPr id="360" name="Google Shape;360;p44"/>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4"/>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62" name="Google Shape;362;p44"/>
          <p:cNvCxnSpPr>
            <a:endCxn id="360"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363" name="Google Shape;363;p44"/>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364" name="Google Shape;364;p44"/>
          <p:cNvSpPr txBox="1"/>
          <p:nvPr/>
        </p:nvSpPr>
        <p:spPr>
          <a:xfrm>
            <a:off x="2690575" y="1731425"/>
            <a:ext cx="47127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Creamos una plantilla HTML básica para trabajar,</a:t>
            </a:r>
            <a:endParaRPr sz="1350">
              <a:solidFill>
                <a:schemeClr val="dk1"/>
              </a:solidFill>
              <a:latin typeface="DM Sans"/>
              <a:ea typeface="DM Sans"/>
              <a:cs typeface="DM Sans"/>
              <a:sym typeface="DM Sans"/>
            </a:endParaRPr>
          </a:p>
          <a:p>
            <a:pPr indent="0" lvl="0" marL="0" rtl="0" algn="l">
              <a:spcBef>
                <a:spcPts val="0"/>
              </a:spcBef>
              <a:spcAft>
                <a:spcPts val="0"/>
              </a:spcAft>
              <a:buNone/>
            </a:pPr>
            <a:r>
              <a:rPr lang="es" sz="1350">
                <a:solidFill>
                  <a:schemeClr val="dk1"/>
                </a:solidFill>
                <a:latin typeface="DM Sans"/>
                <a:ea typeface="DM Sans"/>
                <a:cs typeface="DM Sans"/>
                <a:sym typeface="DM Sans"/>
              </a:rPr>
              <a:t>con un &lt;div id=”root”&gt; como elemento </a:t>
            </a:r>
            <a:r>
              <a:rPr b="1" lang="es" sz="1350">
                <a:solidFill>
                  <a:schemeClr val="dk1"/>
                </a:solidFill>
                <a:latin typeface="DM Sans"/>
                <a:ea typeface="DM Sans"/>
                <a:cs typeface="DM Sans"/>
                <a:sym typeface="DM Sans"/>
              </a:rPr>
              <a:t>raíz.</a:t>
            </a:r>
            <a:endParaRPr b="1" sz="1350">
              <a:solidFill>
                <a:schemeClr val="dk1"/>
              </a:solidFill>
              <a:latin typeface="DM Sans"/>
              <a:ea typeface="DM Sans"/>
              <a:cs typeface="DM Sans"/>
              <a:sym typeface="DM Sans"/>
            </a:endParaRPr>
          </a:p>
        </p:txBody>
      </p:sp>
      <p:sp>
        <p:nvSpPr>
          <p:cNvPr id="365" name="Google Shape;365;p44"/>
          <p:cNvSpPr txBox="1"/>
          <p:nvPr/>
        </p:nvSpPr>
        <p:spPr>
          <a:xfrm>
            <a:off x="2690575" y="2334550"/>
            <a:ext cx="47127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Mediante un &lt;script&gt; (o archivo .</a:t>
            </a:r>
            <a:r>
              <a:rPr b="1" lang="es" sz="1350">
                <a:solidFill>
                  <a:schemeClr val="dk1"/>
                </a:solidFill>
                <a:latin typeface="DM Sans"/>
                <a:ea typeface="DM Sans"/>
                <a:cs typeface="DM Sans"/>
                <a:sym typeface="DM Sans"/>
              </a:rPr>
              <a:t>js </a:t>
            </a:r>
            <a:r>
              <a:rPr lang="es" sz="1350">
                <a:solidFill>
                  <a:schemeClr val="dk1"/>
                </a:solidFill>
                <a:latin typeface="DM Sans"/>
                <a:ea typeface="DM Sans"/>
                <a:cs typeface="DM Sans"/>
                <a:sym typeface="DM Sans"/>
              </a:rPr>
              <a:t>importado) creamos una función </a:t>
            </a:r>
            <a:r>
              <a:rPr b="1" lang="es" sz="1350">
                <a:solidFill>
                  <a:schemeClr val="dk1"/>
                </a:solidFill>
                <a:latin typeface="DM Sans"/>
                <a:ea typeface="DM Sans"/>
                <a:cs typeface="DM Sans"/>
                <a:sym typeface="DM Sans"/>
              </a:rPr>
              <a:t>createComponent().</a:t>
            </a:r>
            <a:endParaRPr b="1" sz="1350">
              <a:solidFill>
                <a:schemeClr val="dk1"/>
              </a:solidFill>
              <a:latin typeface="DM Sans"/>
              <a:ea typeface="DM Sans"/>
              <a:cs typeface="DM Sans"/>
              <a:sym typeface="DM Sans"/>
            </a:endParaRPr>
          </a:p>
        </p:txBody>
      </p:sp>
      <p:grpSp>
        <p:nvGrpSpPr>
          <p:cNvPr id="366" name="Google Shape;366;p44"/>
          <p:cNvGrpSpPr/>
          <p:nvPr/>
        </p:nvGrpSpPr>
        <p:grpSpPr>
          <a:xfrm>
            <a:off x="2172088" y="3082350"/>
            <a:ext cx="197100" cy="197100"/>
            <a:chOff x="2172088" y="3058775"/>
            <a:chExt cx="197100" cy="197100"/>
          </a:xfrm>
        </p:grpSpPr>
        <p:sp>
          <p:nvSpPr>
            <p:cNvPr id="367" name="Google Shape;367;p44"/>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4"/>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69" name="Google Shape;369;p44"/>
          <p:cNvCxnSpPr>
            <a:endCxn id="367"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grpSp>
        <p:nvGrpSpPr>
          <p:cNvPr id="370" name="Google Shape;370;p44"/>
          <p:cNvGrpSpPr/>
          <p:nvPr/>
        </p:nvGrpSpPr>
        <p:grpSpPr>
          <a:xfrm>
            <a:off x="2172088" y="3685475"/>
            <a:ext cx="197100" cy="197100"/>
            <a:chOff x="2172088" y="3661775"/>
            <a:chExt cx="197100" cy="197100"/>
          </a:xfrm>
        </p:grpSpPr>
        <p:sp>
          <p:nvSpPr>
            <p:cNvPr id="371" name="Google Shape;371;p44"/>
            <p:cNvSpPr/>
            <p:nvPr/>
          </p:nvSpPr>
          <p:spPr>
            <a:xfrm>
              <a:off x="2172088" y="3661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4"/>
            <p:cNvSpPr/>
            <p:nvPr/>
          </p:nvSpPr>
          <p:spPr>
            <a:xfrm>
              <a:off x="2227138" y="3716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73" name="Google Shape;373;p44"/>
          <p:cNvCxnSpPr>
            <a:endCxn id="371" idx="0"/>
          </p:cNvCxnSpPr>
          <p:nvPr/>
        </p:nvCxnSpPr>
        <p:spPr>
          <a:xfrm>
            <a:off x="2270638" y="3279575"/>
            <a:ext cx="0" cy="405900"/>
          </a:xfrm>
          <a:prstGeom prst="straightConnector1">
            <a:avLst/>
          </a:prstGeom>
          <a:noFill/>
          <a:ln cap="flat" cmpd="sng" w="9525">
            <a:solidFill>
              <a:srgbClr val="DEFC52"/>
            </a:solidFill>
            <a:prstDash val="solid"/>
            <a:round/>
            <a:headEnd len="med" w="med" type="none"/>
            <a:tailEnd len="med" w="med" type="none"/>
          </a:ln>
        </p:spPr>
      </p:cxnSp>
      <p:sp>
        <p:nvSpPr>
          <p:cNvPr id="374" name="Google Shape;374;p44"/>
          <p:cNvSpPr txBox="1"/>
          <p:nvPr/>
        </p:nvSpPr>
        <p:spPr>
          <a:xfrm>
            <a:off x="2690575" y="2984700"/>
            <a:ext cx="47127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En la función, obtenemos una referencia al nodo raíz y agregamos dentro un elemento </a:t>
            </a:r>
            <a:r>
              <a:rPr b="1" lang="es" sz="1350">
                <a:solidFill>
                  <a:schemeClr val="dk1"/>
                </a:solidFill>
                <a:latin typeface="DM Sans"/>
                <a:ea typeface="DM Sans"/>
                <a:cs typeface="DM Sans"/>
                <a:sym typeface="DM Sans"/>
              </a:rPr>
              <a:t>&lt;button&gt;.</a:t>
            </a:r>
            <a:endParaRPr b="1" sz="1350">
              <a:solidFill>
                <a:schemeClr val="dk1"/>
              </a:solidFill>
              <a:latin typeface="DM Sans"/>
              <a:ea typeface="DM Sans"/>
              <a:cs typeface="DM Sans"/>
              <a:sym typeface="DM Sans"/>
            </a:endParaRPr>
          </a:p>
        </p:txBody>
      </p:sp>
      <p:sp>
        <p:nvSpPr>
          <p:cNvPr id="375" name="Google Shape;375;p44"/>
          <p:cNvSpPr txBox="1"/>
          <p:nvPr/>
        </p:nvSpPr>
        <p:spPr>
          <a:xfrm>
            <a:off x="2690575" y="3587825"/>
            <a:ext cx="4712700" cy="8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1350">
                <a:solidFill>
                  <a:schemeClr val="dk1"/>
                </a:solidFill>
                <a:latin typeface="DM Sans"/>
                <a:ea typeface="DM Sans"/>
                <a:cs typeface="DM Sans"/>
                <a:sym typeface="DM Sans"/>
              </a:rPr>
              <a:t>¡Anímate a más! Utiliza</a:t>
            </a:r>
            <a:r>
              <a:rPr lang="es" sz="1350">
                <a:solidFill>
                  <a:schemeClr val="dk1"/>
                </a:solidFill>
                <a:latin typeface="DM Sans"/>
                <a:ea typeface="DM Sans"/>
                <a:cs typeface="DM Sans"/>
                <a:sym typeface="DM Sans"/>
              </a:rPr>
              <a:t> parámetros para que </a:t>
            </a:r>
            <a:r>
              <a:rPr b="1" lang="es" sz="1350">
                <a:solidFill>
                  <a:schemeClr val="dk1"/>
                </a:solidFill>
                <a:latin typeface="DM Sans"/>
                <a:ea typeface="DM Sans"/>
                <a:cs typeface="DM Sans"/>
                <a:sym typeface="DM Sans"/>
              </a:rPr>
              <a:t>createComponent </a:t>
            </a:r>
            <a:r>
              <a:rPr lang="es" sz="1350">
                <a:solidFill>
                  <a:schemeClr val="dk1"/>
                </a:solidFill>
                <a:latin typeface="DM Sans"/>
                <a:ea typeface="DM Sans"/>
                <a:cs typeface="DM Sans"/>
                <a:sym typeface="DM Sans"/>
              </a:rPr>
              <a:t>cree elementos con diferentes clases, atributos y contenido.</a:t>
            </a:r>
            <a:endParaRPr sz="1350">
              <a:solidFill>
                <a:schemeClr val="dk1"/>
              </a:solidFill>
              <a:latin typeface="DM Sans"/>
              <a:ea typeface="DM Sans"/>
              <a:cs typeface="DM Sans"/>
              <a:sym typeface="DM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9" name="Shape 379"/>
        <p:cNvGrpSpPr/>
        <p:nvPr/>
      </p:nvGrpSpPr>
      <p:grpSpPr>
        <a:xfrm>
          <a:off x="0" y="0"/>
          <a:ext cx="0" cy="0"/>
          <a:chOff x="0" y="0"/>
          <a:chExt cx="0" cy="0"/>
        </a:xfrm>
      </p:grpSpPr>
      <p:pic>
        <p:nvPicPr>
          <p:cNvPr id="380" name="Google Shape;380;p45"/>
          <p:cNvPicPr preferRelativeResize="0"/>
          <p:nvPr/>
        </p:nvPicPr>
        <p:blipFill>
          <a:blip r:embed="rId3">
            <a:alphaModFix/>
          </a:blip>
          <a:stretch>
            <a:fillRect/>
          </a:stretch>
        </p:blipFill>
        <p:spPr>
          <a:xfrm>
            <a:off x="1410925" y="1358028"/>
            <a:ext cx="6182200" cy="2786850"/>
          </a:xfrm>
          <a:prstGeom prst="rect">
            <a:avLst/>
          </a:prstGeom>
          <a:noFill/>
          <a:ln>
            <a:noFill/>
          </a:ln>
        </p:spPr>
      </p:pic>
      <p:sp>
        <p:nvSpPr>
          <p:cNvPr id="381" name="Google Shape;381;p45"/>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Posible solución</a:t>
            </a:r>
            <a:endParaRPr b="1" sz="4000">
              <a:solidFill>
                <a:schemeClr val="dk1"/>
              </a:solidFill>
              <a:latin typeface="DM Sans"/>
              <a:ea typeface="DM Sans"/>
              <a:cs typeface="DM Sans"/>
              <a:sym typeface="DM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6"/>
          <p:cNvSpPr txBox="1"/>
          <p:nvPr/>
        </p:nvSpPr>
        <p:spPr>
          <a:xfrm>
            <a:off x="1905000" y="2202300"/>
            <a:ext cx="53721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¡Buen trabajo! </a:t>
            </a:r>
            <a:r>
              <a:rPr b="1" lang="es" sz="3500">
                <a:solidFill>
                  <a:schemeClr val="dk1"/>
                </a:solidFill>
                <a:latin typeface="DM Sans"/>
                <a:ea typeface="DM Sans"/>
                <a:cs typeface="DM Sans"/>
                <a:sym typeface="DM Sans"/>
              </a:rPr>
              <a:t>😎</a:t>
            </a:r>
            <a:endParaRPr sz="3000">
              <a:solidFill>
                <a:schemeClr val="dk1"/>
              </a:solidFill>
              <a:latin typeface="DM Sans"/>
              <a:ea typeface="DM Sans"/>
              <a:cs typeface="DM Sans"/>
              <a:sym typeface="DM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7"/>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392" name="Google Shape;392;p47"/>
          <p:cNvSpPr txBox="1"/>
          <p:nvPr/>
        </p:nvSpPr>
        <p:spPr>
          <a:xfrm>
            <a:off x="475500" y="1527350"/>
            <a:ext cx="795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00">
                <a:solidFill>
                  <a:schemeClr val="dk2"/>
                </a:solidFill>
                <a:latin typeface="DM Sans"/>
                <a:ea typeface="DM Sans"/>
                <a:cs typeface="DM Sans"/>
                <a:sym typeface="DM Sans"/>
              </a:rPr>
              <a:t>Creación de componente con React en su forma más pura.</a:t>
            </a:r>
            <a:endParaRPr sz="2500">
              <a:solidFill>
                <a:schemeClr val="dk2"/>
              </a:solidFill>
              <a:latin typeface="DM Sans"/>
              <a:ea typeface="DM Sans"/>
              <a:cs typeface="DM Sans"/>
              <a:sym typeface="DM Sans"/>
            </a:endParaRPr>
          </a:p>
        </p:txBody>
      </p:sp>
      <p:grpSp>
        <p:nvGrpSpPr>
          <p:cNvPr id="393" name="Google Shape;393;p47"/>
          <p:cNvGrpSpPr/>
          <p:nvPr/>
        </p:nvGrpSpPr>
        <p:grpSpPr>
          <a:xfrm>
            <a:off x="475501" y="468273"/>
            <a:ext cx="738900" cy="738900"/>
            <a:chOff x="473351" y="619523"/>
            <a:chExt cx="738900" cy="738900"/>
          </a:xfrm>
        </p:grpSpPr>
        <p:sp>
          <p:nvSpPr>
            <p:cNvPr id="394" name="Google Shape;394;p47"/>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5" name="Google Shape;395;p47"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396" name="Google Shape;396;p47"/>
          <p:cNvSpPr txBox="1"/>
          <p:nvPr/>
        </p:nvSpPr>
        <p:spPr>
          <a:xfrm>
            <a:off x="475500" y="40579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15 minutos</a:t>
            </a:r>
            <a:endParaRPr b="1" sz="2000">
              <a:solidFill>
                <a:schemeClr val="dk2"/>
              </a:solidFill>
              <a:latin typeface="DM Sans"/>
              <a:ea typeface="DM Sans"/>
              <a:cs typeface="DM Sans"/>
              <a:sym typeface="DM Sans"/>
            </a:endParaRPr>
          </a:p>
        </p:txBody>
      </p:sp>
      <p:sp>
        <p:nvSpPr>
          <p:cNvPr id="397" name="Google Shape;397;p47"/>
          <p:cNvSpPr txBox="1"/>
          <p:nvPr/>
        </p:nvSpPr>
        <p:spPr>
          <a:xfrm>
            <a:off x="541875" y="2182700"/>
            <a:ext cx="6973500" cy="16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Continuando con la Actividad anterior, replicaremos el mismo componente</a:t>
            </a:r>
            <a:r>
              <a:rPr lang="es" sz="1350">
                <a:solidFill>
                  <a:schemeClr val="dk1"/>
                </a:solidFill>
                <a:latin typeface="DM Sans"/>
                <a:ea typeface="DM Sans"/>
                <a:cs typeface="DM Sans"/>
                <a:sym typeface="DM Sans"/>
              </a:rPr>
              <a:t>, pero</a:t>
            </a:r>
            <a:r>
              <a:rPr lang="es" sz="1350">
                <a:solidFill>
                  <a:schemeClr val="dk1"/>
                </a:solidFill>
                <a:latin typeface="DM Sans"/>
                <a:ea typeface="DM Sans"/>
                <a:cs typeface="DM Sans"/>
                <a:sym typeface="DM Sans"/>
              </a:rPr>
              <a:t> utilizando </a:t>
            </a:r>
            <a:r>
              <a:rPr b="1" lang="es" sz="1350">
                <a:solidFill>
                  <a:schemeClr val="dk1"/>
                </a:solidFill>
                <a:latin typeface="DM Sans"/>
                <a:ea typeface="DM Sans"/>
                <a:cs typeface="DM Sans"/>
                <a:sym typeface="DM Sans"/>
              </a:rPr>
              <a:t>React</a:t>
            </a:r>
            <a:r>
              <a:rPr lang="es" sz="1350">
                <a:solidFill>
                  <a:schemeClr val="dk1"/>
                </a:solidFill>
                <a:latin typeface="DM Sans"/>
                <a:ea typeface="DM Sans"/>
                <a:cs typeface="DM Sans"/>
                <a:sym typeface="DM Sans"/>
              </a:rPr>
              <a:t>, siguiendo la guía básica de prueba, donde agregamos React a un sitio </a:t>
            </a:r>
            <a:r>
              <a:rPr lang="es" sz="1350">
                <a:solidFill>
                  <a:schemeClr val="dk1"/>
                </a:solidFill>
                <a:latin typeface="DM Sans"/>
                <a:ea typeface="DM Sans"/>
                <a:cs typeface="DM Sans"/>
                <a:sym typeface="DM Sans"/>
              </a:rPr>
              <a:t>HTML</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indent="0" lvl="0" marL="0" rtl="0" algn="l">
              <a:spcBef>
                <a:spcPts val="0"/>
              </a:spcBef>
              <a:spcAft>
                <a:spcPts val="0"/>
              </a:spcAft>
              <a:buNone/>
            </a:pPr>
            <a:r>
              <a:t/>
            </a:r>
            <a:endParaRPr sz="1350">
              <a:solidFill>
                <a:schemeClr val="dk1"/>
              </a:solidFill>
              <a:latin typeface="DM Sans"/>
              <a:ea typeface="DM Sans"/>
              <a:cs typeface="DM Sans"/>
              <a:sym typeface="DM Sans"/>
            </a:endParaRPr>
          </a:p>
          <a:p>
            <a:pPr indent="0" lvl="0" marL="0" rtl="0" algn="l">
              <a:spcBef>
                <a:spcPts val="0"/>
              </a:spcBef>
              <a:spcAft>
                <a:spcPts val="0"/>
              </a:spcAft>
              <a:buNone/>
            </a:pPr>
            <a:r>
              <a:rPr b="1" lang="es" sz="1350" u="sng">
                <a:solidFill>
                  <a:schemeClr val="hlink"/>
                </a:solidFill>
                <a:latin typeface="DM Sans"/>
                <a:ea typeface="DM Sans"/>
                <a:cs typeface="DM Sans"/>
                <a:sym typeface="DM Sans"/>
                <a:hlinkClick r:id="rId4"/>
              </a:rPr>
              <a:t>Enlace a </a:t>
            </a:r>
            <a:r>
              <a:rPr b="1" lang="es" sz="1350" u="sng">
                <a:solidFill>
                  <a:schemeClr val="hlink"/>
                </a:solidFill>
                <a:latin typeface="DM Sans"/>
                <a:ea typeface="DM Sans"/>
                <a:cs typeface="DM Sans"/>
                <a:sym typeface="DM Sans"/>
                <a:hlinkClick r:id="rId5"/>
              </a:rPr>
              <a:t>Template editable</a:t>
            </a:r>
            <a:endParaRPr b="1" sz="1350">
              <a:solidFill>
                <a:schemeClr val="dk1"/>
              </a:solidFill>
              <a:latin typeface="DM Sans"/>
              <a:ea typeface="DM Sans"/>
              <a:cs typeface="DM Sans"/>
              <a:sym typeface="DM Sans"/>
            </a:endParaRPr>
          </a:p>
          <a:p>
            <a:pPr indent="0" lvl="0" marL="0" rtl="0" algn="l">
              <a:spcBef>
                <a:spcPts val="0"/>
              </a:spcBef>
              <a:spcAft>
                <a:spcPts val="0"/>
              </a:spcAft>
              <a:buNone/>
            </a:pPr>
            <a:r>
              <a:t/>
            </a:r>
            <a:endParaRPr b="1" sz="1350">
              <a:solidFill>
                <a:schemeClr val="dk1"/>
              </a:solidFill>
              <a:latin typeface="DM Sans"/>
              <a:ea typeface="DM Sans"/>
              <a:cs typeface="DM Sans"/>
              <a:sym typeface="DM Sans"/>
            </a:endParaRPr>
          </a:p>
          <a:p>
            <a:pPr indent="0" lvl="0" marL="0" rtl="0" algn="l">
              <a:spcBef>
                <a:spcPts val="0"/>
              </a:spcBef>
              <a:spcAft>
                <a:spcPts val="0"/>
              </a:spcAft>
              <a:buNone/>
            </a:pPr>
            <a:r>
              <a:rPr b="1" lang="es" sz="1350" u="sng">
                <a:solidFill>
                  <a:schemeClr val="hlink"/>
                </a:solidFill>
                <a:latin typeface="DM Sans"/>
                <a:ea typeface="DM Sans"/>
                <a:cs typeface="DM Sans"/>
                <a:sym typeface="DM Sans"/>
                <a:hlinkClick r:id="rId6"/>
              </a:rPr>
              <a:t>Guía de prueba oficial de React</a:t>
            </a:r>
            <a:endParaRPr b="1" sz="1350">
              <a:solidFill>
                <a:schemeClr val="dk1"/>
              </a:solidFill>
              <a:latin typeface="DM Sans"/>
              <a:ea typeface="DM Sans"/>
              <a:cs typeface="DM Sans"/>
              <a:sym typeface="DM Sans"/>
            </a:endParaRPr>
          </a:p>
        </p:txBody>
      </p:sp>
      <p:grpSp>
        <p:nvGrpSpPr>
          <p:cNvPr id="398" name="Google Shape;398;p47"/>
          <p:cNvGrpSpPr/>
          <p:nvPr/>
        </p:nvGrpSpPr>
        <p:grpSpPr>
          <a:xfrm>
            <a:off x="0" y="-7400"/>
            <a:ext cx="9143925" cy="44400"/>
            <a:chOff x="0" y="-7400"/>
            <a:chExt cx="9143925" cy="44400"/>
          </a:xfrm>
        </p:grpSpPr>
        <p:sp>
          <p:nvSpPr>
            <p:cNvPr id="399" name="Google Shape;399;p47"/>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400" name="Google Shape;400;p47"/>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grpSp>
        <p:nvGrpSpPr>
          <p:cNvPr id="405" name="Google Shape;405;p48"/>
          <p:cNvGrpSpPr/>
          <p:nvPr/>
        </p:nvGrpSpPr>
        <p:grpSpPr>
          <a:xfrm>
            <a:off x="2172088" y="1852650"/>
            <a:ext cx="197100" cy="197100"/>
            <a:chOff x="2172088" y="1852650"/>
            <a:chExt cx="197100" cy="197100"/>
          </a:xfrm>
        </p:grpSpPr>
        <p:sp>
          <p:nvSpPr>
            <p:cNvPr id="406" name="Google Shape;406;p48"/>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8"/>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 name="Google Shape;408;p48"/>
          <p:cNvGrpSpPr/>
          <p:nvPr/>
        </p:nvGrpSpPr>
        <p:grpSpPr>
          <a:xfrm>
            <a:off x="2172088" y="2455775"/>
            <a:ext cx="197100" cy="197100"/>
            <a:chOff x="2172088" y="2455775"/>
            <a:chExt cx="197100" cy="197100"/>
          </a:xfrm>
        </p:grpSpPr>
        <p:sp>
          <p:nvSpPr>
            <p:cNvPr id="409" name="Google Shape;409;p48"/>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8"/>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11" name="Google Shape;411;p48"/>
          <p:cNvCxnSpPr>
            <a:endCxn id="409"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412" name="Google Shape;412;p48"/>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413" name="Google Shape;413;p48"/>
          <p:cNvSpPr txBox="1"/>
          <p:nvPr/>
        </p:nvSpPr>
        <p:spPr>
          <a:xfrm>
            <a:off x="2690573" y="1731413"/>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Observamos el código inicial con la inicialización de React</a:t>
            </a:r>
            <a:endParaRPr sz="1350">
              <a:solidFill>
                <a:schemeClr val="dk1"/>
              </a:solidFill>
              <a:latin typeface="DM Sans"/>
              <a:ea typeface="DM Sans"/>
              <a:cs typeface="DM Sans"/>
              <a:sym typeface="DM Sans"/>
            </a:endParaRPr>
          </a:p>
        </p:txBody>
      </p:sp>
      <p:sp>
        <p:nvSpPr>
          <p:cNvPr id="414" name="Google Shape;414;p48"/>
          <p:cNvSpPr txBox="1"/>
          <p:nvPr/>
        </p:nvSpPr>
        <p:spPr>
          <a:xfrm>
            <a:off x="2690573" y="2334538"/>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Asignamos el nodo raíz </a:t>
            </a:r>
            <a:r>
              <a:rPr lang="es" sz="1350">
                <a:solidFill>
                  <a:schemeClr val="dk1"/>
                </a:solidFill>
                <a:latin typeface="DM Sans"/>
                <a:ea typeface="DM Sans"/>
                <a:cs typeface="DM Sans"/>
                <a:sym typeface="DM Sans"/>
              </a:rPr>
              <a:t>con </a:t>
            </a:r>
            <a:r>
              <a:rPr b="1" lang="es" sz="1350">
                <a:solidFill>
                  <a:schemeClr val="dk1"/>
                </a:solidFill>
                <a:latin typeface="DM Sans"/>
                <a:ea typeface="DM Sans"/>
                <a:cs typeface="DM Sans"/>
                <a:sym typeface="DM Sans"/>
              </a:rPr>
              <a:t>React.createRoot()</a:t>
            </a:r>
            <a:endParaRPr sz="1350">
              <a:solidFill>
                <a:schemeClr val="dk1"/>
              </a:solidFill>
              <a:latin typeface="DM Sans"/>
              <a:ea typeface="DM Sans"/>
              <a:cs typeface="DM Sans"/>
              <a:sym typeface="DM Sans"/>
            </a:endParaRPr>
          </a:p>
        </p:txBody>
      </p:sp>
      <p:grpSp>
        <p:nvGrpSpPr>
          <p:cNvPr id="415" name="Google Shape;415;p48"/>
          <p:cNvGrpSpPr/>
          <p:nvPr/>
        </p:nvGrpSpPr>
        <p:grpSpPr>
          <a:xfrm>
            <a:off x="2172088" y="3082350"/>
            <a:ext cx="197100" cy="197100"/>
            <a:chOff x="2172088" y="3058775"/>
            <a:chExt cx="197100" cy="197100"/>
          </a:xfrm>
        </p:grpSpPr>
        <p:sp>
          <p:nvSpPr>
            <p:cNvPr id="416" name="Google Shape;416;p48"/>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48"/>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18" name="Google Shape;418;p48"/>
          <p:cNvCxnSpPr>
            <a:endCxn id="416"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sp>
        <p:nvSpPr>
          <p:cNvPr id="419" name="Google Shape;419;p48"/>
          <p:cNvSpPr txBox="1"/>
          <p:nvPr/>
        </p:nvSpPr>
        <p:spPr>
          <a:xfrm>
            <a:off x="2690573" y="2984688"/>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Creando elementos con </a:t>
            </a:r>
            <a:r>
              <a:rPr b="1" lang="es" sz="1350">
                <a:solidFill>
                  <a:schemeClr val="dk1"/>
                </a:solidFill>
                <a:latin typeface="DM Sans"/>
                <a:ea typeface="DM Sans"/>
                <a:cs typeface="DM Sans"/>
                <a:sym typeface="DM Sans"/>
              </a:rPr>
              <a:t>React.createElement()</a:t>
            </a:r>
            <a:endParaRPr b="1" sz="1350">
              <a:solidFill>
                <a:schemeClr val="dk1"/>
              </a:solidFill>
              <a:latin typeface="DM Sans"/>
              <a:ea typeface="DM Sans"/>
              <a:cs typeface="DM Sans"/>
              <a:sym typeface="DM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9"/>
          <p:cNvSpPr txBox="1"/>
          <p:nvPr/>
        </p:nvSpPr>
        <p:spPr>
          <a:xfrm>
            <a:off x="1461300" y="1598325"/>
            <a:ext cx="6221400" cy="1431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s" sz="5000">
                <a:solidFill>
                  <a:srgbClr val="E8E7E3"/>
                </a:solidFill>
              </a:rPr>
              <a:t>☕</a:t>
            </a:r>
            <a:endParaRPr sz="5000">
              <a:solidFill>
                <a:srgbClr val="E8E7E3"/>
              </a:solidFill>
            </a:endParaRPr>
          </a:p>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Break</a:t>
            </a:r>
            <a:endParaRPr b="1" sz="4000">
              <a:solidFill>
                <a:schemeClr val="lt1"/>
              </a:solidFill>
              <a:latin typeface="DM Sans"/>
              <a:ea typeface="DM Sans"/>
              <a:cs typeface="DM Sans"/>
              <a:sym typeface="DM Sans"/>
            </a:endParaRPr>
          </a:p>
        </p:txBody>
      </p:sp>
      <p:sp>
        <p:nvSpPr>
          <p:cNvPr id="425" name="Google Shape;425;p49"/>
          <p:cNvSpPr txBox="1"/>
          <p:nvPr/>
        </p:nvSpPr>
        <p:spPr>
          <a:xfrm>
            <a:off x="2809200" y="2971950"/>
            <a:ext cx="3525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lt1"/>
                </a:solidFill>
                <a:latin typeface="DM Sans"/>
                <a:ea typeface="DM Sans"/>
                <a:cs typeface="DM Sans"/>
                <a:sym typeface="DM Sans"/>
              </a:rPr>
              <a:t>¡En 10 </a:t>
            </a:r>
            <a:r>
              <a:rPr lang="es" sz="2000">
                <a:solidFill>
                  <a:schemeClr val="lt1"/>
                </a:solidFill>
                <a:latin typeface="DM Sans"/>
                <a:ea typeface="DM Sans"/>
                <a:cs typeface="DM Sans"/>
                <a:sym typeface="DM Sans"/>
              </a:rPr>
              <a:t>minutos</a:t>
            </a:r>
            <a:r>
              <a:rPr lang="es" sz="2000">
                <a:solidFill>
                  <a:schemeClr val="lt1"/>
                </a:solidFill>
                <a:latin typeface="DM Sans"/>
                <a:ea typeface="DM Sans"/>
                <a:cs typeface="DM Sans"/>
                <a:sym typeface="DM Sans"/>
              </a:rPr>
              <a:t> volvemos!</a:t>
            </a:r>
            <a:endParaRPr sz="2000">
              <a:solidFill>
                <a:schemeClr val="lt1"/>
              </a:solidFill>
              <a:latin typeface="DM Sans"/>
              <a:ea typeface="DM Sans"/>
              <a:cs typeface="DM Sans"/>
              <a:sym typeface="DM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grpSp>
        <p:nvGrpSpPr>
          <p:cNvPr id="430" name="Google Shape;430;p50"/>
          <p:cNvGrpSpPr/>
          <p:nvPr/>
        </p:nvGrpSpPr>
        <p:grpSpPr>
          <a:xfrm>
            <a:off x="4202556" y="994173"/>
            <a:ext cx="738900" cy="738900"/>
            <a:chOff x="974706" y="2467173"/>
            <a:chExt cx="738900" cy="738900"/>
          </a:xfrm>
        </p:grpSpPr>
        <p:sp>
          <p:nvSpPr>
            <p:cNvPr id="431" name="Google Shape;431;p50"/>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2" name="Google Shape;432;p50"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433" name="Google Shape;433;p50"/>
          <p:cNvSpPr txBox="1"/>
          <p:nvPr/>
        </p:nvSpPr>
        <p:spPr>
          <a:xfrm>
            <a:off x="1461300" y="2208625"/>
            <a:ext cx="6221400" cy="18471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Crea un entorno de React en Node</a:t>
            </a:r>
            <a:endParaRPr b="1" sz="4000">
              <a:solidFill>
                <a:schemeClr val="dk1"/>
              </a:solidFill>
              <a:highlight>
                <a:schemeClr val="accent6"/>
              </a:highlight>
              <a:latin typeface="DM Sans"/>
              <a:ea typeface="DM Sans"/>
              <a:cs typeface="DM Sans"/>
              <a:sym typeface="DM Sans"/>
            </a:endParaRPr>
          </a:p>
          <a:p>
            <a:pPr indent="0" lvl="0" marL="0" rtl="0" algn="ctr">
              <a:lnSpc>
                <a:spcPct val="90000"/>
              </a:lnSpc>
              <a:spcBef>
                <a:spcPts val="0"/>
              </a:spcBef>
              <a:spcAft>
                <a:spcPts val="0"/>
              </a:spcAft>
              <a:buNone/>
            </a:pPr>
            <a:r>
              <a:t/>
            </a:r>
            <a:endParaRPr b="1" sz="4000">
              <a:solidFill>
                <a:schemeClr val="dk1"/>
              </a:solidFill>
              <a:latin typeface="DM Sans"/>
              <a:ea typeface="DM Sans"/>
              <a:cs typeface="DM Sans"/>
              <a:sym typeface="DM Sans"/>
            </a:endParaRPr>
          </a:p>
        </p:txBody>
      </p:sp>
      <p:sp>
        <p:nvSpPr>
          <p:cNvPr id="434" name="Google Shape;434;p50"/>
          <p:cNvSpPr txBox="1"/>
          <p:nvPr/>
        </p:nvSpPr>
        <p:spPr>
          <a:xfrm>
            <a:off x="987263" y="3818588"/>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Tiempo estimado </a:t>
            </a:r>
            <a:r>
              <a:rPr b="1" lang="es" sz="2000">
                <a:solidFill>
                  <a:schemeClr val="dk2"/>
                </a:solidFill>
                <a:latin typeface="DM Sans"/>
                <a:ea typeface="DM Sans"/>
                <a:cs typeface="DM Sans"/>
                <a:sym typeface="DM Sans"/>
              </a:rPr>
              <a:t>2</a:t>
            </a:r>
            <a:r>
              <a:rPr b="1" lang="es" sz="2000">
                <a:solidFill>
                  <a:schemeClr val="dk2"/>
                </a:solidFill>
                <a:latin typeface="DM Sans"/>
                <a:ea typeface="DM Sans"/>
                <a:cs typeface="DM Sans"/>
                <a:sym typeface="DM Sans"/>
              </a:rPr>
              <a:t>0 minutos</a:t>
            </a:r>
            <a:endParaRPr b="1" sz="2000">
              <a:solidFill>
                <a:schemeClr val="dk2"/>
              </a:solidFill>
              <a:latin typeface="DM Sans"/>
              <a:ea typeface="DM Sans"/>
              <a:cs typeface="DM Sans"/>
              <a:sym typeface="DM Sans"/>
            </a:endParaRPr>
          </a:p>
        </p:txBody>
      </p:sp>
      <p:grpSp>
        <p:nvGrpSpPr>
          <p:cNvPr id="435" name="Google Shape;435;p50"/>
          <p:cNvGrpSpPr/>
          <p:nvPr/>
        </p:nvGrpSpPr>
        <p:grpSpPr>
          <a:xfrm>
            <a:off x="0" y="-7400"/>
            <a:ext cx="9143925" cy="44400"/>
            <a:chOff x="0" y="-7400"/>
            <a:chExt cx="9143925" cy="44400"/>
          </a:xfrm>
        </p:grpSpPr>
        <p:sp>
          <p:nvSpPr>
            <p:cNvPr id="436" name="Google Shape;436;p50"/>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437" name="Google Shape;437;p50"/>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1"/>
          <p:cNvSpPr/>
          <p:nvPr/>
        </p:nvSpPr>
        <p:spPr>
          <a:xfrm>
            <a:off x="647400" y="1189150"/>
            <a:ext cx="7849200" cy="33174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51"/>
          <p:cNvSpPr txBox="1"/>
          <p:nvPr/>
        </p:nvSpPr>
        <p:spPr>
          <a:xfrm>
            <a:off x="383250" y="345975"/>
            <a:ext cx="8380800" cy="66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Create React App</a:t>
            </a:r>
            <a:endParaRPr b="1" sz="3500">
              <a:solidFill>
                <a:schemeClr val="lt1"/>
              </a:solidFill>
              <a:latin typeface="DM Sans"/>
              <a:ea typeface="DM Sans"/>
              <a:cs typeface="DM Sans"/>
              <a:sym typeface="DM Sans"/>
            </a:endParaRPr>
          </a:p>
        </p:txBody>
      </p:sp>
      <p:sp>
        <p:nvSpPr>
          <p:cNvPr id="444" name="Google Shape;444;p51"/>
          <p:cNvSpPr txBox="1"/>
          <p:nvPr/>
        </p:nvSpPr>
        <p:spPr>
          <a:xfrm>
            <a:off x="994575" y="1490375"/>
            <a:ext cx="6794400" cy="263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 u="sng">
                <a:solidFill>
                  <a:schemeClr val="hlink"/>
                </a:solidFill>
                <a:latin typeface="DM Sans"/>
                <a:ea typeface="DM Sans"/>
                <a:cs typeface="DM Sans"/>
                <a:sym typeface="DM Sans"/>
                <a:hlinkClick r:id="rId3"/>
              </a:rPr>
              <a:t>Create React App</a:t>
            </a:r>
            <a:r>
              <a:rPr b="1" lang="es">
                <a:latin typeface="DM Sans"/>
                <a:ea typeface="DM Sans"/>
                <a:cs typeface="DM Sans"/>
                <a:sym typeface="DM Sans"/>
              </a:rPr>
              <a:t> </a:t>
            </a:r>
            <a:r>
              <a:rPr lang="es" sz="1500">
                <a:latin typeface="DM Sans"/>
                <a:ea typeface="DM Sans"/>
                <a:cs typeface="DM Sans"/>
                <a:sym typeface="DM Sans"/>
              </a:rPr>
              <a:t>es</a:t>
            </a:r>
            <a:r>
              <a:rPr lang="es" sz="1500">
                <a:solidFill>
                  <a:srgbClr val="000000"/>
                </a:solidFill>
                <a:latin typeface="DM Sans"/>
                <a:ea typeface="DM Sans"/>
                <a:cs typeface="DM Sans"/>
                <a:sym typeface="DM Sans"/>
              </a:rPr>
              <a:t> un ambiente cómodo para </a:t>
            </a:r>
            <a:r>
              <a:rPr b="1" lang="es" sz="1500">
                <a:solidFill>
                  <a:srgbClr val="000000"/>
                </a:solidFill>
                <a:latin typeface="DM Sans"/>
                <a:ea typeface="DM Sans"/>
                <a:cs typeface="DM Sans"/>
                <a:sym typeface="DM Sans"/>
              </a:rPr>
              <a:t>aprender React</a:t>
            </a:r>
            <a:r>
              <a:rPr lang="es" sz="1500">
                <a:solidFill>
                  <a:srgbClr val="000000"/>
                </a:solidFill>
                <a:latin typeface="DM Sans"/>
                <a:ea typeface="DM Sans"/>
                <a:cs typeface="DM Sans"/>
                <a:sym typeface="DM Sans"/>
              </a:rPr>
              <a:t>, y es la mejor manera de comenzar a construir </a:t>
            </a:r>
            <a:r>
              <a:rPr b="1" lang="es" sz="1500">
                <a:solidFill>
                  <a:srgbClr val="000000"/>
                </a:solidFill>
                <a:latin typeface="DM Sans"/>
                <a:ea typeface="DM Sans"/>
                <a:cs typeface="DM Sans"/>
                <a:sym typeface="DM Sans"/>
              </a:rPr>
              <a:t>una nueva app </a:t>
            </a:r>
            <a:r>
              <a:rPr b="1" lang="es" sz="1500">
                <a:latin typeface="DM Sans"/>
                <a:ea typeface="DM Sans"/>
                <a:cs typeface="DM Sans"/>
                <a:sym typeface="DM Sans"/>
              </a:rPr>
              <a:t>con </a:t>
            </a:r>
            <a:r>
              <a:rPr b="1" lang="es" sz="1500">
                <a:solidFill>
                  <a:srgbClr val="000000"/>
                </a:solidFill>
                <a:latin typeface="DM Sans"/>
                <a:ea typeface="DM Sans"/>
                <a:cs typeface="DM Sans"/>
                <a:sym typeface="DM Sans"/>
              </a:rPr>
              <a:t>React.</a:t>
            </a:r>
            <a:endParaRPr b="1" sz="1500">
              <a:solidFill>
                <a:srgbClr val="000000"/>
              </a:solidFill>
              <a:latin typeface="DM Sans"/>
              <a:ea typeface="DM Sans"/>
              <a:cs typeface="DM Sans"/>
              <a:sym typeface="DM Sans"/>
            </a:endParaRPr>
          </a:p>
          <a:p>
            <a:pPr indent="0" lvl="0" marL="0" rtl="0" algn="l">
              <a:lnSpc>
                <a:spcPct val="115000"/>
              </a:lnSpc>
              <a:spcBef>
                <a:spcPts val="1200"/>
              </a:spcBef>
              <a:spcAft>
                <a:spcPts val="1200"/>
              </a:spcAft>
              <a:buNone/>
            </a:pPr>
            <a:r>
              <a:rPr b="1" lang="es" sz="1500">
                <a:solidFill>
                  <a:srgbClr val="000000"/>
                </a:solidFill>
                <a:latin typeface="DM Sans"/>
                <a:ea typeface="DM Sans"/>
                <a:cs typeface="DM Sans"/>
                <a:sym typeface="DM Sans"/>
              </a:rPr>
              <a:t>Create React App</a:t>
            </a:r>
            <a:r>
              <a:rPr lang="es" sz="1500">
                <a:solidFill>
                  <a:srgbClr val="000000"/>
                </a:solidFill>
                <a:latin typeface="DM Sans"/>
                <a:ea typeface="DM Sans"/>
                <a:cs typeface="DM Sans"/>
                <a:sym typeface="DM Sans"/>
              </a:rPr>
              <a:t> configura tu ambiente de desarrollo de forma que puedas usar las últimas características de </a:t>
            </a:r>
            <a:r>
              <a:rPr lang="es" sz="1500">
                <a:latin typeface="DM Sans"/>
                <a:ea typeface="DM Sans"/>
                <a:cs typeface="DM Sans"/>
                <a:sym typeface="DM Sans"/>
              </a:rPr>
              <a:t>JavaScript</a:t>
            </a:r>
            <a:r>
              <a:rPr lang="es" sz="1500">
                <a:solidFill>
                  <a:srgbClr val="000000"/>
                </a:solidFill>
                <a:latin typeface="DM Sans"/>
                <a:ea typeface="DM Sans"/>
                <a:cs typeface="DM Sans"/>
                <a:sym typeface="DM Sans"/>
              </a:rPr>
              <a:t>, brindando una buena experiencia de desarrollo, y optimizando tu aplicación para producción. </a:t>
            </a:r>
            <a:br>
              <a:rPr lang="es" sz="1500">
                <a:latin typeface="DM Sans"/>
                <a:ea typeface="DM Sans"/>
                <a:cs typeface="DM Sans"/>
                <a:sym typeface="DM Sans"/>
              </a:rPr>
            </a:br>
            <a:br>
              <a:rPr lang="es" sz="1800">
                <a:solidFill>
                  <a:srgbClr val="000000"/>
                </a:solidFill>
                <a:latin typeface="DM Sans"/>
                <a:ea typeface="DM Sans"/>
                <a:cs typeface="DM Sans"/>
                <a:sym typeface="DM Sans"/>
              </a:rPr>
            </a:br>
            <a:r>
              <a:rPr b="1" lang="es">
                <a:solidFill>
                  <a:srgbClr val="000000"/>
                </a:solidFill>
                <a:latin typeface="DM Sans"/>
                <a:ea typeface="DM Sans"/>
                <a:cs typeface="DM Sans"/>
                <a:sym typeface="DM Sans"/>
              </a:rPr>
              <a:t>Necesitarás tener</a:t>
            </a:r>
            <a:r>
              <a:rPr lang="es">
                <a:solidFill>
                  <a:srgbClr val="000000"/>
                </a:solidFill>
                <a:uFill>
                  <a:noFill/>
                </a:uFill>
                <a:latin typeface="DM Sans"/>
                <a:ea typeface="DM Sans"/>
                <a:cs typeface="DM Sans"/>
                <a:sym typeface="DM Sans"/>
                <a:hlinkClick r:id="rId4">
                  <a:extLst>
                    <a:ext uri="{A12FA001-AC4F-418D-AE19-62706E023703}">
                      <ahyp:hlinkClr val="tx"/>
                    </a:ext>
                  </a:extLst>
                </a:hlinkClick>
              </a:rPr>
              <a:t> </a:t>
            </a:r>
            <a:r>
              <a:rPr lang="es" u="sng">
                <a:solidFill>
                  <a:srgbClr val="0097A7"/>
                </a:solidFill>
                <a:latin typeface="DM Sans"/>
                <a:ea typeface="DM Sans"/>
                <a:cs typeface="DM Sans"/>
                <a:sym typeface="DM Sans"/>
                <a:hlinkClick r:id="rId5">
                  <a:extLst>
                    <a:ext uri="{A12FA001-AC4F-418D-AE19-62706E023703}">
                      <ahyp:hlinkClr val="tx"/>
                    </a:ext>
                  </a:extLst>
                </a:hlinkClick>
              </a:rPr>
              <a:t>Node &gt;= 14.0.0 y npm &gt;= 5.6</a:t>
            </a:r>
            <a:r>
              <a:rPr lang="es">
                <a:solidFill>
                  <a:srgbClr val="000000"/>
                </a:solidFill>
                <a:latin typeface="DM Sans"/>
                <a:ea typeface="DM Sans"/>
                <a:cs typeface="DM Sans"/>
                <a:sym typeface="DM Sans"/>
              </a:rPr>
              <a:t> instalados</a:t>
            </a:r>
            <a:endParaRPr b="1" sz="2000">
              <a:solidFill>
                <a:srgbClr val="E8E7E3"/>
              </a:solidFill>
              <a:latin typeface="DM Sans"/>
              <a:ea typeface="DM Sans"/>
              <a:cs typeface="DM Sans"/>
              <a:sym typeface="DM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2"/>
          <p:cNvSpPr/>
          <p:nvPr/>
        </p:nvSpPr>
        <p:spPr>
          <a:xfrm>
            <a:off x="647400" y="1189150"/>
            <a:ext cx="7849200" cy="33174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2"/>
          <p:cNvSpPr txBox="1"/>
          <p:nvPr/>
        </p:nvSpPr>
        <p:spPr>
          <a:xfrm>
            <a:off x="383250" y="345975"/>
            <a:ext cx="8380800" cy="66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Abrir la consola</a:t>
            </a:r>
            <a:endParaRPr b="1" sz="3500">
              <a:solidFill>
                <a:schemeClr val="lt1"/>
              </a:solidFill>
              <a:latin typeface="DM Sans"/>
              <a:ea typeface="DM Sans"/>
              <a:cs typeface="DM Sans"/>
              <a:sym typeface="DM Sans"/>
            </a:endParaRPr>
          </a:p>
        </p:txBody>
      </p:sp>
      <p:pic>
        <p:nvPicPr>
          <p:cNvPr id="451" name="Google Shape;451;p52"/>
          <p:cNvPicPr preferRelativeResize="0"/>
          <p:nvPr/>
        </p:nvPicPr>
        <p:blipFill>
          <a:blip r:embed="rId3">
            <a:alphaModFix/>
          </a:blip>
          <a:stretch>
            <a:fillRect/>
          </a:stretch>
        </p:blipFill>
        <p:spPr>
          <a:xfrm>
            <a:off x="1514126" y="1279775"/>
            <a:ext cx="1620875" cy="2785050"/>
          </a:xfrm>
          <a:prstGeom prst="rect">
            <a:avLst/>
          </a:prstGeom>
          <a:noFill/>
          <a:ln>
            <a:noFill/>
          </a:ln>
          <a:effectLst>
            <a:outerShdw blurRad="57150" rotWithShape="0" algn="bl" dir="5400000" dist="19050">
              <a:srgbClr val="000000">
                <a:alpha val="50000"/>
              </a:srgbClr>
            </a:outerShdw>
          </a:effectLst>
        </p:spPr>
      </p:pic>
      <p:pic>
        <p:nvPicPr>
          <p:cNvPr id="452" name="Google Shape;452;p52"/>
          <p:cNvPicPr preferRelativeResize="0"/>
          <p:nvPr/>
        </p:nvPicPr>
        <p:blipFill>
          <a:blip r:embed="rId4">
            <a:alphaModFix/>
          </a:blip>
          <a:stretch>
            <a:fillRect/>
          </a:stretch>
        </p:blipFill>
        <p:spPr>
          <a:xfrm>
            <a:off x="4143523" y="1333402"/>
            <a:ext cx="3616914" cy="2677796"/>
          </a:xfrm>
          <a:prstGeom prst="rect">
            <a:avLst/>
          </a:prstGeom>
          <a:noFill/>
          <a:ln>
            <a:noFill/>
          </a:ln>
          <a:effectLst>
            <a:outerShdw blurRad="57150" rotWithShape="0" algn="bl" dir="5400000" dist="19050">
              <a:srgbClr val="000000">
                <a:alpha val="50000"/>
              </a:srgbClr>
            </a:outerShdw>
          </a:effectLst>
        </p:spPr>
      </p:pic>
      <p:sp>
        <p:nvSpPr>
          <p:cNvPr id="453" name="Google Shape;453;p52"/>
          <p:cNvSpPr txBox="1"/>
          <p:nvPr/>
        </p:nvSpPr>
        <p:spPr>
          <a:xfrm>
            <a:off x="1485313" y="4064825"/>
            <a:ext cx="15261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highlight>
                  <a:schemeClr val="accent6"/>
                </a:highlight>
                <a:latin typeface="DM Sans"/>
                <a:ea typeface="DM Sans"/>
                <a:cs typeface="DM Sans"/>
                <a:sym typeface="DM Sans"/>
              </a:rPr>
              <a:t>En Windows</a:t>
            </a:r>
            <a:endParaRPr sz="1350">
              <a:highlight>
                <a:schemeClr val="accent6"/>
              </a:highlight>
              <a:latin typeface="DM Sans"/>
              <a:ea typeface="DM Sans"/>
              <a:cs typeface="DM Sans"/>
              <a:sym typeface="DM Sans"/>
            </a:endParaRPr>
          </a:p>
        </p:txBody>
      </p:sp>
      <p:sp>
        <p:nvSpPr>
          <p:cNvPr id="454" name="Google Shape;454;p52"/>
          <p:cNvSpPr txBox="1"/>
          <p:nvPr/>
        </p:nvSpPr>
        <p:spPr>
          <a:xfrm>
            <a:off x="4143525" y="4064825"/>
            <a:ext cx="15261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latin typeface="DM Sans"/>
                <a:ea typeface="DM Sans"/>
                <a:cs typeface="DM Sans"/>
                <a:sym typeface="DM Sans"/>
              </a:rPr>
              <a:t>En Linux</a:t>
            </a:r>
            <a:endParaRPr sz="1350">
              <a:latin typeface="DM Sans"/>
              <a:ea typeface="DM Sans"/>
              <a:cs typeface="DM Sans"/>
              <a:sym typeface="DM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3"/>
          <p:cNvSpPr/>
          <p:nvPr/>
        </p:nvSpPr>
        <p:spPr>
          <a:xfrm>
            <a:off x="649050" y="1250075"/>
            <a:ext cx="7849200" cy="33174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3"/>
          <p:cNvSpPr txBox="1"/>
          <p:nvPr/>
        </p:nvSpPr>
        <p:spPr>
          <a:xfrm>
            <a:off x="383250" y="345975"/>
            <a:ext cx="8380800" cy="66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Ubicarnos en un directorio específico</a:t>
            </a:r>
            <a:endParaRPr b="1" sz="3500">
              <a:solidFill>
                <a:schemeClr val="lt1"/>
              </a:solidFill>
              <a:latin typeface="DM Sans"/>
              <a:ea typeface="DM Sans"/>
              <a:cs typeface="DM Sans"/>
              <a:sym typeface="DM Sans"/>
            </a:endParaRPr>
          </a:p>
        </p:txBody>
      </p:sp>
      <p:sp>
        <p:nvSpPr>
          <p:cNvPr id="461" name="Google Shape;461;p53"/>
          <p:cNvSpPr txBox="1"/>
          <p:nvPr/>
        </p:nvSpPr>
        <p:spPr>
          <a:xfrm>
            <a:off x="4818650" y="1572000"/>
            <a:ext cx="3241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350">
                <a:latin typeface="DM Sans"/>
                <a:ea typeface="DM Sans"/>
                <a:cs typeface="DM Sans"/>
                <a:sym typeface="DM Sans"/>
              </a:rPr>
              <a:t>Con el comando </a:t>
            </a:r>
            <a:r>
              <a:rPr b="1" lang="es" sz="1350">
                <a:latin typeface="DM Sans"/>
                <a:ea typeface="DM Sans"/>
                <a:cs typeface="DM Sans"/>
                <a:sym typeface="DM Sans"/>
              </a:rPr>
              <a:t>cd </a:t>
            </a:r>
            <a:r>
              <a:rPr lang="es" sz="1350">
                <a:latin typeface="DM Sans"/>
                <a:ea typeface="DM Sans"/>
                <a:cs typeface="DM Sans"/>
                <a:sym typeface="DM Sans"/>
              </a:rPr>
              <a:t>podemos ingresar al directorio sobre el cual vamos a crear nuestra aplicación en </a:t>
            </a:r>
            <a:r>
              <a:rPr lang="es" sz="1350">
                <a:latin typeface="DM Sans"/>
                <a:ea typeface="DM Sans"/>
                <a:cs typeface="DM Sans"/>
                <a:sym typeface="DM Sans"/>
              </a:rPr>
              <a:t>React</a:t>
            </a:r>
            <a:r>
              <a:rPr lang="es" sz="1350">
                <a:latin typeface="DM Sans"/>
                <a:ea typeface="DM Sans"/>
                <a:cs typeface="DM Sans"/>
                <a:sym typeface="DM Sans"/>
              </a:rPr>
              <a:t>.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latin typeface="DM Sans"/>
                <a:ea typeface="DM Sans"/>
                <a:cs typeface="DM Sans"/>
                <a:sym typeface="DM Sans"/>
              </a:rPr>
              <a:t>Ejemplos:</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spcBef>
                <a:spcPts val="0"/>
              </a:spcBef>
              <a:spcAft>
                <a:spcPts val="0"/>
              </a:spcAft>
              <a:buNone/>
            </a:pPr>
            <a:r>
              <a:rPr lang="es" sz="1350">
                <a:latin typeface="DM Sans"/>
                <a:ea typeface="DM Sans"/>
                <a:cs typeface="DM Sans"/>
                <a:sym typeface="DM Sans"/>
              </a:rPr>
              <a:t>Movernos a react/mitienda en el directorio actual</a:t>
            </a:r>
            <a:endParaRPr sz="1350">
              <a:latin typeface="DM Sans"/>
              <a:ea typeface="DM Sans"/>
              <a:cs typeface="DM Sans"/>
              <a:sym typeface="DM Sans"/>
            </a:endParaRPr>
          </a:p>
          <a:p>
            <a:pPr indent="0" lvl="0" marL="0" rtl="0" algn="l">
              <a:spcBef>
                <a:spcPts val="0"/>
              </a:spcBef>
              <a:spcAft>
                <a:spcPts val="0"/>
              </a:spcAft>
              <a:buNone/>
            </a:pPr>
            <a:r>
              <a:rPr b="1" lang="es" sz="1350">
                <a:solidFill>
                  <a:srgbClr val="E8E7E3"/>
                </a:solidFill>
                <a:highlight>
                  <a:schemeClr val="dk2"/>
                </a:highlight>
                <a:latin typeface="Ubuntu Mono"/>
                <a:ea typeface="Ubuntu Mono"/>
                <a:cs typeface="Ubuntu Mono"/>
                <a:sym typeface="Ubuntu Mono"/>
              </a:rPr>
              <a:t>cd react/mitienda</a:t>
            </a:r>
            <a:endParaRPr b="1" sz="1350">
              <a:solidFill>
                <a:srgbClr val="E8E7E3"/>
              </a:solidFill>
              <a:highlight>
                <a:schemeClr val="dk2"/>
              </a:highlight>
              <a:latin typeface="Ubuntu Mono"/>
              <a:ea typeface="Ubuntu Mono"/>
              <a:cs typeface="Ubuntu Mono"/>
              <a:sym typeface="Ubuntu Mono"/>
            </a:endParaRPr>
          </a:p>
          <a:p>
            <a:pPr indent="0" lvl="0" marL="0" rtl="0" algn="l">
              <a:spcBef>
                <a:spcPts val="0"/>
              </a:spcBef>
              <a:spcAft>
                <a:spcPts val="0"/>
              </a:spcAft>
              <a:buNone/>
            </a:pPr>
            <a:r>
              <a:t/>
            </a:r>
            <a:endParaRPr b="1" sz="1350">
              <a:latin typeface="Ubuntu Mono"/>
              <a:ea typeface="Ubuntu Mono"/>
              <a:cs typeface="Ubuntu Mono"/>
              <a:sym typeface="Ubuntu Mono"/>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Movernos un nivel arriba</a:t>
            </a:r>
            <a:endParaRPr b="1" sz="1350">
              <a:latin typeface="Ubuntu Mono"/>
              <a:ea typeface="Ubuntu Mono"/>
              <a:cs typeface="Ubuntu Mono"/>
              <a:sym typeface="Ubuntu Mono"/>
            </a:endParaRPr>
          </a:p>
          <a:p>
            <a:pPr indent="0" lvl="0" marL="0" rtl="0" algn="l">
              <a:spcBef>
                <a:spcPts val="0"/>
              </a:spcBef>
              <a:spcAft>
                <a:spcPts val="0"/>
              </a:spcAft>
              <a:buNone/>
            </a:pPr>
            <a:r>
              <a:rPr b="1" lang="es" sz="1350">
                <a:solidFill>
                  <a:schemeClr val="lt2"/>
                </a:solidFill>
                <a:highlight>
                  <a:schemeClr val="dk2"/>
                </a:highlight>
                <a:latin typeface="Ubuntu Mono"/>
                <a:ea typeface="Ubuntu Mono"/>
                <a:cs typeface="Ubuntu Mono"/>
                <a:sym typeface="Ubuntu Mono"/>
              </a:rPr>
              <a:t>cd ..</a:t>
            </a:r>
            <a:endParaRPr b="1" sz="1350">
              <a:solidFill>
                <a:schemeClr val="lt2"/>
              </a:solidFill>
              <a:highlight>
                <a:schemeClr val="dk2"/>
              </a:highlight>
              <a:latin typeface="Ubuntu Mono"/>
              <a:ea typeface="Ubuntu Mono"/>
              <a:cs typeface="Ubuntu Mono"/>
              <a:sym typeface="Ubuntu Mono"/>
            </a:endParaRPr>
          </a:p>
        </p:txBody>
      </p:sp>
      <p:pic>
        <p:nvPicPr>
          <p:cNvPr id="462" name="Google Shape;462;p53"/>
          <p:cNvPicPr preferRelativeResize="0"/>
          <p:nvPr/>
        </p:nvPicPr>
        <p:blipFill>
          <a:blip r:embed="rId3">
            <a:alphaModFix/>
          </a:blip>
          <a:stretch>
            <a:fillRect/>
          </a:stretch>
        </p:blipFill>
        <p:spPr>
          <a:xfrm>
            <a:off x="1472531" y="2948166"/>
            <a:ext cx="3061592" cy="665209"/>
          </a:xfrm>
          <a:prstGeom prst="rect">
            <a:avLst/>
          </a:prstGeom>
          <a:noFill/>
          <a:ln>
            <a:noFill/>
          </a:ln>
        </p:spPr>
      </p:pic>
      <p:pic>
        <p:nvPicPr>
          <p:cNvPr id="463" name="Google Shape;463;p53"/>
          <p:cNvPicPr preferRelativeResize="0"/>
          <p:nvPr/>
        </p:nvPicPr>
        <p:blipFill>
          <a:blip r:embed="rId4">
            <a:alphaModFix/>
          </a:blip>
          <a:stretch>
            <a:fillRect/>
          </a:stretch>
        </p:blipFill>
        <p:spPr>
          <a:xfrm>
            <a:off x="1472525" y="1775225"/>
            <a:ext cx="3061600" cy="80531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4"/>
          <p:cNvSpPr/>
          <p:nvPr/>
        </p:nvSpPr>
        <p:spPr>
          <a:xfrm>
            <a:off x="647400" y="1189150"/>
            <a:ext cx="7849200" cy="33174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4"/>
          <p:cNvSpPr txBox="1"/>
          <p:nvPr/>
        </p:nvSpPr>
        <p:spPr>
          <a:xfrm>
            <a:off x="383250" y="345975"/>
            <a:ext cx="8380800" cy="66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chemeClr val="dk1"/>
              </a:buClr>
              <a:buSzPts val="1100"/>
              <a:buFont typeface="Arial"/>
              <a:buNone/>
            </a:pPr>
            <a:r>
              <a:rPr b="1" lang="es" sz="3500">
                <a:solidFill>
                  <a:schemeClr val="lt1"/>
                </a:solidFill>
                <a:latin typeface="DM Sans"/>
                <a:ea typeface="DM Sans"/>
                <a:cs typeface="DM Sans"/>
                <a:sym typeface="DM Sans"/>
              </a:rPr>
              <a:t>Instalar React JS</a:t>
            </a:r>
            <a:endParaRPr b="1" sz="3500">
              <a:solidFill>
                <a:schemeClr val="lt1"/>
              </a:solidFill>
              <a:latin typeface="DM Sans"/>
              <a:ea typeface="DM Sans"/>
              <a:cs typeface="DM Sans"/>
              <a:sym typeface="DM Sans"/>
            </a:endParaRPr>
          </a:p>
        </p:txBody>
      </p:sp>
      <p:sp>
        <p:nvSpPr>
          <p:cNvPr id="470" name="Google Shape;470;p54"/>
          <p:cNvSpPr txBox="1"/>
          <p:nvPr/>
        </p:nvSpPr>
        <p:spPr>
          <a:xfrm>
            <a:off x="957825" y="1819075"/>
            <a:ext cx="6992100" cy="37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t/>
            </a:r>
            <a:endParaRPr sz="1350"/>
          </a:p>
        </p:txBody>
      </p:sp>
      <p:pic>
        <p:nvPicPr>
          <p:cNvPr id="471" name="Google Shape;471;p54"/>
          <p:cNvPicPr preferRelativeResize="0"/>
          <p:nvPr/>
        </p:nvPicPr>
        <p:blipFill rotWithShape="1">
          <a:blip r:embed="rId3">
            <a:alphaModFix/>
          </a:blip>
          <a:srcRect b="10313" l="0" r="0" t="0"/>
          <a:stretch/>
        </p:blipFill>
        <p:spPr>
          <a:xfrm>
            <a:off x="2248100" y="2397475"/>
            <a:ext cx="4283200" cy="1154400"/>
          </a:xfrm>
          <a:prstGeom prst="rect">
            <a:avLst/>
          </a:prstGeom>
          <a:noFill/>
          <a:ln>
            <a:noFill/>
          </a:ln>
        </p:spPr>
      </p:pic>
      <p:sp>
        <p:nvSpPr>
          <p:cNvPr id="472" name="Google Shape;472;p54"/>
          <p:cNvSpPr txBox="1"/>
          <p:nvPr/>
        </p:nvSpPr>
        <p:spPr>
          <a:xfrm>
            <a:off x="893650" y="1342075"/>
            <a:ext cx="6992100" cy="1119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s" sz="1350">
                <a:solidFill>
                  <a:schemeClr val="dk1"/>
                </a:solidFill>
                <a:latin typeface="DM Sans"/>
                <a:ea typeface="DM Sans"/>
                <a:cs typeface="DM Sans"/>
                <a:sym typeface="DM Sans"/>
              </a:rPr>
              <a:t>Utiliza el comando</a:t>
            </a:r>
            <a:r>
              <a:rPr b="1" lang="es" sz="1350">
                <a:solidFill>
                  <a:schemeClr val="dk1"/>
                </a:solidFill>
                <a:latin typeface="DM Sans"/>
                <a:ea typeface="DM Sans"/>
                <a:cs typeface="DM Sans"/>
                <a:sym typeface="DM Sans"/>
              </a:rPr>
              <a:t> npx create-react-app </a:t>
            </a:r>
            <a:r>
              <a:rPr lang="es" sz="1350">
                <a:solidFill>
                  <a:schemeClr val="dk1"/>
                </a:solidFill>
                <a:latin typeface="DM Sans"/>
                <a:ea typeface="DM Sans"/>
                <a:cs typeface="DM Sans"/>
                <a:sym typeface="DM Sans"/>
              </a:rPr>
              <a:t>para descargar el entorno preconfigurado e instalar todas las dependencias necesarias para ejecutar React. </a:t>
            </a:r>
            <a:br>
              <a:rPr lang="es" sz="1350">
                <a:solidFill>
                  <a:schemeClr val="dk1"/>
                </a:solidFill>
                <a:latin typeface="DM Sans"/>
                <a:ea typeface="DM Sans"/>
                <a:cs typeface="DM Sans"/>
                <a:sym typeface="DM Sans"/>
              </a:rPr>
            </a:br>
            <a:r>
              <a:rPr lang="es" sz="1350">
                <a:solidFill>
                  <a:schemeClr val="dk1"/>
                </a:solidFill>
                <a:latin typeface="DM Sans"/>
                <a:ea typeface="DM Sans"/>
                <a:cs typeface="DM Sans"/>
                <a:sym typeface="DM Sans"/>
              </a:rPr>
              <a:t>A </a:t>
            </a:r>
            <a:r>
              <a:rPr b="1" lang="es" sz="1350">
                <a:solidFill>
                  <a:schemeClr val="dk1"/>
                </a:solidFill>
                <a:latin typeface="DM Sans"/>
                <a:ea typeface="DM Sans"/>
                <a:cs typeface="DM Sans"/>
                <a:sym typeface="DM Sans"/>
              </a:rPr>
              <a:t>npx </a:t>
            </a:r>
            <a:r>
              <a:rPr lang="es" sz="1350">
                <a:solidFill>
                  <a:schemeClr val="dk1"/>
                </a:solidFill>
                <a:latin typeface="DM Sans"/>
                <a:ea typeface="DM Sans"/>
                <a:cs typeface="DM Sans"/>
                <a:sym typeface="DM Sans"/>
              </a:rPr>
              <a:t>es un comando especial de </a:t>
            </a:r>
            <a:r>
              <a:rPr b="1" lang="es" sz="1350">
                <a:solidFill>
                  <a:schemeClr val="dk1"/>
                </a:solidFill>
                <a:latin typeface="DM Sans"/>
                <a:ea typeface="DM Sans"/>
                <a:cs typeface="DM Sans"/>
                <a:sym typeface="DM Sans"/>
              </a:rPr>
              <a:t>npm </a:t>
            </a:r>
            <a:r>
              <a:rPr lang="es" sz="1350">
                <a:solidFill>
                  <a:schemeClr val="dk1"/>
                </a:solidFill>
                <a:latin typeface="DM Sans"/>
                <a:ea typeface="DM Sans"/>
                <a:cs typeface="DM Sans"/>
                <a:sym typeface="DM Sans"/>
              </a:rPr>
              <a:t>que permite ejecutar comandos y módulos de forma remota, sin necesidad de instalar nada de forma local</a:t>
            </a:r>
            <a:endParaRPr sz="1350">
              <a:solidFill>
                <a:schemeClr val="dk1"/>
              </a:solidFill>
            </a:endParaRPr>
          </a:p>
          <a:p>
            <a:pPr indent="0" lvl="0" marL="0" rtl="0" algn="l">
              <a:lnSpc>
                <a:spcPct val="90000"/>
              </a:lnSpc>
              <a:spcBef>
                <a:spcPts val="0"/>
              </a:spcBef>
              <a:spcAft>
                <a:spcPts val="0"/>
              </a:spcAft>
              <a:buNone/>
            </a:pPr>
            <a:r>
              <a:t/>
            </a:r>
            <a:endParaRPr sz="1350">
              <a:solidFill>
                <a:schemeClr val="dk1"/>
              </a:solidFill>
              <a:latin typeface="DM Sans"/>
              <a:ea typeface="DM Sans"/>
              <a:cs typeface="DM Sans"/>
              <a:sym typeface="DM Sans"/>
            </a:endParaRPr>
          </a:p>
        </p:txBody>
      </p:sp>
      <p:sp>
        <p:nvSpPr>
          <p:cNvPr id="473" name="Google Shape;473;p54"/>
          <p:cNvSpPr txBox="1"/>
          <p:nvPr/>
        </p:nvSpPr>
        <p:spPr>
          <a:xfrm>
            <a:off x="782125" y="3833550"/>
            <a:ext cx="6992100" cy="55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1350">
                <a:solidFill>
                  <a:schemeClr val="dk1"/>
                </a:solidFill>
                <a:latin typeface="DM Sans"/>
                <a:ea typeface="DM Sans"/>
                <a:cs typeface="DM Sans"/>
                <a:sym typeface="DM Sans"/>
              </a:rPr>
              <a:t>TIP: </a:t>
            </a:r>
            <a:r>
              <a:rPr lang="es" sz="1350">
                <a:solidFill>
                  <a:schemeClr val="dk1"/>
                </a:solidFill>
                <a:latin typeface="DM Sans"/>
                <a:ea typeface="DM Sans"/>
                <a:cs typeface="DM Sans"/>
                <a:sym typeface="DM Sans"/>
              </a:rPr>
              <a:t>puedes utilizar un punto “.” en lugar del nombre de una carpeta, para crear el entorno en la carpeta actual</a:t>
            </a:r>
            <a:endParaRPr sz="1350">
              <a:solidFill>
                <a:schemeClr val="dk1"/>
              </a:solidFill>
              <a:latin typeface="DM Sans"/>
              <a:ea typeface="DM Sans"/>
              <a:cs typeface="DM Sans"/>
              <a:sym typeface="DM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5"/>
          <p:cNvSpPr/>
          <p:nvPr/>
        </p:nvSpPr>
        <p:spPr>
          <a:xfrm>
            <a:off x="647400" y="1189150"/>
            <a:ext cx="7849200" cy="33174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5"/>
          <p:cNvSpPr txBox="1"/>
          <p:nvPr/>
        </p:nvSpPr>
        <p:spPr>
          <a:xfrm>
            <a:off x="383250" y="345975"/>
            <a:ext cx="8380800" cy="66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Alternativa: Instalar CRA</a:t>
            </a:r>
            <a:endParaRPr b="1" sz="3500">
              <a:solidFill>
                <a:schemeClr val="lt1"/>
              </a:solidFill>
              <a:latin typeface="DM Sans"/>
              <a:ea typeface="DM Sans"/>
              <a:cs typeface="DM Sans"/>
              <a:sym typeface="DM Sans"/>
            </a:endParaRPr>
          </a:p>
        </p:txBody>
      </p:sp>
      <p:sp>
        <p:nvSpPr>
          <p:cNvPr id="480" name="Google Shape;480;p55"/>
          <p:cNvSpPr txBox="1"/>
          <p:nvPr/>
        </p:nvSpPr>
        <p:spPr>
          <a:xfrm>
            <a:off x="5415700" y="1605725"/>
            <a:ext cx="2673300" cy="8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latin typeface="DM Sans"/>
                <a:ea typeface="DM Sans"/>
                <a:cs typeface="DM Sans"/>
                <a:sym typeface="DM Sans"/>
              </a:rPr>
              <a:t>Debemos ejecutar el comando </a:t>
            </a:r>
            <a:endParaRPr sz="1350">
              <a:latin typeface="DM Sans"/>
              <a:ea typeface="DM Sans"/>
              <a:cs typeface="DM Sans"/>
              <a:sym typeface="DM Sans"/>
            </a:endParaRPr>
          </a:p>
          <a:p>
            <a:pPr indent="0" lvl="0" marL="0" rtl="0" algn="l">
              <a:spcBef>
                <a:spcPts val="0"/>
              </a:spcBef>
              <a:spcAft>
                <a:spcPts val="0"/>
              </a:spcAft>
              <a:buNone/>
            </a:pPr>
            <a:r>
              <a:rPr b="1" lang="es" sz="1350">
                <a:latin typeface="DM Sans"/>
                <a:ea typeface="DM Sans"/>
                <a:cs typeface="DM Sans"/>
                <a:sym typeface="DM Sans"/>
              </a:rPr>
              <a:t>npm install -g create-react-app</a:t>
            </a:r>
            <a:endParaRPr b="1" sz="1350">
              <a:latin typeface="DM Sans"/>
              <a:ea typeface="DM Sans"/>
              <a:cs typeface="DM Sans"/>
              <a:sym typeface="DM Sans"/>
            </a:endParaRPr>
          </a:p>
        </p:txBody>
      </p:sp>
      <p:pic>
        <p:nvPicPr>
          <p:cNvPr id="481" name="Google Shape;481;p55"/>
          <p:cNvPicPr preferRelativeResize="0"/>
          <p:nvPr/>
        </p:nvPicPr>
        <p:blipFill>
          <a:blip r:embed="rId3">
            <a:alphaModFix/>
          </a:blip>
          <a:stretch>
            <a:fillRect/>
          </a:stretch>
        </p:blipFill>
        <p:spPr>
          <a:xfrm>
            <a:off x="808913" y="1746188"/>
            <a:ext cx="4488025" cy="628650"/>
          </a:xfrm>
          <a:prstGeom prst="rect">
            <a:avLst/>
          </a:prstGeom>
          <a:noFill/>
          <a:ln>
            <a:noFill/>
          </a:ln>
        </p:spPr>
      </p:pic>
      <p:pic>
        <p:nvPicPr>
          <p:cNvPr id="482" name="Google Shape;482;p55"/>
          <p:cNvPicPr preferRelativeResize="0"/>
          <p:nvPr/>
        </p:nvPicPr>
        <p:blipFill rotWithShape="1">
          <a:blip r:embed="rId4">
            <a:alphaModFix/>
          </a:blip>
          <a:srcRect b="0" l="0" r="7791" t="0"/>
          <a:stretch/>
        </p:blipFill>
        <p:spPr>
          <a:xfrm>
            <a:off x="808926" y="3352425"/>
            <a:ext cx="4488025" cy="771525"/>
          </a:xfrm>
          <a:prstGeom prst="rect">
            <a:avLst/>
          </a:prstGeom>
          <a:noFill/>
          <a:ln>
            <a:noFill/>
          </a:ln>
        </p:spPr>
      </p:pic>
      <p:sp>
        <p:nvSpPr>
          <p:cNvPr id="483" name="Google Shape;483;p55"/>
          <p:cNvSpPr txBox="1"/>
          <p:nvPr/>
        </p:nvSpPr>
        <p:spPr>
          <a:xfrm>
            <a:off x="5415700" y="3004050"/>
            <a:ext cx="2840700" cy="93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1350">
                <a:solidFill>
                  <a:schemeClr val="dk1"/>
                </a:solidFill>
                <a:latin typeface="DM Sans"/>
                <a:ea typeface="DM Sans"/>
                <a:cs typeface="DM Sans"/>
                <a:sym typeface="DM Sans"/>
              </a:rPr>
              <a:t>Crear la aplicación</a:t>
            </a:r>
            <a:endParaRPr b="1" sz="135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t/>
            </a:r>
            <a:endParaRPr b="1" sz="135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rPr lang="es" sz="1350">
                <a:solidFill>
                  <a:schemeClr val="dk1"/>
                </a:solidFill>
                <a:latin typeface="DM Sans"/>
                <a:ea typeface="DM Sans"/>
                <a:cs typeface="DM Sans"/>
                <a:sym typeface="DM Sans"/>
              </a:rPr>
              <a:t>Debemos ejecutar  create-react-app my-app</a:t>
            </a:r>
            <a:endParaRPr sz="1350">
              <a:solidFill>
                <a:schemeClr val="dk1"/>
              </a:solidFill>
              <a:latin typeface="DM Sans"/>
              <a:ea typeface="DM Sans"/>
              <a:cs typeface="DM Sans"/>
              <a:sym typeface="DM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6"/>
          <p:cNvSpPr/>
          <p:nvPr/>
        </p:nvSpPr>
        <p:spPr>
          <a:xfrm>
            <a:off x="647400" y="1189150"/>
            <a:ext cx="7849200" cy="33174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56"/>
          <p:cNvSpPr txBox="1"/>
          <p:nvPr/>
        </p:nvSpPr>
        <p:spPr>
          <a:xfrm>
            <a:off x="383250" y="345975"/>
            <a:ext cx="8380800" cy="66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Ejecutar aplicación en el navegador</a:t>
            </a:r>
            <a:endParaRPr b="1" sz="3500">
              <a:solidFill>
                <a:schemeClr val="lt1"/>
              </a:solidFill>
              <a:latin typeface="DM Sans"/>
              <a:ea typeface="DM Sans"/>
              <a:cs typeface="DM Sans"/>
              <a:sym typeface="DM Sans"/>
            </a:endParaRPr>
          </a:p>
        </p:txBody>
      </p:sp>
      <p:sp>
        <p:nvSpPr>
          <p:cNvPr id="490" name="Google Shape;490;p56"/>
          <p:cNvSpPr txBox="1"/>
          <p:nvPr/>
        </p:nvSpPr>
        <p:spPr>
          <a:xfrm>
            <a:off x="5487125" y="1593325"/>
            <a:ext cx="2442300" cy="1680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s" sz="1350">
                <a:solidFill>
                  <a:schemeClr val="dk1"/>
                </a:solidFill>
                <a:latin typeface="DM Sans"/>
                <a:ea typeface="DM Sans"/>
                <a:cs typeface="DM Sans"/>
                <a:sym typeface="DM Sans"/>
              </a:rPr>
              <a:t>Para ejecutar una aplicación y poder acceder desde el navegador, debemos ejecutar (dentro del directorio de la aplicación creada) </a:t>
            </a:r>
            <a:endParaRPr sz="135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t/>
            </a:r>
            <a:endParaRPr sz="135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rPr b="1" lang="es" sz="1350">
                <a:solidFill>
                  <a:schemeClr val="dk1"/>
                </a:solidFill>
                <a:latin typeface="DM Sans"/>
                <a:ea typeface="DM Sans"/>
                <a:cs typeface="DM Sans"/>
                <a:sym typeface="DM Sans"/>
              </a:rPr>
              <a:t>npm start</a:t>
            </a:r>
            <a:endParaRPr b="1" sz="1350">
              <a:solidFill>
                <a:schemeClr val="dk1"/>
              </a:solidFill>
              <a:latin typeface="DM Sans"/>
              <a:ea typeface="DM Sans"/>
              <a:cs typeface="DM Sans"/>
              <a:sym typeface="DM Sans"/>
            </a:endParaRPr>
          </a:p>
        </p:txBody>
      </p:sp>
      <p:pic>
        <p:nvPicPr>
          <p:cNvPr id="491" name="Google Shape;491;p56"/>
          <p:cNvPicPr preferRelativeResize="0"/>
          <p:nvPr/>
        </p:nvPicPr>
        <p:blipFill>
          <a:blip r:embed="rId3">
            <a:alphaModFix/>
          </a:blip>
          <a:stretch>
            <a:fillRect/>
          </a:stretch>
        </p:blipFill>
        <p:spPr>
          <a:xfrm>
            <a:off x="1222600" y="1593313"/>
            <a:ext cx="4020100" cy="239351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7"/>
          <p:cNvSpPr/>
          <p:nvPr/>
        </p:nvSpPr>
        <p:spPr>
          <a:xfrm>
            <a:off x="717575" y="1169100"/>
            <a:ext cx="7849200" cy="33174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7"/>
          <p:cNvSpPr txBox="1"/>
          <p:nvPr/>
        </p:nvSpPr>
        <p:spPr>
          <a:xfrm>
            <a:off x="383250" y="345975"/>
            <a:ext cx="8380800" cy="66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Ejecutar aplicación en el navegador</a:t>
            </a:r>
            <a:endParaRPr b="1" sz="3500">
              <a:solidFill>
                <a:schemeClr val="lt1"/>
              </a:solidFill>
              <a:latin typeface="DM Sans"/>
              <a:ea typeface="DM Sans"/>
              <a:cs typeface="DM Sans"/>
              <a:sym typeface="DM Sans"/>
            </a:endParaRPr>
          </a:p>
        </p:txBody>
      </p:sp>
      <p:sp>
        <p:nvSpPr>
          <p:cNvPr id="498" name="Google Shape;498;p57"/>
          <p:cNvSpPr txBox="1"/>
          <p:nvPr/>
        </p:nvSpPr>
        <p:spPr>
          <a:xfrm>
            <a:off x="5527225" y="1692975"/>
            <a:ext cx="2442300" cy="1119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s" sz="1350">
                <a:solidFill>
                  <a:schemeClr val="dk1"/>
                </a:solidFill>
                <a:latin typeface="DM Sans"/>
                <a:ea typeface="DM Sans"/>
                <a:cs typeface="DM Sans"/>
                <a:sym typeface="DM Sans"/>
              </a:rPr>
              <a:t>Ahora, debemos escribir la dirección obtenida (Ej:localhost:3000) en tu navegador y el resultado obtenido será el siguiente:</a:t>
            </a:r>
            <a:endParaRPr sz="1350">
              <a:solidFill>
                <a:schemeClr val="dk1"/>
              </a:solidFill>
              <a:latin typeface="DM Sans"/>
              <a:ea typeface="DM Sans"/>
              <a:cs typeface="DM Sans"/>
              <a:sym typeface="DM Sans"/>
            </a:endParaRPr>
          </a:p>
        </p:txBody>
      </p:sp>
      <p:pic>
        <p:nvPicPr>
          <p:cNvPr id="499" name="Google Shape;499;p57"/>
          <p:cNvPicPr preferRelativeResize="0"/>
          <p:nvPr/>
        </p:nvPicPr>
        <p:blipFill>
          <a:blip r:embed="rId3">
            <a:alphaModFix/>
          </a:blip>
          <a:stretch>
            <a:fillRect/>
          </a:stretch>
        </p:blipFill>
        <p:spPr>
          <a:xfrm>
            <a:off x="955575" y="1585375"/>
            <a:ext cx="4357500" cy="23241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grpSp>
        <p:nvGrpSpPr>
          <p:cNvPr id="504" name="Google Shape;504;p58"/>
          <p:cNvGrpSpPr/>
          <p:nvPr/>
        </p:nvGrpSpPr>
        <p:grpSpPr>
          <a:xfrm>
            <a:off x="457347" y="468297"/>
            <a:ext cx="431074" cy="431074"/>
            <a:chOff x="974706" y="2467173"/>
            <a:chExt cx="738900" cy="738900"/>
          </a:xfrm>
        </p:grpSpPr>
        <p:sp>
          <p:nvSpPr>
            <p:cNvPr id="505" name="Google Shape;505;p58"/>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6" name="Google Shape;506;p58"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507" name="Google Shape;507;p58"/>
          <p:cNvSpPr txBox="1"/>
          <p:nvPr/>
        </p:nvSpPr>
        <p:spPr>
          <a:xfrm>
            <a:off x="501450" y="1081750"/>
            <a:ext cx="4987200" cy="2401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Crea un entorno de React en Node</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Clr>
                <a:schemeClr val="dk1"/>
              </a:buClr>
              <a:buSzPts val="1100"/>
              <a:buFont typeface="Arial"/>
              <a:buNone/>
            </a:pPr>
            <a:r>
              <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t/>
            </a:r>
            <a:endParaRPr b="1" sz="4000">
              <a:solidFill>
                <a:schemeClr val="dk1"/>
              </a:solidFill>
              <a:latin typeface="DM Sans"/>
              <a:ea typeface="DM Sans"/>
              <a:cs typeface="DM Sans"/>
              <a:sym typeface="DM Sans"/>
            </a:endParaRPr>
          </a:p>
        </p:txBody>
      </p:sp>
      <p:pic>
        <p:nvPicPr>
          <p:cNvPr id="508" name="Google Shape;508;p58"/>
          <p:cNvPicPr preferRelativeResize="0"/>
          <p:nvPr/>
        </p:nvPicPr>
        <p:blipFill>
          <a:blip r:embed="rId4">
            <a:alphaModFix/>
          </a:blip>
          <a:stretch>
            <a:fillRect/>
          </a:stretch>
        </p:blipFill>
        <p:spPr>
          <a:xfrm>
            <a:off x="7811413" y="4692275"/>
            <a:ext cx="1150750" cy="267575"/>
          </a:xfrm>
          <a:prstGeom prst="rect">
            <a:avLst/>
          </a:prstGeom>
          <a:noFill/>
          <a:ln>
            <a:noFill/>
          </a:ln>
        </p:spPr>
      </p:pic>
      <p:sp>
        <p:nvSpPr>
          <p:cNvPr id="509" name="Google Shape;509;p58"/>
          <p:cNvSpPr txBox="1"/>
          <p:nvPr/>
        </p:nvSpPr>
        <p:spPr>
          <a:xfrm>
            <a:off x="549525" y="2710950"/>
            <a:ext cx="6978000" cy="16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50">
                <a:latin typeface="DM Sans"/>
                <a:ea typeface="DM Sans"/>
                <a:cs typeface="DM Sans"/>
                <a:sym typeface="DM Sans"/>
              </a:rPr>
              <a:t>Descripción de la actividad. </a:t>
            </a:r>
            <a:endParaRPr b="1"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rPr lang="es" sz="1350">
                <a:latin typeface="DM Sans"/>
                <a:ea typeface="DM Sans"/>
                <a:cs typeface="DM Sans"/>
                <a:sym typeface="DM Sans"/>
              </a:rPr>
              <a:t>Crea una aplicación desde la </a:t>
            </a:r>
            <a:r>
              <a:rPr b="1" lang="es" sz="1350">
                <a:latin typeface="DM Sans"/>
                <a:ea typeface="DM Sans"/>
                <a:cs typeface="DM Sans"/>
                <a:sym typeface="DM Sans"/>
              </a:rPr>
              <a:t>CLI </a:t>
            </a:r>
            <a:r>
              <a:rPr lang="es" sz="1350">
                <a:latin typeface="DM Sans"/>
                <a:ea typeface="DM Sans"/>
                <a:cs typeface="DM Sans"/>
                <a:sym typeface="DM Sans"/>
              </a:rPr>
              <a:t>utilizando el </a:t>
            </a:r>
            <a:r>
              <a:rPr b="1" lang="es" sz="1350" u="sng">
                <a:solidFill>
                  <a:schemeClr val="hlink"/>
                </a:solidFill>
                <a:latin typeface="DM Sans"/>
                <a:ea typeface="DM Sans"/>
                <a:cs typeface="DM Sans"/>
                <a:sym typeface="DM Sans"/>
                <a:hlinkClick r:id="rId5"/>
              </a:rPr>
              <a:t>módulo NPM create-react-app</a:t>
            </a:r>
            <a:r>
              <a:rPr lang="es" sz="1350">
                <a:latin typeface="DM Sans"/>
                <a:ea typeface="DM Sans"/>
                <a:cs typeface="DM Sans"/>
                <a:sym typeface="DM Sans"/>
              </a:rPr>
              <a:t>. Ejecuta los comandos necesarios para instalar React junto a sus dependencias y para visualizarlo en tu navegador.</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p:txBody>
      </p:sp>
      <p:sp>
        <p:nvSpPr>
          <p:cNvPr id="510" name="Google Shape;510;p58"/>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ACTIVIDAD</a:t>
            </a:r>
            <a:endParaRPr>
              <a:latin typeface="DM Sans"/>
              <a:ea typeface="DM Sans"/>
              <a:cs typeface="DM Sans"/>
              <a:sym typeface="DM Sans"/>
            </a:endParaRPr>
          </a:p>
        </p:txBody>
      </p:sp>
      <p:pic>
        <p:nvPicPr>
          <p:cNvPr id="511" name="Google Shape;511;p58"/>
          <p:cNvPicPr preferRelativeResize="0"/>
          <p:nvPr/>
        </p:nvPicPr>
        <p:blipFill>
          <a:blip r:embed="rId4">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grpSp>
        <p:nvGrpSpPr>
          <p:cNvPr id="516" name="Google Shape;516;p59"/>
          <p:cNvGrpSpPr/>
          <p:nvPr/>
        </p:nvGrpSpPr>
        <p:grpSpPr>
          <a:xfrm>
            <a:off x="2172088" y="1852650"/>
            <a:ext cx="197100" cy="197100"/>
            <a:chOff x="2172088" y="1852650"/>
            <a:chExt cx="197100" cy="197100"/>
          </a:xfrm>
        </p:grpSpPr>
        <p:sp>
          <p:nvSpPr>
            <p:cNvPr id="517" name="Google Shape;517;p59"/>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59"/>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 name="Google Shape;519;p59"/>
          <p:cNvGrpSpPr/>
          <p:nvPr/>
        </p:nvGrpSpPr>
        <p:grpSpPr>
          <a:xfrm>
            <a:off x="2172088" y="2455775"/>
            <a:ext cx="197100" cy="197100"/>
            <a:chOff x="2172088" y="2455775"/>
            <a:chExt cx="197100" cy="197100"/>
          </a:xfrm>
        </p:grpSpPr>
        <p:sp>
          <p:nvSpPr>
            <p:cNvPr id="520" name="Google Shape;520;p59"/>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59"/>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22" name="Google Shape;522;p59"/>
          <p:cNvCxnSpPr>
            <a:endCxn id="520"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523" name="Google Shape;523;p59"/>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524" name="Google Shape;524;p59"/>
          <p:cNvSpPr txBox="1"/>
          <p:nvPr/>
        </p:nvSpPr>
        <p:spPr>
          <a:xfrm>
            <a:off x="2690575" y="1731425"/>
            <a:ext cx="44292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Descargamos e instalamos </a:t>
            </a:r>
            <a:r>
              <a:rPr b="1" lang="es" sz="1350">
                <a:solidFill>
                  <a:schemeClr val="dk1"/>
                </a:solidFill>
                <a:latin typeface="DM Sans"/>
                <a:ea typeface="DM Sans"/>
                <a:cs typeface="DM Sans"/>
                <a:sym typeface="DM Sans"/>
              </a:rPr>
              <a:t>Node</a:t>
            </a:r>
            <a:r>
              <a:rPr b="1" lang="es" sz="1350">
                <a:solidFill>
                  <a:schemeClr val="dk1"/>
                </a:solidFill>
                <a:latin typeface="DM Sans"/>
                <a:ea typeface="DM Sans"/>
                <a:cs typeface="DM Sans"/>
                <a:sym typeface="DM Sans"/>
              </a:rPr>
              <a:t> </a:t>
            </a:r>
            <a:r>
              <a:rPr lang="es" sz="1350">
                <a:solidFill>
                  <a:schemeClr val="dk1"/>
                </a:solidFill>
                <a:latin typeface="DM Sans"/>
                <a:ea typeface="DM Sans"/>
                <a:cs typeface="DM Sans"/>
                <a:sym typeface="DM Sans"/>
              </a:rPr>
              <a:t>(si no lo teníamos).</a:t>
            </a:r>
            <a:endParaRPr sz="1350">
              <a:solidFill>
                <a:schemeClr val="dk1"/>
              </a:solidFill>
              <a:latin typeface="DM Sans"/>
              <a:ea typeface="DM Sans"/>
              <a:cs typeface="DM Sans"/>
              <a:sym typeface="DM Sans"/>
            </a:endParaRPr>
          </a:p>
        </p:txBody>
      </p:sp>
      <p:sp>
        <p:nvSpPr>
          <p:cNvPr id="525" name="Google Shape;525;p59"/>
          <p:cNvSpPr txBox="1"/>
          <p:nvPr/>
        </p:nvSpPr>
        <p:spPr>
          <a:xfrm>
            <a:off x="2690573" y="2334538"/>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Ejecutamos </a:t>
            </a:r>
            <a:r>
              <a:rPr b="1" lang="es" sz="1350">
                <a:solidFill>
                  <a:schemeClr val="dk1"/>
                </a:solidFill>
                <a:latin typeface="DM Sans"/>
                <a:ea typeface="DM Sans"/>
                <a:cs typeface="DM Sans"/>
                <a:sym typeface="DM Sans"/>
              </a:rPr>
              <a:t>create-react-app </a:t>
            </a:r>
            <a:r>
              <a:rPr lang="es" sz="1350">
                <a:solidFill>
                  <a:schemeClr val="dk1"/>
                </a:solidFill>
                <a:latin typeface="DM Sans"/>
                <a:ea typeface="DM Sans"/>
                <a:cs typeface="DM Sans"/>
                <a:sym typeface="DM Sans"/>
              </a:rPr>
              <a:t>con npx para crear un entorno de React.</a:t>
            </a:r>
            <a:endParaRPr sz="1350">
              <a:solidFill>
                <a:schemeClr val="dk1"/>
              </a:solidFill>
              <a:latin typeface="DM Sans"/>
              <a:ea typeface="DM Sans"/>
              <a:cs typeface="DM Sans"/>
              <a:sym typeface="DM Sans"/>
            </a:endParaRPr>
          </a:p>
        </p:txBody>
      </p:sp>
      <p:grpSp>
        <p:nvGrpSpPr>
          <p:cNvPr id="526" name="Google Shape;526;p59"/>
          <p:cNvGrpSpPr/>
          <p:nvPr/>
        </p:nvGrpSpPr>
        <p:grpSpPr>
          <a:xfrm>
            <a:off x="2172088" y="3082350"/>
            <a:ext cx="197100" cy="197100"/>
            <a:chOff x="2172088" y="3058775"/>
            <a:chExt cx="197100" cy="197100"/>
          </a:xfrm>
        </p:grpSpPr>
        <p:sp>
          <p:nvSpPr>
            <p:cNvPr id="527" name="Google Shape;527;p59"/>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59"/>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29" name="Google Shape;529;p59"/>
          <p:cNvCxnSpPr>
            <a:endCxn id="527"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grpSp>
        <p:nvGrpSpPr>
          <p:cNvPr id="530" name="Google Shape;530;p59"/>
          <p:cNvGrpSpPr/>
          <p:nvPr/>
        </p:nvGrpSpPr>
        <p:grpSpPr>
          <a:xfrm>
            <a:off x="2172088" y="3685475"/>
            <a:ext cx="197100" cy="197100"/>
            <a:chOff x="2172088" y="3661775"/>
            <a:chExt cx="197100" cy="197100"/>
          </a:xfrm>
        </p:grpSpPr>
        <p:sp>
          <p:nvSpPr>
            <p:cNvPr id="531" name="Google Shape;531;p59"/>
            <p:cNvSpPr/>
            <p:nvPr/>
          </p:nvSpPr>
          <p:spPr>
            <a:xfrm>
              <a:off x="2172088" y="3661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59"/>
            <p:cNvSpPr/>
            <p:nvPr/>
          </p:nvSpPr>
          <p:spPr>
            <a:xfrm>
              <a:off x="2227138" y="3716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33" name="Google Shape;533;p59"/>
          <p:cNvCxnSpPr>
            <a:endCxn id="531" idx="0"/>
          </p:cNvCxnSpPr>
          <p:nvPr/>
        </p:nvCxnSpPr>
        <p:spPr>
          <a:xfrm>
            <a:off x="2270638" y="3279575"/>
            <a:ext cx="0" cy="405900"/>
          </a:xfrm>
          <a:prstGeom prst="straightConnector1">
            <a:avLst/>
          </a:prstGeom>
          <a:noFill/>
          <a:ln cap="flat" cmpd="sng" w="9525">
            <a:solidFill>
              <a:srgbClr val="DEFC52"/>
            </a:solidFill>
            <a:prstDash val="solid"/>
            <a:round/>
            <a:headEnd len="med" w="med" type="none"/>
            <a:tailEnd len="med" w="med" type="none"/>
          </a:ln>
        </p:spPr>
      </p:cxnSp>
      <p:sp>
        <p:nvSpPr>
          <p:cNvPr id="534" name="Google Shape;534;p59"/>
          <p:cNvSpPr txBox="1"/>
          <p:nvPr/>
        </p:nvSpPr>
        <p:spPr>
          <a:xfrm>
            <a:off x="2690573" y="2984688"/>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Si creaste una nueva carpeta, </a:t>
            </a:r>
            <a:r>
              <a:rPr lang="es" sz="1350">
                <a:solidFill>
                  <a:schemeClr val="dk1"/>
                </a:solidFill>
                <a:latin typeface="DM Sans"/>
                <a:ea typeface="DM Sans"/>
                <a:cs typeface="DM Sans"/>
                <a:sym typeface="DM Sans"/>
              </a:rPr>
              <a:t>desplázate</a:t>
            </a:r>
            <a:r>
              <a:rPr lang="es" sz="1350">
                <a:solidFill>
                  <a:schemeClr val="dk1"/>
                </a:solidFill>
                <a:latin typeface="DM Sans"/>
                <a:ea typeface="DM Sans"/>
                <a:cs typeface="DM Sans"/>
                <a:sym typeface="DM Sans"/>
              </a:rPr>
              <a:t> desde la CLI con el comando </a:t>
            </a:r>
            <a:r>
              <a:rPr b="1" lang="es" sz="1350">
                <a:solidFill>
                  <a:schemeClr val="dk1"/>
                </a:solidFill>
                <a:latin typeface="DM Sans"/>
                <a:ea typeface="DM Sans"/>
                <a:cs typeface="DM Sans"/>
                <a:sym typeface="DM Sans"/>
              </a:rPr>
              <a:t>cd nueva-carpeta.</a:t>
            </a:r>
            <a:endParaRPr b="1" sz="1350">
              <a:solidFill>
                <a:schemeClr val="dk1"/>
              </a:solidFill>
              <a:latin typeface="DM Sans"/>
              <a:ea typeface="DM Sans"/>
              <a:cs typeface="DM Sans"/>
              <a:sym typeface="DM Sans"/>
            </a:endParaRPr>
          </a:p>
        </p:txBody>
      </p:sp>
      <p:sp>
        <p:nvSpPr>
          <p:cNvPr id="535" name="Google Shape;535;p59"/>
          <p:cNvSpPr txBox="1"/>
          <p:nvPr/>
        </p:nvSpPr>
        <p:spPr>
          <a:xfrm>
            <a:off x="2690573" y="3587813"/>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Ejecutamos el comando </a:t>
            </a:r>
            <a:r>
              <a:rPr b="1" lang="es" sz="1350">
                <a:solidFill>
                  <a:schemeClr val="dk1"/>
                </a:solidFill>
                <a:latin typeface="DM Sans"/>
                <a:ea typeface="DM Sans"/>
                <a:cs typeface="DM Sans"/>
                <a:sym typeface="DM Sans"/>
              </a:rPr>
              <a:t>npm start </a:t>
            </a:r>
            <a:r>
              <a:rPr lang="es" sz="1350">
                <a:solidFill>
                  <a:schemeClr val="dk1"/>
                </a:solidFill>
                <a:latin typeface="DM Sans"/>
                <a:ea typeface="DM Sans"/>
                <a:cs typeface="DM Sans"/>
                <a:sym typeface="DM Sans"/>
              </a:rPr>
              <a:t>para ver la app.</a:t>
            </a:r>
            <a:endParaRPr sz="1350">
              <a:solidFill>
                <a:schemeClr val="dk1"/>
              </a:solidFill>
              <a:latin typeface="DM Sans"/>
              <a:ea typeface="DM Sans"/>
              <a:cs typeface="DM Sans"/>
              <a:sym typeface="DM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pic>
        <p:nvPicPr>
          <p:cNvPr id="540" name="Google Shape;540;p60"/>
          <p:cNvPicPr preferRelativeResize="0"/>
          <p:nvPr/>
        </p:nvPicPr>
        <p:blipFill>
          <a:blip r:embed="rId3">
            <a:alphaModFix/>
          </a:blip>
          <a:stretch>
            <a:fillRect/>
          </a:stretch>
        </p:blipFill>
        <p:spPr>
          <a:xfrm>
            <a:off x="7811413" y="4692275"/>
            <a:ext cx="1150750" cy="267575"/>
          </a:xfrm>
          <a:prstGeom prst="rect">
            <a:avLst/>
          </a:prstGeom>
          <a:noFill/>
          <a:ln>
            <a:noFill/>
          </a:ln>
        </p:spPr>
      </p:pic>
      <p:grpSp>
        <p:nvGrpSpPr>
          <p:cNvPr id="541" name="Google Shape;541;p60"/>
          <p:cNvGrpSpPr/>
          <p:nvPr/>
        </p:nvGrpSpPr>
        <p:grpSpPr>
          <a:xfrm>
            <a:off x="4243306" y="1320073"/>
            <a:ext cx="738900" cy="738900"/>
            <a:chOff x="974706" y="2467173"/>
            <a:chExt cx="738900" cy="738900"/>
          </a:xfrm>
        </p:grpSpPr>
        <p:sp>
          <p:nvSpPr>
            <p:cNvPr id="542" name="Google Shape;542;p60"/>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3" name="Google Shape;543;p60" title="ícono de actividad en clase"/>
            <p:cNvPicPr preferRelativeResize="0"/>
            <p:nvPr/>
          </p:nvPicPr>
          <p:blipFill>
            <a:blip r:embed="rId4">
              <a:alphaModFix/>
            </a:blip>
            <a:stretch>
              <a:fillRect/>
            </a:stretch>
          </p:blipFill>
          <p:spPr>
            <a:xfrm>
              <a:off x="1109750" y="2610275"/>
              <a:ext cx="452650" cy="452650"/>
            </a:xfrm>
            <a:prstGeom prst="rect">
              <a:avLst/>
            </a:prstGeom>
            <a:noFill/>
            <a:ln>
              <a:noFill/>
            </a:ln>
          </p:spPr>
        </p:pic>
      </p:grpSp>
      <p:sp>
        <p:nvSpPr>
          <p:cNvPr id="544" name="Google Shape;544;p60"/>
          <p:cNvSpPr txBox="1"/>
          <p:nvPr/>
        </p:nvSpPr>
        <p:spPr>
          <a:xfrm>
            <a:off x="1502050" y="2406788"/>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Puesta en común</a:t>
            </a:r>
            <a:endParaRPr b="1" sz="4000">
              <a:solidFill>
                <a:schemeClr val="dk1"/>
              </a:solidFill>
              <a:highlight>
                <a:srgbClr val="EAFF6A"/>
              </a:highlight>
              <a:latin typeface="DM Sans"/>
              <a:ea typeface="DM Sans"/>
              <a:cs typeface="DM Sans"/>
              <a:sym typeface="DM Sans"/>
            </a:endParaRPr>
          </a:p>
        </p:txBody>
      </p:sp>
      <p:sp>
        <p:nvSpPr>
          <p:cNvPr id="545" name="Google Shape;545;p60"/>
          <p:cNvSpPr txBox="1"/>
          <p:nvPr/>
        </p:nvSpPr>
        <p:spPr>
          <a:xfrm>
            <a:off x="2179625" y="3493500"/>
            <a:ext cx="5061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Tiempo estimado 10 minutos</a:t>
            </a:r>
            <a:endParaRPr b="1" sz="2000">
              <a:solidFill>
                <a:schemeClr val="dk2"/>
              </a:solidFill>
              <a:latin typeface="DM Sans"/>
              <a:ea typeface="DM Sans"/>
              <a:cs typeface="DM Sans"/>
              <a:sym typeface="DM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1"/>
          <p:cNvSpPr txBox="1"/>
          <p:nvPr/>
        </p:nvSpPr>
        <p:spPr>
          <a:xfrm>
            <a:off x="1461300" y="1786725"/>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¿Preguntas?</a:t>
            </a:r>
            <a:endParaRPr b="1" sz="4000">
              <a:solidFill>
                <a:srgbClr val="EAFF6A"/>
              </a:solidFill>
              <a:latin typeface="DM Sans"/>
              <a:ea typeface="DM Sans"/>
              <a:cs typeface="DM Sans"/>
              <a:sym typeface="DM Sans"/>
            </a:endParaRPr>
          </a:p>
        </p:txBody>
      </p:sp>
      <p:sp>
        <p:nvSpPr>
          <p:cNvPr id="551" name="Google Shape;551;p61"/>
          <p:cNvSpPr txBox="1"/>
          <p:nvPr/>
        </p:nvSpPr>
        <p:spPr>
          <a:xfrm>
            <a:off x="2998200" y="2556375"/>
            <a:ext cx="31476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lang="es" sz="2000">
                <a:solidFill>
                  <a:srgbClr val="FFFFFF"/>
                </a:solidFill>
                <a:latin typeface="DM Sans"/>
                <a:ea typeface="DM Sans"/>
                <a:cs typeface="DM Sans"/>
                <a:sym typeface="DM Sans"/>
              </a:rPr>
              <a:t>Te invitamos a dejar tu pregunta a través del</a:t>
            </a:r>
            <a:r>
              <a:rPr lang="es" sz="2000">
                <a:solidFill>
                  <a:srgbClr val="83AEFB"/>
                </a:solidFill>
                <a:latin typeface="DM Sans"/>
                <a:ea typeface="DM Sans"/>
                <a:cs typeface="DM Sans"/>
                <a:sym typeface="DM Sans"/>
              </a:rPr>
              <a:t> </a:t>
            </a:r>
            <a:r>
              <a:rPr lang="es" sz="2000">
                <a:solidFill>
                  <a:schemeClr val="lt1"/>
                </a:solidFill>
                <a:latin typeface="DM Sans"/>
                <a:ea typeface="DM Sans"/>
                <a:cs typeface="DM Sans"/>
                <a:sym typeface="DM Sans"/>
              </a:rPr>
              <a:t>chat</a:t>
            </a:r>
            <a:endParaRPr b="0" i="0" sz="2000" cap="none" strike="noStrike">
              <a:solidFill>
                <a:schemeClr val="lt1"/>
              </a:solidFill>
              <a:latin typeface="DM Sans"/>
              <a:ea typeface="DM Sans"/>
              <a:cs typeface="DM Sans"/>
              <a:sym typeface="DM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2"/>
          <p:cNvSpPr txBox="1"/>
          <p:nvPr/>
        </p:nvSpPr>
        <p:spPr>
          <a:xfrm>
            <a:off x="1461300" y="2216950"/>
            <a:ext cx="6221400" cy="11544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dk1"/>
                </a:solidFill>
                <a:latin typeface="DM Sans"/>
                <a:ea typeface="DM Sans"/>
                <a:cs typeface="DM Sans"/>
                <a:sym typeface="DM Sans"/>
              </a:rPr>
              <a:t>Te compartimos los </a:t>
            </a:r>
            <a:r>
              <a:rPr b="1" lang="es" sz="3500">
                <a:solidFill>
                  <a:schemeClr val="dk1"/>
                </a:solidFill>
                <a:latin typeface="DM Sans"/>
                <a:ea typeface="DM Sans"/>
                <a:cs typeface="DM Sans"/>
                <a:sym typeface="DM Sans"/>
              </a:rPr>
              <a:t>siguientes</a:t>
            </a:r>
            <a:r>
              <a:rPr b="1" lang="es" sz="3500">
                <a:solidFill>
                  <a:schemeClr val="dk1"/>
                </a:solidFill>
                <a:latin typeface="DM Sans"/>
                <a:ea typeface="DM Sans"/>
                <a:cs typeface="DM Sans"/>
                <a:sym typeface="DM Sans"/>
              </a:rPr>
              <a:t> </a:t>
            </a:r>
            <a:r>
              <a:rPr b="1" lang="es" sz="3500">
                <a:solidFill>
                  <a:schemeClr val="dk1"/>
                </a:solidFill>
                <a:highlight>
                  <a:srgbClr val="EAFF6A"/>
                </a:highlight>
                <a:latin typeface="DM Sans"/>
                <a:ea typeface="DM Sans"/>
                <a:cs typeface="DM Sans"/>
                <a:sym typeface="DM Sans"/>
              </a:rPr>
              <a:t>CoderTips</a:t>
            </a:r>
            <a:endParaRPr b="1" sz="3500">
              <a:solidFill>
                <a:schemeClr val="dk1"/>
              </a:solidFill>
              <a:highlight>
                <a:srgbClr val="EAFF6A"/>
              </a:highlight>
              <a:latin typeface="DM Sans"/>
              <a:ea typeface="DM Sans"/>
              <a:cs typeface="DM Sans"/>
              <a:sym typeface="DM Sans"/>
            </a:endParaRPr>
          </a:p>
        </p:txBody>
      </p:sp>
      <p:grpSp>
        <p:nvGrpSpPr>
          <p:cNvPr id="557" name="Google Shape;557;p62"/>
          <p:cNvGrpSpPr/>
          <p:nvPr/>
        </p:nvGrpSpPr>
        <p:grpSpPr>
          <a:xfrm>
            <a:off x="4202550" y="1322535"/>
            <a:ext cx="738900" cy="738900"/>
            <a:chOff x="4202550" y="994173"/>
            <a:chExt cx="738900" cy="738900"/>
          </a:xfrm>
        </p:grpSpPr>
        <p:sp>
          <p:nvSpPr>
            <p:cNvPr id="558" name="Google Shape;558;p62"/>
            <p:cNvSpPr/>
            <p:nvPr/>
          </p:nvSpPr>
          <p:spPr>
            <a:xfrm>
              <a:off x="4202550" y="994173"/>
              <a:ext cx="738900" cy="738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pic>
          <p:nvPicPr>
            <p:cNvPr id="559" name="Google Shape;559;p62" title="ícono de codertips"/>
            <p:cNvPicPr preferRelativeResize="0"/>
            <p:nvPr/>
          </p:nvPicPr>
          <p:blipFill>
            <a:blip r:embed="rId3">
              <a:alphaModFix/>
            </a:blip>
            <a:stretch>
              <a:fillRect/>
            </a:stretch>
          </p:blipFill>
          <p:spPr>
            <a:xfrm>
              <a:off x="4346700" y="1138325"/>
              <a:ext cx="450600" cy="450600"/>
            </a:xfrm>
            <a:prstGeom prst="rect">
              <a:avLst/>
            </a:prstGeom>
            <a:noFill/>
            <a:ln>
              <a:noFill/>
            </a:ln>
          </p:spPr>
        </p:pic>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3"/>
          <p:cNvSpPr txBox="1"/>
          <p:nvPr/>
        </p:nvSpPr>
        <p:spPr>
          <a:xfrm>
            <a:off x="501450" y="899375"/>
            <a:ext cx="7310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Te recomendamos</a:t>
            </a:r>
            <a:endParaRPr b="1" sz="4000">
              <a:solidFill>
                <a:schemeClr val="dk1"/>
              </a:solidFill>
              <a:latin typeface="DM Sans"/>
              <a:ea typeface="DM Sans"/>
              <a:cs typeface="DM Sans"/>
              <a:sym typeface="DM Sans"/>
            </a:endParaRPr>
          </a:p>
        </p:txBody>
      </p:sp>
      <p:sp>
        <p:nvSpPr>
          <p:cNvPr id="565" name="Google Shape;565;p63"/>
          <p:cNvSpPr/>
          <p:nvPr/>
        </p:nvSpPr>
        <p:spPr>
          <a:xfrm>
            <a:off x="457358" y="468285"/>
            <a:ext cx="431074" cy="431074"/>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pic>
        <p:nvPicPr>
          <p:cNvPr id="566" name="Google Shape;566;p63" title="ícono de codertips"/>
          <p:cNvPicPr preferRelativeResize="0"/>
          <p:nvPr/>
        </p:nvPicPr>
        <p:blipFill>
          <a:blip r:embed="rId3">
            <a:alphaModFix/>
          </a:blip>
          <a:stretch>
            <a:fillRect/>
          </a:stretch>
        </p:blipFill>
        <p:spPr>
          <a:xfrm>
            <a:off x="541455" y="552384"/>
            <a:ext cx="262880" cy="262880"/>
          </a:xfrm>
          <a:prstGeom prst="rect">
            <a:avLst/>
          </a:prstGeom>
          <a:noFill/>
          <a:ln>
            <a:noFill/>
          </a:ln>
        </p:spPr>
      </p:pic>
      <p:sp>
        <p:nvSpPr>
          <p:cNvPr id="567" name="Google Shape;567;p63"/>
          <p:cNvSpPr txBox="1"/>
          <p:nvPr/>
        </p:nvSpPr>
        <p:spPr>
          <a:xfrm>
            <a:off x="930550" y="468275"/>
            <a:ext cx="3199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CODERTIPS</a:t>
            </a:r>
            <a:endParaRPr>
              <a:latin typeface="DM Sans"/>
              <a:ea typeface="DM Sans"/>
              <a:cs typeface="DM Sans"/>
              <a:sym typeface="DM Sans"/>
            </a:endParaRPr>
          </a:p>
        </p:txBody>
      </p:sp>
      <p:sp>
        <p:nvSpPr>
          <p:cNvPr id="568" name="Google Shape;568;p63"/>
          <p:cNvSpPr txBox="1"/>
          <p:nvPr/>
        </p:nvSpPr>
        <p:spPr>
          <a:xfrm>
            <a:off x="457350" y="1682450"/>
            <a:ext cx="3834600" cy="3093900"/>
          </a:xfrm>
          <a:prstGeom prst="rect">
            <a:avLst/>
          </a:prstGeom>
          <a:noFill/>
          <a:ln>
            <a:noFill/>
          </a:ln>
        </p:spPr>
        <p:txBody>
          <a:bodyPr anchorCtr="0" anchor="t" bIns="91425" lIns="91425" spcFirstLastPara="1" rIns="91425" wrap="square" tIns="91425">
            <a:spAutoFit/>
          </a:bodyPr>
          <a:lstStyle/>
          <a:p>
            <a:pPr indent="-314325" lvl="0" marL="457200" rtl="0" algn="l">
              <a:lnSpc>
                <a:spcPct val="100000"/>
              </a:lnSpc>
              <a:spcBef>
                <a:spcPts val="0"/>
              </a:spcBef>
              <a:spcAft>
                <a:spcPts val="0"/>
              </a:spcAft>
              <a:buClr>
                <a:schemeClr val="dk2"/>
              </a:buClr>
              <a:buSzPts val="1350"/>
              <a:buFont typeface="DM Sans"/>
              <a:buChar char="✓"/>
            </a:pPr>
            <a:r>
              <a:rPr lang="es" sz="1350">
                <a:solidFill>
                  <a:schemeClr val="dk1"/>
                </a:solidFill>
                <a:latin typeface="DM Sans"/>
                <a:ea typeface="DM Sans"/>
                <a:cs typeface="DM Sans"/>
                <a:sym typeface="DM Sans"/>
              </a:rPr>
              <a:t>Posiblemente utilizar </a:t>
            </a:r>
            <a:r>
              <a:rPr b="1" lang="es" sz="1350">
                <a:solidFill>
                  <a:schemeClr val="dk1"/>
                </a:solidFill>
                <a:latin typeface="DM Sans"/>
                <a:ea typeface="DM Sans"/>
                <a:cs typeface="DM Sans"/>
                <a:sym typeface="DM Sans"/>
              </a:rPr>
              <a:t>createElement </a:t>
            </a:r>
            <a:r>
              <a:rPr lang="es" sz="1350">
                <a:solidFill>
                  <a:schemeClr val="dk1"/>
                </a:solidFill>
                <a:latin typeface="DM Sans"/>
                <a:ea typeface="DM Sans"/>
                <a:cs typeface="DM Sans"/>
                <a:sym typeface="DM Sans"/>
              </a:rPr>
              <a:t>no te parezca una manera sencilla de crear elementos; ¡no te preocupes! Más adelante veremos cómo mejorar esta </a:t>
            </a:r>
            <a:r>
              <a:rPr lang="es" sz="1350">
                <a:solidFill>
                  <a:schemeClr val="dk1"/>
                </a:solidFill>
                <a:latin typeface="DM Sans"/>
                <a:ea typeface="DM Sans"/>
                <a:cs typeface="DM Sans"/>
                <a:sym typeface="DM Sans"/>
              </a:rPr>
              <a:t>sintaxis.</a:t>
            </a:r>
            <a:br>
              <a:rPr lang="es" sz="1350">
                <a:solidFill>
                  <a:schemeClr val="dk1"/>
                </a:solidFill>
                <a:latin typeface="DM Sans"/>
                <a:ea typeface="DM Sans"/>
                <a:cs typeface="DM Sans"/>
                <a:sym typeface="DM Sans"/>
              </a:rPr>
            </a:br>
            <a:endParaRPr sz="1350">
              <a:solidFill>
                <a:schemeClr val="dk1"/>
              </a:solidFill>
              <a:latin typeface="DM Sans"/>
              <a:ea typeface="DM Sans"/>
              <a:cs typeface="DM Sans"/>
              <a:sym typeface="DM Sans"/>
            </a:endParaRPr>
          </a:p>
          <a:p>
            <a:pPr indent="-314325" lvl="0" marL="457200" rtl="0" algn="l">
              <a:lnSpc>
                <a:spcPct val="100000"/>
              </a:lnSpc>
              <a:spcBef>
                <a:spcPts val="0"/>
              </a:spcBef>
              <a:spcAft>
                <a:spcPts val="0"/>
              </a:spcAft>
              <a:buClr>
                <a:schemeClr val="dk2"/>
              </a:buClr>
              <a:buSzPts val="1350"/>
              <a:buFont typeface="DM Sans"/>
              <a:buChar char="✓"/>
            </a:pPr>
            <a:r>
              <a:rPr b="1" lang="es" sz="1350">
                <a:solidFill>
                  <a:schemeClr val="dk1"/>
                </a:solidFill>
                <a:latin typeface="DM Sans"/>
                <a:ea typeface="DM Sans"/>
                <a:cs typeface="DM Sans"/>
                <a:sym typeface="DM Sans"/>
              </a:rPr>
              <a:t>Create-React-App</a:t>
            </a:r>
            <a:r>
              <a:rPr lang="es" sz="1350">
                <a:solidFill>
                  <a:schemeClr val="dk1"/>
                </a:solidFill>
                <a:latin typeface="DM Sans"/>
                <a:ea typeface="DM Sans"/>
                <a:cs typeface="DM Sans"/>
                <a:sym typeface="DM Sans"/>
              </a:rPr>
              <a:t> no es la única herramienta para crear una aplicación de React, te invitamos a que pruebes </a:t>
            </a:r>
            <a:r>
              <a:rPr b="1" lang="es" sz="1350" u="sng">
                <a:solidFill>
                  <a:schemeClr val="hlink"/>
                </a:solidFill>
                <a:latin typeface="DM Sans"/>
                <a:ea typeface="DM Sans"/>
                <a:cs typeface="DM Sans"/>
                <a:sym typeface="DM Sans"/>
                <a:hlinkClick r:id="rId4"/>
              </a:rPr>
              <a:t>Vite.js</a:t>
            </a:r>
            <a:r>
              <a:rPr b="1" lang="es" sz="1350">
                <a:solidFill>
                  <a:schemeClr val="dk1"/>
                </a:solidFill>
                <a:latin typeface="DM Sans"/>
                <a:ea typeface="DM Sans"/>
                <a:cs typeface="DM Sans"/>
                <a:sym typeface="DM Sans"/>
              </a:rPr>
              <a:t>.</a:t>
            </a:r>
            <a:br>
              <a:rPr b="1" lang="es" sz="1350">
                <a:solidFill>
                  <a:schemeClr val="dk1"/>
                </a:solidFill>
                <a:latin typeface="DM Sans"/>
                <a:ea typeface="DM Sans"/>
                <a:cs typeface="DM Sans"/>
                <a:sym typeface="DM Sans"/>
              </a:rPr>
            </a:br>
            <a:endParaRPr b="1" sz="1350">
              <a:solidFill>
                <a:schemeClr val="dk1"/>
              </a:solidFill>
              <a:latin typeface="DM Sans"/>
              <a:ea typeface="DM Sans"/>
              <a:cs typeface="DM Sans"/>
              <a:sym typeface="DM Sans"/>
            </a:endParaRPr>
          </a:p>
          <a:p>
            <a:pPr indent="-314325" lvl="0" marL="457200" rtl="0" algn="l">
              <a:lnSpc>
                <a:spcPct val="100000"/>
              </a:lnSpc>
              <a:spcBef>
                <a:spcPts val="0"/>
              </a:spcBef>
              <a:spcAft>
                <a:spcPts val="0"/>
              </a:spcAft>
              <a:buClr>
                <a:schemeClr val="dk1"/>
              </a:buClr>
              <a:buSzPts val="1350"/>
              <a:buFont typeface="DM Sans"/>
              <a:buChar char="✓"/>
            </a:pPr>
            <a:r>
              <a:rPr lang="es" sz="1350">
                <a:solidFill>
                  <a:schemeClr val="dk1"/>
                </a:solidFill>
                <a:latin typeface="DM Sans"/>
                <a:ea typeface="DM Sans"/>
                <a:cs typeface="DM Sans"/>
                <a:sym typeface="DM Sans"/>
              </a:rPr>
              <a:t>Si el flujo de </a:t>
            </a:r>
            <a:r>
              <a:rPr b="1" lang="es" sz="1350">
                <a:solidFill>
                  <a:schemeClr val="dk1"/>
                </a:solidFill>
                <a:latin typeface="DM Sans"/>
                <a:ea typeface="DM Sans"/>
                <a:cs typeface="DM Sans"/>
                <a:sym typeface="DM Sans"/>
              </a:rPr>
              <a:t>create-react-app</a:t>
            </a:r>
            <a:r>
              <a:rPr lang="es" sz="1350">
                <a:solidFill>
                  <a:schemeClr val="dk1"/>
                </a:solidFill>
                <a:latin typeface="DM Sans"/>
                <a:ea typeface="DM Sans"/>
                <a:cs typeface="DM Sans"/>
                <a:sym typeface="DM Sans"/>
              </a:rPr>
              <a:t> te pareció algo confuso, repítelo para recordar los pasos.</a:t>
            </a:r>
            <a:endParaRPr sz="1350">
              <a:solidFill>
                <a:schemeClr val="dk1"/>
              </a:solidFill>
              <a:latin typeface="DM Sans"/>
              <a:ea typeface="DM Sans"/>
              <a:cs typeface="DM Sans"/>
              <a:sym typeface="DM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4"/>
          <p:cNvSpPr/>
          <p:nvPr/>
        </p:nvSpPr>
        <p:spPr>
          <a:xfrm>
            <a:off x="457358" y="468285"/>
            <a:ext cx="431074" cy="431074"/>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pic>
        <p:nvPicPr>
          <p:cNvPr id="574" name="Google Shape;574;p64" title="ícono de material ampliado"/>
          <p:cNvPicPr preferRelativeResize="0"/>
          <p:nvPr/>
        </p:nvPicPr>
        <p:blipFill>
          <a:blip r:embed="rId3">
            <a:alphaModFix/>
          </a:blip>
          <a:stretch>
            <a:fillRect/>
          </a:stretch>
        </p:blipFill>
        <p:spPr>
          <a:xfrm>
            <a:off x="541448" y="552384"/>
            <a:ext cx="262880" cy="262880"/>
          </a:xfrm>
          <a:prstGeom prst="rect">
            <a:avLst/>
          </a:prstGeom>
          <a:noFill/>
          <a:ln>
            <a:noFill/>
          </a:ln>
        </p:spPr>
      </p:pic>
      <p:sp>
        <p:nvSpPr>
          <p:cNvPr id="575" name="Google Shape;575;p64"/>
          <p:cNvSpPr txBox="1"/>
          <p:nvPr/>
        </p:nvSpPr>
        <p:spPr>
          <a:xfrm>
            <a:off x="930550" y="468275"/>
            <a:ext cx="3199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MATERIAL AMPLIADO</a:t>
            </a:r>
            <a:endParaRPr>
              <a:latin typeface="DM Sans"/>
              <a:ea typeface="DM Sans"/>
              <a:cs typeface="DM Sans"/>
              <a:sym typeface="DM Sans"/>
            </a:endParaRPr>
          </a:p>
        </p:txBody>
      </p:sp>
      <p:sp>
        <p:nvSpPr>
          <p:cNvPr id="576" name="Google Shape;576;p64"/>
          <p:cNvSpPr txBox="1"/>
          <p:nvPr/>
        </p:nvSpPr>
        <p:spPr>
          <a:xfrm>
            <a:off x="457350" y="1244250"/>
            <a:ext cx="4022100" cy="2550600"/>
          </a:xfrm>
          <a:prstGeom prst="rect">
            <a:avLst/>
          </a:prstGeom>
          <a:noFill/>
          <a:ln>
            <a:noFill/>
          </a:ln>
        </p:spPr>
        <p:txBody>
          <a:bodyPr anchorCtr="0" anchor="t" bIns="91425" lIns="91425" spcFirstLastPara="1" rIns="91425" wrap="square" tIns="91425">
            <a:spAutoFit/>
          </a:bodyPr>
          <a:lstStyle/>
          <a:p>
            <a:pPr indent="-314325" lvl="0" marL="457200" rtl="0" algn="l">
              <a:spcBef>
                <a:spcPts val="0"/>
              </a:spcBef>
              <a:spcAft>
                <a:spcPts val="0"/>
              </a:spcAft>
              <a:buClr>
                <a:srgbClr val="999999"/>
              </a:buClr>
              <a:buSzPts val="1350"/>
              <a:buFont typeface="DM Sans"/>
              <a:buChar char="✓"/>
            </a:pPr>
            <a:r>
              <a:rPr lang="es" sz="1350" u="sng">
                <a:solidFill>
                  <a:schemeClr val="accent5"/>
                </a:solidFill>
                <a:latin typeface="DM Sans"/>
                <a:ea typeface="DM Sans"/>
                <a:cs typeface="DM Sans"/>
                <a:sym typeface="DM Sans"/>
                <a:hlinkClick r:id="rId4">
                  <a:extLst>
                    <a:ext uri="{A12FA001-AC4F-418D-AE19-62706E023703}">
                      <ahyp:hlinkClr val="tx"/>
                    </a:ext>
                  </a:extLst>
                </a:hlinkClick>
              </a:rPr>
              <a:t>HTML</a:t>
            </a:r>
            <a:r>
              <a:rPr lang="es" sz="1350">
                <a:solidFill>
                  <a:srgbClr val="999999"/>
                </a:solidFill>
                <a:latin typeface="DM Sans"/>
                <a:ea typeface="DM Sans"/>
                <a:cs typeface="DM Sans"/>
                <a:sym typeface="DM Sans"/>
              </a:rPr>
              <a:t> | </a:t>
            </a:r>
            <a:r>
              <a:rPr b="1" lang="es" sz="1350">
                <a:solidFill>
                  <a:srgbClr val="999999"/>
                </a:solidFill>
                <a:latin typeface="DM Sans"/>
                <a:ea typeface="DM Sans"/>
                <a:cs typeface="DM Sans"/>
                <a:sym typeface="DM Sans"/>
              </a:rPr>
              <a:t>w3schools.com</a:t>
            </a:r>
            <a:endParaRPr b="1" sz="1350">
              <a:solidFill>
                <a:schemeClr val="dk1"/>
              </a:solidFill>
              <a:latin typeface="DM Sans"/>
              <a:ea typeface="DM Sans"/>
              <a:cs typeface="DM Sans"/>
              <a:sym typeface="DM Sans"/>
            </a:endParaRPr>
          </a:p>
          <a:p>
            <a:pPr indent="-314325" lvl="0" marL="457200" rtl="0" algn="l">
              <a:spcBef>
                <a:spcPts val="1000"/>
              </a:spcBef>
              <a:spcAft>
                <a:spcPts val="0"/>
              </a:spcAft>
              <a:buClr>
                <a:srgbClr val="999999"/>
              </a:buClr>
              <a:buSzPts val="1350"/>
              <a:buFont typeface="DM Sans"/>
              <a:buChar char="✓"/>
            </a:pPr>
            <a:r>
              <a:rPr lang="es" sz="1350" u="sng">
                <a:solidFill>
                  <a:schemeClr val="accent5"/>
                </a:solidFill>
                <a:latin typeface="DM Sans"/>
                <a:ea typeface="DM Sans"/>
                <a:cs typeface="DM Sans"/>
                <a:sym typeface="DM Sans"/>
                <a:hlinkClick r:id="rId5">
                  <a:extLst>
                    <a:ext uri="{A12FA001-AC4F-418D-AE19-62706E023703}">
                      <ahyp:hlinkClr val="tx"/>
                    </a:ext>
                  </a:extLst>
                </a:hlinkClick>
              </a:rPr>
              <a:t>CSS</a:t>
            </a:r>
            <a:r>
              <a:rPr lang="es" sz="1350">
                <a:solidFill>
                  <a:srgbClr val="999999"/>
                </a:solidFill>
                <a:latin typeface="DM Sans"/>
                <a:ea typeface="DM Sans"/>
                <a:cs typeface="DM Sans"/>
                <a:sym typeface="DM Sans"/>
              </a:rPr>
              <a:t> | </a:t>
            </a:r>
            <a:r>
              <a:rPr b="1" lang="es" sz="1350">
                <a:solidFill>
                  <a:srgbClr val="999999"/>
                </a:solidFill>
                <a:latin typeface="DM Sans"/>
                <a:ea typeface="DM Sans"/>
                <a:cs typeface="DM Sans"/>
                <a:sym typeface="DM Sans"/>
              </a:rPr>
              <a:t>w3schools.com </a:t>
            </a:r>
            <a:endParaRPr sz="1350" u="sng">
              <a:solidFill>
                <a:schemeClr val="accent5"/>
              </a:solidFill>
              <a:latin typeface="DM Sans"/>
              <a:ea typeface="DM Sans"/>
              <a:cs typeface="DM Sans"/>
              <a:sym typeface="DM Sans"/>
            </a:endParaRPr>
          </a:p>
          <a:p>
            <a:pPr indent="-314325" lvl="0" marL="457200" rtl="0" algn="l">
              <a:spcBef>
                <a:spcPts val="1000"/>
              </a:spcBef>
              <a:spcAft>
                <a:spcPts val="0"/>
              </a:spcAft>
              <a:buClr>
                <a:srgbClr val="999999"/>
              </a:buClr>
              <a:buSzPts val="1350"/>
              <a:buFont typeface="DM Sans"/>
              <a:buChar char="✓"/>
            </a:pPr>
            <a:r>
              <a:rPr lang="es" sz="1350" u="sng">
                <a:solidFill>
                  <a:schemeClr val="accent5"/>
                </a:solidFill>
                <a:latin typeface="DM Sans"/>
                <a:ea typeface="DM Sans"/>
                <a:cs typeface="DM Sans"/>
                <a:sym typeface="DM Sans"/>
                <a:hlinkClick r:id="rId6">
                  <a:extLst>
                    <a:ext uri="{A12FA001-AC4F-418D-AE19-62706E023703}">
                      <ahyp:hlinkClr val="tx"/>
                    </a:ext>
                  </a:extLst>
                </a:hlinkClick>
              </a:rPr>
              <a:t>Page Inspector</a:t>
            </a:r>
            <a:r>
              <a:rPr lang="es" sz="1350">
                <a:solidFill>
                  <a:srgbClr val="999999"/>
                </a:solidFill>
                <a:latin typeface="DM Sans"/>
                <a:ea typeface="DM Sans"/>
                <a:cs typeface="DM Sans"/>
                <a:sym typeface="DM Sans"/>
              </a:rPr>
              <a:t> | </a:t>
            </a:r>
            <a:r>
              <a:rPr b="1" lang="es" sz="1350">
                <a:solidFill>
                  <a:srgbClr val="999999"/>
                </a:solidFill>
                <a:latin typeface="DM Sans"/>
                <a:ea typeface="DM Sans"/>
                <a:cs typeface="DM Sans"/>
                <a:sym typeface="DM Sans"/>
              </a:rPr>
              <a:t>MDN web docs</a:t>
            </a:r>
            <a:endParaRPr b="1" sz="1350">
              <a:solidFill>
                <a:schemeClr val="dk1"/>
              </a:solidFill>
              <a:latin typeface="DM Sans"/>
              <a:ea typeface="DM Sans"/>
              <a:cs typeface="DM Sans"/>
              <a:sym typeface="DM Sans"/>
            </a:endParaRPr>
          </a:p>
          <a:p>
            <a:pPr indent="-314325" lvl="0" marL="457200" rtl="0" algn="l">
              <a:spcBef>
                <a:spcPts val="1000"/>
              </a:spcBef>
              <a:spcAft>
                <a:spcPts val="0"/>
              </a:spcAft>
              <a:buClr>
                <a:srgbClr val="999999"/>
              </a:buClr>
              <a:buSzPts val="1350"/>
              <a:buFont typeface="DM Sans"/>
              <a:buChar char="✓"/>
            </a:pPr>
            <a:r>
              <a:rPr lang="es" sz="1350" u="sng">
                <a:solidFill>
                  <a:schemeClr val="accent5"/>
                </a:solidFill>
                <a:latin typeface="DM Sans"/>
                <a:ea typeface="DM Sans"/>
                <a:cs typeface="DM Sans"/>
                <a:sym typeface="DM Sans"/>
                <a:hlinkClick r:id="rId7">
                  <a:extLst>
                    <a:ext uri="{A12FA001-AC4F-418D-AE19-62706E023703}">
                      <ahyp:hlinkClr val="tx"/>
                    </a:ext>
                  </a:extLst>
                </a:hlinkClick>
              </a:rPr>
              <a:t>API</a:t>
            </a:r>
            <a:r>
              <a:rPr lang="es" sz="1350">
                <a:solidFill>
                  <a:srgbClr val="999999"/>
                </a:solidFill>
                <a:latin typeface="DM Sans"/>
                <a:ea typeface="DM Sans"/>
                <a:cs typeface="DM Sans"/>
                <a:sym typeface="DM Sans"/>
              </a:rPr>
              <a:t> | </a:t>
            </a:r>
            <a:r>
              <a:rPr b="1" lang="es" sz="1350">
                <a:solidFill>
                  <a:srgbClr val="999999"/>
                </a:solidFill>
                <a:latin typeface="DM Sans"/>
                <a:ea typeface="DM Sans"/>
                <a:cs typeface="DM Sans"/>
                <a:sym typeface="DM Sans"/>
              </a:rPr>
              <a:t>MDN web docs</a:t>
            </a:r>
            <a:endParaRPr b="1" sz="1350">
              <a:solidFill>
                <a:srgbClr val="999999"/>
              </a:solidFill>
              <a:latin typeface="DM Sans"/>
              <a:ea typeface="DM Sans"/>
              <a:cs typeface="DM Sans"/>
              <a:sym typeface="DM Sans"/>
            </a:endParaRPr>
          </a:p>
          <a:p>
            <a:pPr indent="0" lvl="0" marL="0" rtl="0" algn="l">
              <a:lnSpc>
                <a:spcPct val="30000"/>
              </a:lnSpc>
              <a:spcBef>
                <a:spcPts val="1000"/>
              </a:spcBef>
              <a:spcAft>
                <a:spcPts val="0"/>
              </a:spcAft>
              <a:buNone/>
            </a:pPr>
            <a:r>
              <a:t/>
            </a:r>
            <a:endParaRPr b="1" sz="1350">
              <a:solidFill>
                <a:schemeClr val="dk1"/>
              </a:solidFill>
              <a:latin typeface="DM Sans"/>
              <a:ea typeface="DM Sans"/>
              <a:cs typeface="DM Sans"/>
              <a:sym typeface="DM Sans"/>
            </a:endParaRPr>
          </a:p>
          <a:p>
            <a:pPr indent="-314325" lvl="0" marL="457200" rtl="0" algn="l">
              <a:spcBef>
                <a:spcPts val="0"/>
              </a:spcBef>
              <a:spcAft>
                <a:spcPts val="0"/>
              </a:spcAft>
              <a:buClr>
                <a:srgbClr val="999999"/>
              </a:buClr>
              <a:buSzPts val="1350"/>
              <a:buFont typeface="DM Sans"/>
              <a:buChar char="✓"/>
            </a:pPr>
            <a:r>
              <a:rPr lang="es" sz="1350" u="sng">
                <a:solidFill>
                  <a:schemeClr val="accent5"/>
                </a:solidFill>
                <a:latin typeface="DM Sans"/>
                <a:ea typeface="DM Sans"/>
                <a:cs typeface="DM Sans"/>
                <a:sym typeface="DM Sans"/>
                <a:hlinkClick r:id="rId8">
                  <a:extLst>
                    <a:ext uri="{A12FA001-AC4F-418D-AE19-62706E023703}">
                      <ahyp:hlinkClr val="tx"/>
                    </a:ext>
                  </a:extLst>
                </a:hlinkClick>
              </a:rPr>
              <a:t>https://reactjs.org/tutorial/tutorial.html</a:t>
            </a:r>
            <a:r>
              <a:rPr lang="es" sz="1350">
                <a:solidFill>
                  <a:srgbClr val="999999"/>
                </a:solidFill>
                <a:latin typeface="DM Sans"/>
                <a:ea typeface="DM Sans"/>
                <a:cs typeface="DM Sans"/>
                <a:sym typeface="DM Sans"/>
              </a:rPr>
              <a:t> | </a:t>
            </a:r>
            <a:r>
              <a:rPr b="1" lang="es" sz="1350">
                <a:solidFill>
                  <a:srgbClr val="999999"/>
                </a:solidFill>
                <a:latin typeface="DM Sans"/>
                <a:ea typeface="DM Sans"/>
                <a:cs typeface="DM Sans"/>
                <a:sym typeface="DM Sans"/>
              </a:rPr>
              <a:t>Reactjs.org</a:t>
            </a:r>
            <a:endParaRPr sz="1350" u="sng">
              <a:solidFill>
                <a:schemeClr val="accent5"/>
              </a:solidFill>
              <a:latin typeface="DM Sans"/>
              <a:ea typeface="DM Sans"/>
              <a:cs typeface="DM Sans"/>
              <a:sym typeface="DM Sans"/>
            </a:endParaRPr>
          </a:p>
          <a:p>
            <a:pPr indent="-314325" lvl="0" marL="457200" rtl="0" algn="l">
              <a:spcBef>
                <a:spcPts val="1000"/>
              </a:spcBef>
              <a:spcAft>
                <a:spcPts val="1000"/>
              </a:spcAft>
              <a:buClr>
                <a:srgbClr val="999999"/>
              </a:buClr>
              <a:buSzPts val="1350"/>
              <a:buFont typeface="DM Sans"/>
              <a:buChar char="✓"/>
            </a:pPr>
            <a:r>
              <a:rPr lang="es" sz="1350" u="sng">
                <a:solidFill>
                  <a:schemeClr val="accent5"/>
                </a:solidFill>
                <a:latin typeface="DM Sans"/>
                <a:ea typeface="DM Sans"/>
                <a:cs typeface="DM Sans"/>
                <a:sym typeface="DM Sans"/>
                <a:hlinkClick r:id="rId9">
                  <a:extLst>
                    <a:ext uri="{A12FA001-AC4F-418D-AE19-62706E023703}">
                      <ahyp:hlinkClr val="tx"/>
                    </a:ext>
                  </a:extLst>
                </a:hlinkClick>
              </a:rPr>
              <a:t>https://reactjs.org/docs/hello-world.html</a:t>
            </a:r>
            <a:r>
              <a:rPr lang="es" sz="1350">
                <a:solidFill>
                  <a:srgbClr val="999999"/>
                </a:solidFill>
                <a:latin typeface="DM Sans"/>
                <a:ea typeface="DM Sans"/>
                <a:cs typeface="DM Sans"/>
                <a:sym typeface="DM Sans"/>
              </a:rPr>
              <a:t> | </a:t>
            </a:r>
            <a:r>
              <a:rPr b="1" lang="es" sz="1350">
                <a:solidFill>
                  <a:srgbClr val="999999"/>
                </a:solidFill>
                <a:latin typeface="DM Sans"/>
                <a:ea typeface="DM Sans"/>
                <a:cs typeface="DM Sans"/>
                <a:sym typeface="DM Sans"/>
              </a:rPr>
              <a:t>Reactjs.org </a:t>
            </a:r>
            <a:endParaRPr b="1" sz="1350">
              <a:solidFill>
                <a:srgbClr val="999999"/>
              </a:solidFill>
              <a:latin typeface="DM Sans"/>
              <a:ea typeface="DM Sans"/>
              <a:cs typeface="DM Sans"/>
              <a:sym typeface="DM Sans"/>
            </a:endParaRPr>
          </a:p>
        </p:txBody>
      </p:sp>
      <p:sp>
        <p:nvSpPr>
          <p:cNvPr id="577" name="Google Shape;577;p64"/>
          <p:cNvSpPr txBox="1"/>
          <p:nvPr/>
        </p:nvSpPr>
        <p:spPr>
          <a:xfrm>
            <a:off x="4675750" y="1244250"/>
            <a:ext cx="3834600" cy="454800"/>
          </a:xfrm>
          <a:prstGeom prst="rect">
            <a:avLst/>
          </a:prstGeom>
          <a:noFill/>
          <a:ln>
            <a:noFill/>
          </a:ln>
        </p:spPr>
        <p:txBody>
          <a:bodyPr anchorCtr="0" anchor="t" bIns="91425" lIns="91425" spcFirstLastPara="1" rIns="91425" wrap="square" tIns="91425">
            <a:spAutoFit/>
          </a:bodyPr>
          <a:lstStyle/>
          <a:p>
            <a:pPr indent="0" lvl="0" marL="0" rtl="0" algn="l">
              <a:lnSpc>
                <a:spcPct val="30000"/>
              </a:lnSpc>
              <a:spcBef>
                <a:spcPts val="0"/>
              </a:spcBef>
              <a:spcAft>
                <a:spcPts val="0"/>
              </a:spcAft>
              <a:buClr>
                <a:schemeClr val="dk1"/>
              </a:buClr>
              <a:buSzPts val="1100"/>
              <a:buFont typeface="Arial"/>
              <a:buNone/>
            </a:pPr>
            <a:r>
              <a:t/>
            </a:r>
            <a:endParaRPr b="1" sz="1350">
              <a:solidFill>
                <a:schemeClr val="dk1"/>
              </a:solidFill>
              <a:latin typeface="DM Sans"/>
              <a:ea typeface="DM Sans"/>
              <a:cs typeface="DM Sans"/>
              <a:sym typeface="DM Sans"/>
            </a:endParaRPr>
          </a:p>
          <a:p>
            <a:pPr indent="0" lvl="0" marL="0" rtl="0" algn="l">
              <a:spcBef>
                <a:spcPts val="0"/>
              </a:spcBef>
              <a:spcAft>
                <a:spcPts val="1000"/>
              </a:spcAft>
              <a:buNone/>
            </a:pPr>
            <a:r>
              <a:t/>
            </a:r>
            <a:endParaRPr b="1" sz="1350">
              <a:solidFill>
                <a:srgbClr val="999999"/>
              </a:solidFill>
              <a:latin typeface="DM Sans"/>
              <a:ea typeface="DM Sans"/>
              <a:cs typeface="DM Sans"/>
              <a:sym typeface="DM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5"/>
          <p:cNvSpPr txBox="1"/>
          <p:nvPr/>
        </p:nvSpPr>
        <p:spPr>
          <a:xfrm>
            <a:off x="1339500" y="693075"/>
            <a:ext cx="6465000" cy="108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s" sz="4000">
                <a:solidFill>
                  <a:srgbClr val="EAFF6A"/>
                </a:solidFill>
                <a:latin typeface="DM Sans"/>
                <a:ea typeface="DM Sans"/>
                <a:cs typeface="DM Sans"/>
                <a:sym typeface="DM Sans"/>
              </a:rPr>
              <a:t>Resumen</a:t>
            </a:r>
            <a:r>
              <a:rPr b="1" lang="es" sz="4000">
                <a:solidFill>
                  <a:srgbClr val="DEFC52"/>
                </a:solidFill>
                <a:latin typeface="DM Sans"/>
                <a:ea typeface="DM Sans"/>
                <a:cs typeface="DM Sans"/>
                <a:sym typeface="DM Sans"/>
              </a:rPr>
              <a:t> </a:t>
            </a:r>
            <a:endParaRPr b="1" sz="4000">
              <a:solidFill>
                <a:srgbClr val="DEFC52"/>
              </a:solidFill>
              <a:latin typeface="DM Sans"/>
              <a:ea typeface="DM Sans"/>
              <a:cs typeface="DM Sans"/>
              <a:sym typeface="DM Sans"/>
            </a:endParaRPr>
          </a:p>
          <a:p>
            <a:pPr indent="0" lvl="0" marL="0" rtl="0" algn="ctr">
              <a:lnSpc>
                <a:spcPct val="100000"/>
              </a:lnSpc>
              <a:spcBef>
                <a:spcPts val="0"/>
              </a:spcBef>
              <a:spcAft>
                <a:spcPts val="0"/>
              </a:spcAft>
              <a:buNone/>
            </a:pPr>
            <a:r>
              <a:rPr b="1" lang="es" sz="4000">
                <a:solidFill>
                  <a:schemeClr val="lt1"/>
                </a:solidFill>
                <a:latin typeface="DM Sans"/>
                <a:ea typeface="DM Sans"/>
                <a:cs typeface="DM Sans"/>
                <a:sym typeface="DM Sans"/>
              </a:rPr>
              <a:t>de la clase hoy</a:t>
            </a:r>
            <a:endParaRPr sz="4000">
              <a:solidFill>
                <a:schemeClr val="lt1"/>
              </a:solidFill>
              <a:latin typeface="DM Sans"/>
              <a:ea typeface="DM Sans"/>
              <a:cs typeface="DM Sans"/>
              <a:sym typeface="DM Sans"/>
            </a:endParaRPr>
          </a:p>
        </p:txBody>
      </p:sp>
      <p:sp>
        <p:nvSpPr>
          <p:cNvPr id="583" name="Google Shape;583;p65"/>
          <p:cNvSpPr txBox="1"/>
          <p:nvPr/>
        </p:nvSpPr>
        <p:spPr>
          <a:xfrm>
            <a:off x="2109150" y="2191575"/>
            <a:ext cx="5277900" cy="2409000"/>
          </a:xfrm>
          <a:prstGeom prst="rect">
            <a:avLst/>
          </a:prstGeom>
          <a:noFill/>
          <a:ln>
            <a:noFill/>
          </a:ln>
        </p:spPr>
        <p:txBody>
          <a:bodyPr anchorCtr="0" anchor="t" bIns="91425" lIns="91425" spcFirstLastPara="1" rIns="91425" wrap="square" tIns="91425">
            <a:spAutoFit/>
          </a:bodyPr>
          <a:lstStyle/>
          <a:p>
            <a:pPr indent="-314325" lvl="0" marL="457200" rtl="0" algn="l">
              <a:spcBef>
                <a:spcPts val="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Conceptos básicos de React JS</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Componentes</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Código declarativo</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Expresiones y funciones</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Virtual DOM</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Nodejs</a:t>
            </a:r>
            <a:endParaRPr sz="1350">
              <a:solidFill>
                <a:schemeClr val="lt1"/>
              </a:solidFill>
              <a:latin typeface="DM Sans"/>
              <a:ea typeface="DM Sans"/>
              <a:cs typeface="DM Sans"/>
              <a:sym typeface="DM Sans"/>
            </a:endParaRPr>
          </a:p>
          <a:p>
            <a:pPr indent="-314325" lvl="0" marL="457200" rtl="0" algn="l">
              <a:spcBef>
                <a:spcPts val="1000"/>
              </a:spcBef>
              <a:spcAft>
                <a:spcPts val="1000"/>
              </a:spcAft>
              <a:buClr>
                <a:schemeClr val="accent6"/>
              </a:buClr>
              <a:buSzPts val="1350"/>
              <a:buFont typeface="DM Sans"/>
              <a:buChar char="✓"/>
            </a:pPr>
            <a:r>
              <a:rPr lang="es" sz="1350">
                <a:solidFill>
                  <a:schemeClr val="lt1"/>
                </a:solidFill>
                <a:latin typeface="DM Sans"/>
                <a:ea typeface="DM Sans"/>
                <a:cs typeface="DM Sans"/>
                <a:sym typeface="DM Sans"/>
              </a:rPr>
              <a:t>Creación de App con CLI</a:t>
            </a:r>
            <a:endParaRPr sz="1350">
              <a:solidFill>
                <a:schemeClr val="lt1"/>
              </a:solidFill>
              <a:latin typeface="DM Sans"/>
              <a:ea typeface="DM Sans"/>
              <a:cs typeface="DM Sans"/>
              <a:sym typeface="DM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66"/>
          <p:cNvSpPr txBox="1"/>
          <p:nvPr/>
        </p:nvSpPr>
        <p:spPr>
          <a:xfrm>
            <a:off x="1461300" y="1925250"/>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Opina y valora</a:t>
            </a:r>
            <a:r>
              <a:rPr b="1" lang="es" sz="4000">
                <a:solidFill>
                  <a:srgbClr val="DEFC52"/>
                </a:solidFill>
                <a:latin typeface="DM Sans"/>
                <a:ea typeface="DM Sans"/>
                <a:cs typeface="DM Sans"/>
                <a:sym typeface="DM Sans"/>
              </a:rPr>
              <a:t> </a:t>
            </a:r>
            <a:endParaRPr b="1" sz="4000">
              <a:solidFill>
                <a:srgbClr val="DEFC52"/>
              </a:solidFill>
              <a:latin typeface="DM Sans"/>
              <a:ea typeface="DM Sans"/>
              <a:cs typeface="DM Sans"/>
              <a:sym typeface="DM Sans"/>
            </a:endParaRPr>
          </a:p>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esta clase</a:t>
            </a:r>
            <a:endParaRPr b="1" sz="4000">
              <a:solidFill>
                <a:schemeClr val="lt1"/>
              </a:solidFill>
              <a:latin typeface="DM Sans"/>
              <a:ea typeface="DM Sans"/>
              <a:cs typeface="DM Sans"/>
              <a:sym typeface="DM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7"/>
          <p:cNvSpPr txBox="1"/>
          <p:nvPr/>
        </p:nvSpPr>
        <p:spPr>
          <a:xfrm>
            <a:off x="2382900" y="2171550"/>
            <a:ext cx="43782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4000">
                <a:solidFill>
                  <a:srgbClr val="FFFFFF"/>
                </a:solidFill>
                <a:latin typeface="DM Sans"/>
                <a:ea typeface="DM Sans"/>
                <a:cs typeface="DM Sans"/>
                <a:sym typeface="DM Sans"/>
              </a:rPr>
              <a:t>Muchas gracias</a:t>
            </a:r>
            <a:r>
              <a:rPr b="1" lang="es" sz="4000">
                <a:solidFill>
                  <a:srgbClr val="EAFF6A"/>
                </a:solidFill>
                <a:latin typeface="DM Sans"/>
                <a:ea typeface="DM Sans"/>
                <a:cs typeface="DM Sans"/>
                <a:sym typeface="DM Sans"/>
              </a:rPr>
              <a:t>.</a:t>
            </a:r>
            <a:endParaRPr sz="4000">
              <a:solidFill>
                <a:srgbClr val="EAFF6A"/>
              </a:solidFill>
              <a:latin typeface="DM Sans"/>
              <a:ea typeface="DM Sans"/>
              <a:cs typeface="DM Sans"/>
              <a:sym typeface="DM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8"/>
          <p:cNvSpPr txBox="1"/>
          <p:nvPr/>
        </p:nvSpPr>
        <p:spPr>
          <a:xfrm>
            <a:off x="1828950" y="1863750"/>
            <a:ext cx="54861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4000">
                <a:solidFill>
                  <a:srgbClr val="FFFFFF"/>
                </a:solidFill>
                <a:latin typeface="DM Sans"/>
                <a:ea typeface="DM Sans"/>
                <a:cs typeface="DM Sans"/>
                <a:sym typeface="DM Sans"/>
              </a:rPr>
              <a:t>Educación digital</a:t>
            </a:r>
            <a:endParaRPr b="1" sz="4000">
              <a:solidFill>
                <a:srgbClr val="FFFFFF"/>
              </a:solidFill>
              <a:latin typeface="DM Sans"/>
              <a:ea typeface="DM Sans"/>
              <a:cs typeface="DM Sans"/>
              <a:sym typeface="DM Sans"/>
            </a:endParaRPr>
          </a:p>
          <a:p>
            <a:pPr indent="0" lvl="0" marL="0" rtl="0" algn="ctr">
              <a:spcBef>
                <a:spcPts val="0"/>
              </a:spcBef>
              <a:spcAft>
                <a:spcPts val="0"/>
              </a:spcAft>
              <a:buNone/>
            </a:pPr>
            <a:r>
              <a:rPr b="1" lang="es" sz="4000">
                <a:solidFill>
                  <a:srgbClr val="FFFFFF"/>
                </a:solidFill>
                <a:latin typeface="DM Sans"/>
                <a:ea typeface="DM Sans"/>
                <a:cs typeface="DM Sans"/>
                <a:sym typeface="DM Sans"/>
              </a:rPr>
              <a:t>para el m</a:t>
            </a:r>
            <a:r>
              <a:rPr b="1" lang="es" sz="4000">
                <a:solidFill>
                  <a:srgbClr val="EAFF6A"/>
                </a:solidFill>
                <a:latin typeface="DM Sans"/>
                <a:ea typeface="DM Sans"/>
                <a:cs typeface="DM Sans"/>
                <a:sym typeface="DM Sans"/>
              </a:rPr>
              <a:t>undo real</a:t>
            </a:r>
            <a:r>
              <a:rPr b="1" lang="es" sz="4000">
                <a:solidFill>
                  <a:srgbClr val="FFFFFF"/>
                </a:solidFill>
                <a:latin typeface="DM Sans"/>
                <a:ea typeface="DM Sans"/>
                <a:cs typeface="DM Sans"/>
                <a:sym typeface="DM Sans"/>
              </a:rPr>
              <a:t>.</a:t>
            </a:r>
            <a:endParaRPr b="1" sz="4000">
              <a:solidFill>
                <a:srgbClr val="FFFFFF"/>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