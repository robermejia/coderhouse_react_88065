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Helvetica Neue"/>
      <p:regular r:id="rId42"/>
      <p:bold r:id="rId43"/>
      <p:italic r:id="rId44"/>
      <p:boldItalic r:id="rId45"/>
    </p:embeddedFont>
    <p:embeddedFont>
      <p:font typeface="Ubuntu Mono"/>
      <p:regular r:id="rId46"/>
      <p:bold r:id="rId47"/>
      <p:italic r:id="rId48"/>
      <p:boldItalic r:id="rId49"/>
    </p:embeddedFont>
    <p:embeddedFont>
      <p:font typeface="Helvetica Neue Light"/>
      <p:regular r:id="rId50"/>
      <p:bold r:id="rId51"/>
      <p:italic r:id="rId52"/>
      <p:boldItalic r:id="rId53"/>
    </p:embeddedFont>
    <p:embeddedFont>
      <p:font typeface="DM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95">
          <p15:clr>
            <a:srgbClr val="A4A3A4"/>
          </p15:clr>
        </p15:guide>
        <p15:guide id="2" pos="5460">
          <p15:clr>
            <a:srgbClr val="A4A3A4"/>
          </p15:clr>
        </p15:guide>
        <p15:guide id="3" pos="300">
          <p15:clr>
            <a:srgbClr val="9AA0A6"/>
          </p15:clr>
        </p15:guide>
        <p15:guide id="4" orient="horz" pos="32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95" orient="horz"/>
        <p:guide pos="5460"/>
        <p:guide pos="300"/>
        <p:guide pos="3240"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HelveticaNeue-regular.fntdata"/><Relationship Id="rId41" Type="http://schemas.openxmlformats.org/officeDocument/2006/relationships/slide" Target="slides/slide36.xml"/><Relationship Id="rId44" Type="http://schemas.openxmlformats.org/officeDocument/2006/relationships/font" Target="fonts/HelveticaNeue-italic.fntdata"/><Relationship Id="rId43" Type="http://schemas.openxmlformats.org/officeDocument/2006/relationships/font" Target="fonts/HelveticaNeue-bold.fntdata"/><Relationship Id="rId46" Type="http://schemas.openxmlformats.org/officeDocument/2006/relationships/font" Target="fonts/UbuntuMono-regular.fntdata"/><Relationship Id="rId45" Type="http://schemas.openxmlformats.org/officeDocument/2006/relationships/font" Target="fonts/HelveticaNeue-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UbuntuMono-italic.fntdata"/><Relationship Id="rId47" Type="http://schemas.openxmlformats.org/officeDocument/2006/relationships/font" Target="fonts/UbuntuMono-bold.fntdata"/><Relationship Id="rId49" Type="http://schemas.openxmlformats.org/officeDocument/2006/relationships/font" Target="fonts/Ubuntu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HelveticaNeueLight-bold.fntdata"/><Relationship Id="rId50" Type="http://schemas.openxmlformats.org/officeDocument/2006/relationships/font" Target="fonts/HelveticaNeueLight-regular.fntdata"/><Relationship Id="rId53" Type="http://schemas.openxmlformats.org/officeDocument/2006/relationships/font" Target="fonts/HelveticaNeueLight-boldItalic.fntdata"/><Relationship Id="rId52" Type="http://schemas.openxmlformats.org/officeDocument/2006/relationships/font" Target="fonts/HelveticaNeueLight-italic.fntdata"/><Relationship Id="rId11" Type="http://schemas.openxmlformats.org/officeDocument/2006/relationships/slide" Target="slides/slide6.xml"/><Relationship Id="rId55" Type="http://schemas.openxmlformats.org/officeDocument/2006/relationships/font" Target="fonts/DMSans-bold.fntdata"/><Relationship Id="rId10" Type="http://schemas.openxmlformats.org/officeDocument/2006/relationships/slide" Target="slides/slide5.xml"/><Relationship Id="rId54" Type="http://schemas.openxmlformats.org/officeDocument/2006/relationships/font" Target="fonts/DMSans-regular.fntdata"/><Relationship Id="rId13" Type="http://schemas.openxmlformats.org/officeDocument/2006/relationships/slide" Target="slides/slide8.xml"/><Relationship Id="rId57" Type="http://schemas.openxmlformats.org/officeDocument/2006/relationships/font" Target="fonts/DMSans-boldItalic.fntdata"/><Relationship Id="rId12" Type="http://schemas.openxmlformats.org/officeDocument/2006/relationships/slide" Target="slides/slide7.xml"/><Relationship Id="rId56" Type="http://schemas.openxmlformats.org/officeDocument/2006/relationships/font" Target="fonts/DMSans-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21635c457ec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21635c457ec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g155a413f55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 name="Google Shape;48;g155a413f55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10d8ab2ab78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10d8ab2ab78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Redactar los objetivos en función de los conocimientos y habilidades a desarrollar en la clase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53250eb3e8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53250eb3e8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5449dc17f6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5449dc17f6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sólo texto con instancias a destacar.</a:t>
            </a: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53250eb3e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53250eb3e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53250eb3e8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53250eb3e8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5449dc17f6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5449dc17f6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5449dc17f6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5449dc17f6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En esta slide se retoma sobre un </a:t>
            </a:r>
            <a:r>
              <a:rPr b="1" lang="es">
                <a:solidFill>
                  <a:schemeClr val="dk1"/>
                </a:solidFill>
                <a:latin typeface="DM Sans"/>
                <a:ea typeface="DM Sans"/>
                <a:cs typeface="DM Sans"/>
                <a:sym typeface="DM Sans"/>
              </a:rPr>
              <a:t>tema en específico</a:t>
            </a:r>
            <a:r>
              <a:rPr lang="es">
                <a:solidFill>
                  <a:schemeClr val="dk1"/>
                </a:solidFill>
                <a:latin typeface="DM Sans"/>
                <a:ea typeface="DM Sans"/>
                <a:cs typeface="DM Sans"/>
                <a:sym typeface="DM Sans"/>
              </a:rPr>
              <a:t> de algún contenido pregrabado </a:t>
            </a:r>
            <a:r>
              <a:rPr lang="es">
                <a:solidFill>
                  <a:schemeClr val="dk1"/>
                </a:solidFill>
                <a:highlight>
                  <a:srgbClr val="EAFF6A"/>
                </a:highlight>
                <a:latin typeface="DM Sans"/>
                <a:ea typeface="DM Sans"/>
                <a:cs typeface="DM Sans"/>
                <a:sym typeface="DM Sans"/>
              </a:rPr>
              <a:t>en caso de que sea necesario</a:t>
            </a:r>
            <a:r>
              <a:rPr lang="es">
                <a:solidFill>
                  <a:schemeClr val="dk1"/>
                </a:solidFill>
                <a:latin typeface="DM Sans"/>
                <a:ea typeface="DM Sans"/>
                <a:cs typeface="DM Sans"/>
                <a:sym typeface="DM Sans"/>
              </a:rPr>
              <a:t>. </a:t>
            </a:r>
            <a:r>
              <a:rPr b="1" lang="es">
                <a:solidFill>
                  <a:schemeClr val="dk1"/>
                </a:solidFill>
                <a:latin typeface="DM Sans"/>
                <a:ea typeface="DM Sans"/>
                <a:cs typeface="DM Sans"/>
                <a:sym typeface="DM Sans"/>
              </a:rPr>
              <a:t>Señalar en “Notas al orador” la duración (en minutos) que se sugiere para el momento de repaso teniendo en cuenta que el foco de las clases es la práctica. </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52ba13cb37_1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52ba13cb37_1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52ba13cb3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52ba13cb3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highlight>
                  <a:srgbClr val="DEFC52"/>
                </a:highlight>
                <a:latin typeface="DM Sans"/>
                <a:ea typeface="DM Sans"/>
                <a:cs typeface="DM Sans"/>
                <a:sym typeface="DM Sans"/>
              </a:rPr>
              <a:t>(OPCIÓN DASH)</a:t>
            </a:r>
            <a:endParaRPr>
              <a:highlight>
                <a:srgbClr val="DEFC52"/>
              </a:highlight>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5ad24861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5ad24861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52ba13cb37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52ba13cb37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52ba13cb37_1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52ba13cb37_1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5449dc17f6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5449dc17f6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52ba13cb37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52ba13cb37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52ba13cb37_1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252ba13cb37_1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individuales. </a:t>
            </a:r>
            <a:r>
              <a:rPr lang="es">
                <a:solidFill>
                  <a:schemeClr val="dk1"/>
                </a:solidFill>
                <a:highlight>
                  <a:srgbClr val="EA90FF"/>
                </a:highlight>
                <a:latin typeface="DM Sans"/>
                <a:ea typeface="DM Sans"/>
                <a:cs typeface="DM Sans"/>
                <a:sym typeface="DM Sans"/>
              </a:rPr>
              <a:t>Profe/tutor</a:t>
            </a:r>
            <a:r>
              <a:rPr lang="es">
                <a:solidFill>
                  <a:schemeClr val="dk1"/>
                </a:solidFill>
                <a:latin typeface="DM Sans"/>
                <a:ea typeface="DM Sans"/>
                <a:cs typeface="DM Sans"/>
                <a:sym typeface="DM Sans"/>
              </a:rPr>
              <a:t>: La duración que se sugiere para que los</a:t>
            </a:r>
            <a:r>
              <a:rPr b="1" lang="es">
                <a:solidFill>
                  <a:schemeClr val="dk1"/>
                </a:solidFill>
                <a:latin typeface="DM Sans"/>
                <a:ea typeface="DM Sans"/>
                <a:cs typeface="DM Sans"/>
                <a:sym typeface="DM Sans"/>
              </a:rPr>
              <a:t> estudiantes realicen la actividad</a:t>
            </a:r>
            <a:r>
              <a:rPr lang="es">
                <a:solidFill>
                  <a:schemeClr val="dk1"/>
                </a:solidFill>
                <a:latin typeface="DM Sans"/>
                <a:ea typeface="DM Sans"/>
                <a:cs typeface="DM Sans"/>
                <a:sym typeface="DM Sans"/>
              </a:rPr>
              <a:t> es de X minutos. A ellos se le suman </a:t>
            </a:r>
            <a:r>
              <a:rPr lang="es" u="sng">
                <a:solidFill>
                  <a:schemeClr val="dk1"/>
                </a:solidFill>
                <a:latin typeface="DM Sans"/>
                <a:ea typeface="DM Sans"/>
                <a:cs typeface="DM Sans"/>
                <a:sym typeface="DM Sans"/>
              </a:rPr>
              <a:t>X </a:t>
            </a:r>
            <a:r>
              <a:rPr lang="es">
                <a:solidFill>
                  <a:schemeClr val="dk1"/>
                </a:solidFill>
                <a:latin typeface="DM Sans"/>
                <a:ea typeface="DM Sans"/>
                <a:cs typeface="DM Sans"/>
                <a:sym typeface="DM Sans"/>
              </a:rPr>
              <a:t>de </a:t>
            </a:r>
            <a:r>
              <a:rPr b="1" lang="es">
                <a:solidFill>
                  <a:schemeClr val="dk1"/>
                </a:solidFill>
                <a:latin typeface="DM Sans"/>
                <a:ea typeface="DM Sans"/>
                <a:cs typeface="DM Sans"/>
                <a:sym typeface="DM Sans"/>
              </a:rPr>
              <a:t>puesta en común</a:t>
            </a:r>
            <a:r>
              <a:rPr lang="es">
                <a:solidFill>
                  <a:schemeClr val="dk1"/>
                </a:solidFill>
                <a:latin typeface="DM Sans"/>
                <a:ea typeface="DM Sans"/>
                <a:cs typeface="DM Sans"/>
                <a:sym typeface="DM Sans"/>
              </a:rPr>
              <a:t>. Por ello, el total dedicado a la actividad completa será de aproximadamente X</a:t>
            </a:r>
            <a:r>
              <a:rPr b="1" lang="es" u="sng">
                <a:solidFill>
                  <a:schemeClr val="dk1"/>
                </a:solidFill>
                <a:latin typeface="DM Sans"/>
                <a:ea typeface="DM Sans"/>
                <a:cs typeface="DM Sans"/>
                <a:sym typeface="DM Sans"/>
              </a:rPr>
              <a:t> minutos.</a:t>
            </a: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52ba13cb37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52ba13cb37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52ba13cb37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52ba13cb37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2532aada7ff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2532aada7ff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5449dc17f6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5449dc17f6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imagen completa.</a:t>
            </a: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5449dc17f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5449dc17f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532aada7ff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532aada7ff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532aada7ff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532aada7ff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Utilizar esta slide para hacer un repaso de visto en el ejemplo en vivo.</a:t>
            </a: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2ba13cb37_1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52ba13cb37_1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532aada7ff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532aada7ff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252ba13cb37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252ba13cb37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400">
                <a:highlight>
                  <a:srgbClr val="EAFF6A"/>
                </a:highlight>
              </a:rPr>
              <a:t>Para profes/ tutores</a:t>
            </a:r>
            <a:r>
              <a:rPr lang="es" sz="1400"/>
              <a:t>: dejamos a su criterio qué ejemplos usa. En base a cómo vean la comisión y nivel, seleccionen los ejemplos que considern para utilizar las tecnicas de renderizado que se vieron. </a:t>
            </a:r>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2532aada7ff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2532aada7ff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individuales. </a:t>
            </a:r>
            <a:r>
              <a:rPr lang="es">
                <a:solidFill>
                  <a:schemeClr val="dk1"/>
                </a:solidFill>
                <a:highlight>
                  <a:srgbClr val="EA90FF"/>
                </a:highlight>
                <a:latin typeface="DM Sans"/>
                <a:ea typeface="DM Sans"/>
                <a:cs typeface="DM Sans"/>
                <a:sym typeface="DM Sans"/>
              </a:rPr>
              <a:t>Profe/tutor</a:t>
            </a:r>
            <a:r>
              <a:rPr lang="es">
                <a:solidFill>
                  <a:schemeClr val="dk1"/>
                </a:solidFill>
                <a:latin typeface="DM Sans"/>
                <a:ea typeface="DM Sans"/>
                <a:cs typeface="DM Sans"/>
                <a:sym typeface="DM Sans"/>
              </a:rPr>
              <a:t>: La duración que se sugiere para que los</a:t>
            </a:r>
            <a:r>
              <a:rPr b="1" lang="es">
                <a:solidFill>
                  <a:schemeClr val="dk1"/>
                </a:solidFill>
                <a:latin typeface="DM Sans"/>
                <a:ea typeface="DM Sans"/>
                <a:cs typeface="DM Sans"/>
                <a:sym typeface="DM Sans"/>
              </a:rPr>
              <a:t> estudiantes realicen la actividad</a:t>
            </a:r>
            <a:r>
              <a:rPr lang="es">
                <a:solidFill>
                  <a:schemeClr val="dk1"/>
                </a:solidFill>
                <a:latin typeface="DM Sans"/>
                <a:ea typeface="DM Sans"/>
                <a:cs typeface="DM Sans"/>
                <a:sym typeface="DM Sans"/>
              </a:rPr>
              <a:t> es de X minutos. A ellos se le suman </a:t>
            </a:r>
            <a:r>
              <a:rPr lang="es" u="sng">
                <a:solidFill>
                  <a:schemeClr val="dk1"/>
                </a:solidFill>
                <a:latin typeface="DM Sans"/>
                <a:ea typeface="DM Sans"/>
                <a:cs typeface="DM Sans"/>
                <a:sym typeface="DM Sans"/>
              </a:rPr>
              <a:t>X </a:t>
            </a:r>
            <a:r>
              <a:rPr lang="es">
                <a:solidFill>
                  <a:schemeClr val="dk1"/>
                </a:solidFill>
                <a:latin typeface="DM Sans"/>
                <a:ea typeface="DM Sans"/>
                <a:cs typeface="DM Sans"/>
                <a:sym typeface="DM Sans"/>
              </a:rPr>
              <a:t>de </a:t>
            </a:r>
            <a:r>
              <a:rPr b="1" lang="es">
                <a:solidFill>
                  <a:schemeClr val="dk1"/>
                </a:solidFill>
                <a:latin typeface="DM Sans"/>
                <a:ea typeface="DM Sans"/>
                <a:cs typeface="DM Sans"/>
                <a:sym typeface="DM Sans"/>
              </a:rPr>
              <a:t>puesta en común</a:t>
            </a:r>
            <a:r>
              <a:rPr lang="es">
                <a:solidFill>
                  <a:schemeClr val="dk1"/>
                </a:solidFill>
                <a:latin typeface="DM Sans"/>
                <a:ea typeface="DM Sans"/>
                <a:cs typeface="DM Sans"/>
                <a:sym typeface="DM Sans"/>
              </a:rPr>
              <a:t>. Por ello, el total dedicado a la actividad completa será de aproximadamente X</a:t>
            </a:r>
            <a:r>
              <a:rPr b="1" lang="es" u="sng">
                <a:solidFill>
                  <a:schemeClr val="dk1"/>
                </a:solidFill>
                <a:latin typeface="DM Sans"/>
                <a:ea typeface="DM Sans"/>
                <a:cs typeface="DM Sans"/>
                <a:sym typeface="DM Sans"/>
              </a:rPr>
              <a:t> minutos.</a:t>
            </a: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532aada7ff_0_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532aada7ff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solidFill>
                  <a:schemeClr val="dk1"/>
                </a:solidFill>
                <a:highlight>
                  <a:srgbClr val="DEFC52"/>
                </a:highlight>
                <a:latin typeface="DM Sans"/>
                <a:ea typeface="DM Sans"/>
                <a:cs typeface="DM Sans"/>
                <a:sym typeface="DM Sans"/>
              </a:rPr>
              <a:t>PARA PROFES/TUTORES:</a:t>
            </a:r>
            <a:r>
              <a:rPr b="1" lang="es">
                <a:solidFill>
                  <a:schemeClr val="dk1"/>
                </a:solidFill>
                <a:latin typeface="DM Sans"/>
                <a:ea typeface="DM Sans"/>
                <a:cs typeface="DM Sans"/>
                <a:sym typeface="DM Sans"/>
              </a:rPr>
              <a:t> </a:t>
            </a:r>
            <a:r>
              <a:rPr lang="es">
                <a:solidFill>
                  <a:schemeClr val="dk1"/>
                </a:solidFill>
                <a:latin typeface="DM Sans"/>
                <a:ea typeface="DM Sans"/>
                <a:cs typeface="DM Sans"/>
                <a:sym typeface="DM Sans"/>
              </a:rPr>
              <a:t>para esta actividad deben retomar lo trabajado en la actividad extra Clase 6 - actividad 2 de la guía de ejercicios complementarios para poder hacerlo en el tiempo establecido. No hacerlo desde cero.</a:t>
            </a: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532d6354c3_1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532d6354c3_1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3ad191e9b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13ad191e9b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highlight>
                  <a:srgbClr val="EA90FF"/>
                </a:highlight>
                <a:latin typeface="DM Sans"/>
                <a:ea typeface="DM Sans"/>
                <a:cs typeface="DM Sans"/>
                <a:sym typeface="DM Sans"/>
              </a:rPr>
              <a:t>(Probar si se puede hacer con Kahoot y de lo contrario que hagan preguntas activando micrófono o por chat).</a:t>
            </a:r>
            <a:endParaRPr>
              <a:highlight>
                <a:srgbClr val="EA90FF"/>
              </a:highlight>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5afd0db0c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g25afd0db0c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250">
                <a:solidFill>
                  <a:schemeClr val="dk1"/>
                </a:solidFill>
                <a:highlight>
                  <a:srgbClr val="E0FF00"/>
                </a:highlight>
                <a:latin typeface="Helvetica Neue"/>
                <a:ea typeface="Helvetica Neue"/>
                <a:cs typeface="Helvetica Neue"/>
                <a:sym typeface="Helvetica Neue"/>
              </a:rPr>
              <a:t>Para profes/tutores:</a:t>
            </a:r>
            <a:r>
              <a:rPr lang="es" sz="1250">
                <a:solidFill>
                  <a:schemeClr val="dk1"/>
                </a:solidFill>
                <a:latin typeface="Helvetica Neue"/>
                <a:ea typeface="Helvetica Neue"/>
                <a:cs typeface="Helvetica Neue"/>
                <a:sym typeface="Helvetica Neue"/>
              </a:rPr>
              <a:t> Si bien las actividades recomendadas no son obligatorias ni reciben corrección, corresponden a ejercicios que aportan a la construcción de las pre entregas y Proyecto Final. En caso de que den los tiempos, les sugerimos que ingresen a la Guía y lean en conjunto las consignas.</a:t>
            </a:r>
            <a:endParaRPr sz="1250">
              <a:solidFill>
                <a:schemeClr val="dk1"/>
              </a:solidFill>
              <a:latin typeface="Helvetica Neue"/>
              <a:ea typeface="Helvetica Neue"/>
              <a:cs typeface="Helvetica Neue"/>
              <a:sym typeface="Helvetica Neue"/>
            </a:endParaRPr>
          </a:p>
          <a:p>
            <a:pPr indent="0" lvl="0" marL="0" rtl="0" algn="l">
              <a:spcBef>
                <a:spcPts val="0"/>
              </a:spcBef>
              <a:spcAft>
                <a:spcPts val="0"/>
              </a:spcAft>
              <a:buNone/>
            </a:pPr>
            <a:r>
              <a:t/>
            </a:r>
            <a:endParaRPr sz="1250">
              <a:solidFill>
                <a:schemeClr val="dk1"/>
              </a:solidFill>
              <a:latin typeface="Helvetica Neue"/>
              <a:ea typeface="Helvetica Neue"/>
              <a:cs typeface="Helvetica Neue"/>
              <a:sym typeface="Helvetica Neue"/>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13bbc910f27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13bbc910f27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 Completar el resumen con palabras claves de lo visto. En caso de cerrar con el “mapa de conceptos” se puede sacar. </a:t>
            </a:r>
            <a:endParaRPr>
              <a:latin typeface="DM Sans"/>
              <a:ea typeface="DM Sans"/>
              <a:cs typeface="DM Sans"/>
              <a:sym typeface="DM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3bbc910f2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3bbc910f2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siempre.</a:t>
            </a: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3bbc910f27_0_2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13bbc910f27_0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634eb3324e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634eb3324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Todas las clases</a:t>
            </a:r>
            <a:endParaRPr>
              <a:latin typeface="DM Sans"/>
              <a:ea typeface="DM Sans"/>
              <a:cs typeface="DM Sans"/>
              <a:sym typeface="DM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Font typeface="DM Sans"/>
              <a:buNone/>
              <a:defRPr b="1" sz="4000">
                <a:latin typeface="DM Sans"/>
                <a:ea typeface="DM Sans"/>
                <a:cs typeface="DM Sans"/>
                <a:sym typeface="DM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2" name="Google Shape;12;p2"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p:cSld name="SECTION_HEADER_1">
    <p:bg>
      <p:bgPr>
        <a:blipFill>
          <a:blip r:embed="rId2">
            <a:alphaModFix/>
          </a:blip>
          <a:stretch>
            <a:fillRect/>
          </a:stretch>
        </a:blipFill>
      </p:bgPr>
    </p:bg>
    <p:spTree>
      <p:nvGrpSpPr>
        <p:cNvPr id="13" name="Shape 13"/>
        <p:cNvGrpSpPr/>
        <p:nvPr/>
      </p:nvGrpSpPr>
      <p:grpSpPr>
        <a:xfrm>
          <a:off x="0" y="0"/>
          <a:ext cx="0" cy="0"/>
          <a:chOff x="0" y="0"/>
          <a:chExt cx="0" cy="0"/>
        </a:xfrm>
      </p:grpSpPr>
      <p:pic>
        <p:nvPicPr>
          <p:cNvPr id="14" name="Google Shape;14;p3" title="logo coderhouse"/>
          <p:cNvPicPr preferRelativeResize="0"/>
          <p:nvPr/>
        </p:nvPicPr>
        <p:blipFill>
          <a:blip r:embed="rId3">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p:cSld name="SECTION_HEADER_1_1">
    <p:bg>
      <p:bgPr>
        <a:blipFill>
          <a:blip r:embed="rId2">
            <a:alphaModFix/>
          </a:blip>
          <a:stretch>
            <a:fillRect/>
          </a:stretch>
        </a:blipFill>
      </p:bgPr>
    </p:bg>
    <p:spTree>
      <p:nvGrpSpPr>
        <p:cNvPr id="15" name="Shape 15"/>
        <p:cNvGrpSpPr/>
        <p:nvPr/>
      </p:nvGrpSpPr>
      <p:grpSpPr>
        <a:xfrm>
          <a:off x="0" y="0"/>
          <a:ext cx="0" cy="0"/>
          <a:chOff x="0" y="0"/>
          <a:chExt cx="0" cy="0"/>
        </a:xfrm>
      </p:grpSpPr>
      <p:pic>
        <p:nvPicPr>
          <p:cNvPr id="16" name="Google Shape;16;p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7" name="Google Shape;17;p4"/>
          <p:cNvSpPr/>
          <p:nvPr/>
        </p:nvSpPr>
        <p:spPr>
          <a:xfrm>
            <a:off x="1089900" y="995400"/>
            <a:ext cx="6964200" cy="3152700"/>
          </a:xfrm>
          <a:prstGeom prst="rect">
            <a:avLst/>
          </a:prstGeom>
          <a:solidFill>
            <a:srgbClr val="B5B5B5">
              <a:alpha val="10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A 1">
  <p:cSld name="SECTION_HEADER_1_1_1">
    <p:bg>
      <p:bgPr>
        <a:blipFill>
          <a:blip r:embed="rId2">
            <a:alphaModFix/>
          </a:blip>
          <a:stretch>
            <a:fillRect/>
          </a:stretch>
        </a:blipFill>
      </p:bgPr>
    </p:bg>
    <p:spTree>
      <p:nvGrpSpPr>
        <p:cNvPr id="18" name="Shape 18"/>
        <p:cNvGrpSpPr/>
        <p:nvPr/>
      </p:nvGrpSpPr>
      <p:grpSpPr>
        <a:xfrm>
          <a:off x="0" y="0"/>
          <a:ext cx="0" cy="0"/>
          <a:chOff x="0" y="0"/>
          <a:chExt cx="0" cy="0"/>
        </a:xfrm>
      </p:grpSpPr>
      <p:pic>
        <p:nvPicPr>
          <p:cNvPr id="19" name="Google Shape;19;p5"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adro">
  <p:cSld name="SECTION_HEADER_1_1_1_1_1_1">
    <p:bg>
      <p:bgPr>
        <a:blipFill>
          <a:blip r:embed="rId2">
            <a:alphaModFix/>
          </a:blip>
          <a:stretch>
            <a:fillRect/>
          </a:stretch>
        </a:blipFill>
      </p:bgPr>
    </p:bg>
    <p:spTree>
      <p:nvGrpSpPr>
        <p:cNvPr id="20" name="Shape 20"/>
        <p:cNvGrpSpPr/>
        <p:nvPr/>
      </p:nvGrpSpPr>
      <p:grpSpPr>
        <a:xfrm>
          <a:off x="0" y="0"/>
          <a:ext cx="0" cy="0"/>
          <a:chOff x="0" y="0"/>
          <a:chExt cx="0" cy="0"/>
        </a:xfrm>
      </p:grpSpPr>
      <p:pic>
        <p:nvPicPr>
          <p:cNvPr id="21" name="Google Shape;21;p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 imagen">
  <p:cSld name="SECTION_HEADER_1_1_1_1_1_1_1">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7"/>
          <p:cNvSpPr/>
          <p:nvPr/>
        </p:nvSpPr>
        <p:spPr>
          <a:xfrm>
            <a:off x="6592475" y="0"/>
            <a:ext cx="25515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 name="Google Shape;24;p7"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ndo blanco">
  <p:cSld name="SECTION_HEADER_1_1_1_1_1_1_1_1">
    <p:spTree>
      <p:nvGrpSpPr>
        <p:cNvPr id="25" name="Shape 25"/>
        <p:cNvGrpSpPr/>
        <p:nvPr/>
      </p:nvGrpSpPr>
      <p:grpSpPr>
        <a:xfrm>
          <a:off x="0" y="0"/>
          <a:ext cx="0" cy="0"/>
          <a:chOff x="0" y="0"/>
          <a:chExt cx="0" cy="0"/>
        </a:xfrm>
      </p:grpSpPr>
      <p:pic>
        <p:nvPicPr>
          <p:cNvPr id="26" name="Google Shape;26;p8"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p:cSld name="SECTION_HEADER_1_1_1_1_1_1_1_1_1">
    <p:bg>
      <p:bgPr>
        <a:blipFill>
          <a:blip r:embed="rId2">
            <a:alphaModFix/>
          </a:blip>
          <a:stretch>
            <a:fillRect/>
          </a:stretch>
        </a:blipFill>
      </p:bgPr>
    </p:bg>
    <p:spTree>
      <p:nvGrpSpPr>
        <p:cNvPr id="27" name="Shape 27"/>
        <p:cNvGrpSpPr/>
        <p:nvPr/>
      </p:nvGrpSpPr>
      <p:grpSpPr>
        <a:xfrm>
          <a:off x="0" y="0"/>
          <a:ext cx="0" cy="0"/>
          <a:chOff x="0" y="0"/>
          <a:chExt cx="0" cy="0"/>
        </a:xfrm>
      </p:grpSpPr>
      <p:pic>
        <p:nvPicPr>
          <p:cNvPr id="28" name="Google Shape;28;p9"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A">
  <p:cSld name="SECTION_HEADER_1_1_1_1_1_1_1_1_1_1">
    <p:bg>
      <p:bgPr>
        <a:blipFill>
          <a:blip r:embed="rId2">
            <a:alphaModFix/>
          </a:blip>
          <a:stretch>
            <a:fillRect/>
          </a:stretch>
        </a:blipFill>
      </p:bgPr>
    </p:bg>
    <p:spTree>
      <p:nvGrpSpPr>
        <p:cNvPr id="29" name="Shape 29"/>
        <p:cNvGrpSpPr/>
        <p:nvPr/>
      </p:nvGrpSpPr>
      <p:grpSpPr>
        <a:xfrm>
          <a:off x="0" y="0"/>
          <a:ext cx="0" cy="0"/>
          <a:chOff x="0" y="0"/>
          <a:chExt cx="0" cy="0"/>
        </a:xfrm>
      </p:grpSpPr>
      <p:pic>
        <p:nvPicPr>
          <p:cNvPr id="30" name="Google Shape;30;p10"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5">
  <p:cSld name="SECTION_HEADER_1_1_1_1_1_1_1_1_1_8">
    <p:bg>
      <p:bgPr>
        <a:blipFill>
          <a:blip r:embed="rId2">
            <a:alphaModFix/>
          </a:blip>
          <a:stretch>
            <a:fillRect/>
          </a:stretch>
        </a:blipFill>
      </p:bgPr>
    </p:bg>
    <p:spTree>
      <p:nvGrpSpPr>
        <p:cNvPr id="31" name="Shape 31"/>
        <p:cNvGrpSpPr/>
        <p:nvPr/>
      </p:nvGrpSpPr>
      <p:grpSpPr>
        <a:xfrm>
          <a:off x="0" y="0"/>
          <a:ext cx="0" cy="0"/>
          <a:chOff x="0" y="0"/>
          <a:chExt cx="0" cy="0"/>
        </a:xfrm>
      </p:grpSpPr>
      <p:pic>
        <p:nvPicPr>
          <p:cNvPr id="32" name="Google Shape;32;p11"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B 1">
  <p:cSld name="SECTION_HEADER_1_2">
    <p:spTree>
      <p:nvGrpSpPr>
        <p:cNvPr id="33" name="Shape 33"/>
        <p:cNvGrpSpPr/>
        <p:nvPr/>
      </p:nvGrpSpPr>
      <p:grpSpPr>
        <a:xfrm>
          <a:off x="0" y="0"/>
          <a:ext cx="0" cy="0"/>
          <a:chOff x="0" y="0"/>
          <a:chExt cx="0" cy="0"/>
        </a:xfrm>
      </p:grpSpPr>
      <p:pic>
        <p:nvPicPr>
          <p:cNvPr id="34" name="Google Shape;34;p12" title="logo coderhouse"/>
          <p:cNvPicPr preferRelativeResize="0"/>
          <p:nvPr/>
        </p:nvPicPr>
        <p:blipFill>
          <a:blip r:embed="rId2">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B 1">
  <p:cSld name="SECTION_HEADER_1_1_1_1_1_1_1_1_1_3">
    <p:bg>
      <p:bgPr>
        <a:blipFill>
          <a:blip r:embed="rId2">
            <a:alphaModFix/>
          </a:blip>
          <a:stretch>
            <a:fillRect/>
          </a:stretch>
        </a:blipFill>
      </p:bgPr>
    </p:bg>
    <p:spTree>
      <p:nvGrpSpPr>
        <p:cNvPr id="35" name="Shape 35"/>
        <p:cNvGrpSpPr/>
        <p:nvPr/>
      </p:nvGrpSpPr>
      <p:grpSpPr>
        <a:xfrm>
          <a:off x="0" y="0"/>
          <a:ext cx="0" cy="0"/>
          <a:chOff x="0" y="0"/>
          <a:chExt cx="0" cy="0"/>
        </a:xfrm>
      </p:grpSpPr>
      <p:pic>
        <p:nvPicPr>
          <p:cNvPr id="36" name="Google Shape;36;p13" title="logo coderhouse"/>
          <p:cNvPicPr preferRelativeResize="0"/>
          <p:nvPr/>
        </p:nvPicPr>
        <p:blipFill rotWithShape="1">
          <a:blip r:embed="rId3">
            <a:alphaModFix/>
          </a:blip>
          <a:srcRect b="0" l="0" r="0" t="0"/>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hyperlink" Target="https://stackblitz.com/edit/stackblitz-starters-fh3qmx?file=src%2FApp.js" TargetMode="External"/><Relationship Id="rId6" Type="http://schemas.openxmlformats.org/officeDocument/2006/relationships/hyperlink" Target="http://drive.google.com/file/d/1BUdLHtzeK6skQudq_WG_HKEEtBjmQ-M0/view" TargetMode="External"/><Relationship Id="rId7"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31.png"/><Relationship Id="rId4" Type="http://schemas.openxmlformats.org/officeDocument/2006/relationships/image" Target="../media/image13.png"/><Relationship Id="rId5"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7.png"/><Relationship Id="rId4" Type="http://schemas.openxmlformats.org/officeDocument/2006/relationships/image" Target="../media/image13.png"/><Relationship Id="rId5" Type="http://schemas.openxmlformats.org/officeDocument/2006/relationships/hyperlink" Target="https://stackblitz.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3.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hyperlink" Target="https://docs.google.com/presentation/d/1m0Pxdo6tR3VQeOwms0SIpvoQ_3HPwGyT/edit?usp=drive_link&amp;ouid=105756276059427898200&amp;rtpof=true&amp;sd=true" TargetMode="Externa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4"/>
          <p:cNvSpPr/>
          <p:nvPr/>
        </p:nvSpPr>
        <p:spPr>
          <a:xfrm>
            <a:off x="3080700" y="2547525"/>
            <a:ext cx="2982600" cy="793800"/>
          </a:xfrm>
          <a:prstGeom prst="rect">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4"/>
          <p:cNvSpPr txBox="1"/>
          <p:nvPr/>
        </p:nvSpPr>
        <p:spPr>
          <a:xfrm>
            <a:off x="1461300" y="1802163"/>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 clase va a ser</a:t>
            </a:r>
            <a:endParaRPr b="1" sz="4000">
              <a:solidFill>
                <a:srgbClr val="DEFC52"/>
              </a:solidFill>
              <a:latin typeface="DM Sans"/>
              <a:ea typeface="DM Sans"/>
              <a:cs typeface="DM Sans"/>
              <a:sym typeface="DM Sans"/>
            </a:endParaRPr>
          </a:p>
        </p:txBody>
      </p:sp>
      <p:sp>
        <p:nvSpPr>
          <p:cNvPr id="43" name="Google Shape;43;p14"/>
          <p:cNvSpPr txBox="1"/>
          <p:nvPr/>
        </p:nvSpPr>
        <p:spPr>
          <a:xfrm>
            <a:off x="3655975" y="2541075"/>
            <a:ext cx="25062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grabada</a:t>
            </a:r>
            <a:endParaRPr b="1" sz="4000">
              <a:solidFill>
                <a:srgbClr val="EAFF6A"/>
              </a:solidFill>
              <a:latin typeface="DM Sans"/>
              <a:ea typeface="DM Sans"/>
              <a:cs typeface="DM Sans"/>
              <a:sym typeface="DM Sans"/>
            </a:endParaRPr>
          </a:p>
        </p:txBody>
      </p:sp>
      <p:sp>
        <p:nvSpPr>
          <p:cNvPr id="44" name="Google Shape;44;p14"/>
          <p:cNvSpPr/>
          <p:nvPr/>
        </p:nvSpPr>
        <p:spPr>
          <a:xfrm>
            <a:off x="3293875" y="2844525"/>
            <a:ext cx="199800" cy="199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5" name="Google Shape;45;p14"/>
          <p:cNvPicPr preferRelativeResize="0"/>
          <p:nvPr/>
        </p:nvPicPr>
        <p:blipFill>
          <a:blip r:embed="rId3">
            <a:alphaModFix/>
          </a:blip>
          <a:stretch>
            <a:fillRect/>
          </a:stretch>
        </p:blipFill>
        <p:spPr>
          <a:xfrm>
            <a:off x="2605100" y="3654844"/>
            <a:ext cx="3933794" cy="1624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5"/>
          <p:cNvSpPr txBox="1"/>
          <p:nvPr/>
        </p:nvSpPr>
        <p:spPr>
          <a:xfrm>
            <a:off x="1185025" y="2252975"/>
            <a:ext cx="6773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Context API en React</a:t>
            </a:r>
            <a:endParaRPr b="1" sz="4000">
              <a:solidFill>
                <a:srgbClr val="EAFF6A"/>
              </a:solidFill>
              <a:latin typeface="DM Sans"/>
              <a:ea typeface="DM Sans"/>
              <a:cs typeface="DM Sans"/>
              <a:sym typeface="DM Sans"/>
            </a:endParaRPr>
          </a:p>
        </p:txBody>
      </p:sp>
      <p:sp>
        <p:nvSpPr>
          <p:cNvPr id="51" name="Google Shape;51;p15"/>
          <p:cNvSpPr txBox="1"/>
          <p:nvPr/>
        </p:nvSpPr>
        <p:spPr>
          <a:xfrm>
            <a:off x="1461300" y="1665250"/>
            <a:ext cx="6221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1800">
                <a:solidFill>
                  <a:schemeClr val="lt1"/>
                </a:solidFill>
                <a:latin typeface="DM Sans"/>
                <a:ea typeface="DM Sans"/>
                <a:cs typeface="DM Sans"/>
                <a:sym typeface="DM Sans"/>
              </a:rPr>
              <a:t>Unidad 6</a:t>
            </a:r>
            <a:r>
              <a:rPr b="1" lang="es" sz="1800">
                <a:solidFill>
                  <a:schemeClr val="lt1"/>
                </a:solidFill>
                <a:latin typeface="DM Sans"/>
                <a:ea typeface="DM Sans"/>
                <a:cs typeface="DM Sans"/>
                <a:sym typeface="DM Sans"/>
              </a:rPr>
              <a:t>.</a:t>
            </a:r>
            <a:r>
              <a:rPr lang="es" sz="1800">
                <a:solidFill>
                  <a:schemeClr val="lt1"/>
                </a:solidFill>
                <a:latin typeface="DM Sans"/>
                <a:ea typeface="DM Sans"/>
                <a:cs typeface="DM Sans"/>
                <a:sym typeface="DM Sans"/>
              </a:rPr>
              <a:t> REACT JS</a:t>
            </a:r>
            <a:endParaRPr sz="1600">
              <a:solidFill>
                <a:schemeClr val="lt1"/>
              </a:solidFill>
              <a:latin typeface="DM Sans"/>
              <a:ea typeface="DM Sans"/>
              <a:cs typeface="DM Sans"/>
              <a:sym typeface="DM Sans"/>
            </a:endParaRPr>
          </a:p>
        </p:txBody>
      </p:sp>
      <p:pic>
        <p:nvPicPr>
          <p:cNvPr id="52" name="Google Shape;52;p15"/>
          <p:cNvPicPr preferRelativeResize="0"/>
          <p:nvPr/>
        </p:nvPicPr>
        <p:blipFill>
          <a:blip r:embed="rId3">
            <a:alphaModFix/>
          </a:blip>
          <a:stretch>
            <a:fillRect/>
          </a:stretch>
        </p:blipFill>
        <p:spPr>
          <a:xfrm>
            <a:off x="2605100" y="3654844"/>
            <a:ext cx="3933794" cy="1624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6"/>
          <p:cNvSpPr txBox="1"/>
          <p:nvPr/>
        </p:nvSpPr>
        <p:spPr>
          <a:xfrm>
            <a:off x="501450" y="468275"/>
            <a:ext cx="8141100" cy="6003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000">
                <a:solidFill>
                  <a:srgbClr val="EAFF6A"/>
                </a:solidFill>
                <a:latin typeface="DM Sans"/>
                <a:ea typeface="DM Sans"/>
                <a:cs typeface="DM Sans"/>
                <a:sym typeface="DM Sans"/>
              </a:rPr>
              <a:t>Objetivos de la clase</a:t>
            </a:r>
            <a:r>
              <a:rPr b="1" lang="es" sz="3000">
                <a:solidFill>
                  <a:srgbClr val="EAFF6A"/>
                </a:solidFill>
                <a:latin typeface="DM Sans"/>
                <a:ea typeface="DM Sans"/>
                <a:cs typeface="DM Sans"/>
                <a:sym typeface="DM Sans"/>
              </a:rPr>
              <a:t> </a:t>
            </a:r>
            <a:endParaRPr b="1" sz="3000">
              <a:solidFill>
                <a:srgbClr val="EAFF6A"/>
              </a:solidFill>
              <a:latin typeface="DM Sans"/>
              <a:ea typeface="DM Sans"/>
              <a:cs typeface="DM Sans"/>
              <a:sym typeface="DM Sans"/>
            </a:endParaRPr>
          </a:p>
        </p:txBody>
      </p:sp>
      <p:pic>
        <p:nvPicPr>
          <p:cNvPr id="58" name="Google Shape;58;p16"/>
          <p:cNvPicPr preferRelativeResize="0"/>
          <p:nvPr/>
        </p:nvPicPr>
        <p:blipFill>
          <a:blip r:embed="rId3">
            <a:alphaModFix/>
          </a:blip>
          <a:stretch>
            <a:fillRect/>
          </a:stretch>
        </p:blipFill>
        <p:spPr>
          <a:xfrm>
            <a:off x="2172438" y="1545313"/>
            <a:ext cx="196975" cy="196975"/>
          </a:xfrm>
          <a:prstGeom prst="rect">
            <a:avLst/>
          </a:prstGeom>
          <a:noFill/>
          <a:ln>
            <a:noFill/>
          </a:ln>
        </p:spPr>
      </p:pic>
      <p:sp>
        <p:nvSpPr>
          <p:cNvPr id="59" name="Google Shape;59;p16"/>
          <p:cNvSpPr txBox="1"/>
          <p:nvPr/>
        </p:nvSpPr>
        <p:spPr>
          <a:xfrm>
            <a:off x="2690561" y="1451613"/>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lt1"/>
                </a:solidFill>
                <a:latin typeface="DM Sans"/>
                <a:ea typeface="DM Sans"/>
                <a:cs typeface="DM Sans"/>
                <a:sym typeface="DM Sans"/>
              </a:rPr>
              <a:t>Organizar </a:t>
            </a:r>
            <a:r>
              <a:rPr lang="es" sz="1350">
                <a:solidFill>
                  <a:schemeClr val="lt1"/>
                </a:solidFill>
                <a:latin typeface="DM Sans"/>
                <a:ea typeface="DM Sans"/>
                <a:cs typeface="DM Sans"/>
                <a:sym typeface="DM Sans"/>
              </a:rPr>
              <a:t>los eventos aplicativos de nuestros proyectos.</a:t>
            </a:r>
            <a:endParaRPr sz="1350">
              <a:solidFill>
                <a:schemeClr val="lt1"/>
              </a:solidFill>
              <a:latin typeface="DM Sans"/>
              <a:ea typeface="DM Sans"/>
              <a:cs typeface="DM Sans"/>
              <a:sym typeface="DM Sans"/>
            </a:endParaRPr>
          </a:p>
        </p:txBody>
      </p:sp>
      <p:pic>
        <p:nvPicPr>
          <p:cNvPr id="60" name="Google Shape;60;p16"/>
          <p:cNvPicPr preferRelativeResize="0"/>
          <p:nvPr/>
        </p:nvPicPr>
        <p:blipFill>
          <a:blip r:embed="rId3">
            <a:alphaModFix/>
          </a:blip>
          <a:stretch>
            <a:fillRect/>
          </a:stretch>
        </p:blipFill>
        <p:spPr>
          <a:xfrm>
            <a:off x="2172138" y="2178713"/>
            <a:ext cx="196975" cy="196975"/>
          </a:xfrm>
          <a:prstGeom prst="rect">
            <a:avLst/>
          </a:prstGeom>
          <a:noFill/>
          <a:ln>
            <a:noFill/>
          </a:ln>
        </p:spPr>
      </p:pic>
      <p:sp>
        <p:nvSpPr>
          <p:cNvPr id="61" name="Google Shape;61;p16"/>
          <p:cNvSpPr txBox="1"/>
          <p:nvPr/>
        </p:nvSpPr>
        <p:spPr>
          <a:xfrm>
            <a:off x="2690561" y="2054738"/>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Crear </a:t>
            </a:r>
            <a:r>
              <a:rPr lang="es" sz="1350">
                <a:solidFill>
                  <a:schemeClr val="lt1"/>
                </a:solidFill>
                <a:latin typeface="DM Sans"/>
                <a:ea typeface="DM Sans"/>
                <a:cs typeface="DM Sans"/>
                <a:sym typeface="DM Sans"/>
              </a:rPr>
              <a:t>interacciones persistentes entre componentes.</a:t>
            </a:r>
            <a:endParaRPr sz="1350">
              <a:solidFill>
                <a:schemeClr val="lt1"/>
              </a:solidFill>
              <a:latin typeface="DM Sans"/>
              <a:ea typeface="DM Sans"/>
              <a:cs typeface="DM Sans"/>
              <a:sym typeface="DM Sans"/>
            </a:endParaRPr>
          </a:p>
        </p:txBody>
      </p:sp>
      <p:pic>
        <p:nvPicPr>
          <p:cNvPr id="62" name="Google Shape;62;p16"/>
          <p:cNvPicPr preferRelativeResize="0"/>
          <p:nvPr/>
        </p:nvPicPr>
        <p:blipFill>
          <a:blip r:embed="rId3">
            <a:alphaModFix/>
          </a:blip>
          <a:stretch>
            <a:fillRect/>
          </a:stretch>
        </p:blipFill>
        <p:spPr>
          <a:xfrm>
            <a:off x="2172138" y="2832688"/>
            <a:ext cx="196975" cy="196975"/>
          </a:xfrm>
          <a:prstGeom prst="rect">
            <a:avLst/>
          </a:prstGeom>
          <a:noFill/>
          <a:ln>
            <a:noFill/>
          </a:ln>
        </p:spPr>
      </p:pic>
      <p:sp>
        <p:nvSpPr>
          <p:cNvPr id="63" name="Google Shape;63;p16"/>
          <p:cNvSpPr txBox="1"/>
          <p:nvPr/>
        </p:nvSpPr>
        <p:spPr>
          <a:xfrm>
            <a:off x="2690561" y="2734963"/>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Desarrollar</a:t>
            </a:r>
            <a:r>
              <a:rPr lang="es" sz="1350">
                <a:solidFill>
                  <a:schemeClr val="lt1"/>
                </a:solidFill>
                <a:latin typeface="DM Sans"/>
                <a:ea typeface="DM Sans"/>
                <a:cs typeface="DM Sans"/>
                <a:sym typeface="DM Sans"/>
              </a:rPr>
              <a:t> implementaciones custom de context.</a:t>
            </a:r>
            <a:endParaRPr sz="1350">
              <a:solidFill>
                <a:schemeClr val="lt1"/>
              </a:solidFill>
              <a:latin typeface="DM Sans"/>
              <a:ea typeface="DM Sans"/>
              <a:cs typeface="DM Sans"/>
              <a:sym typeface="DM Sans"/>
            </a:endParaRPr>
          </a:p>
        </p:txBody>
      </p:sp>
      <p:pic>
        <p:nvPicPr>
          <p:cNvPr id="64" name="Google Shape;64;p16"/>
          <p:cNvPicPr preferRelativeResize="0"/>
          <p:nvPr/>
        </p:nvPicPr>
        <p:blipFill>
          <a:blip r:embed="rId3">
            <a:alphaModFix/>
          </a:blip>
          <a:stretch>
            <a:fillRect/>
          </a:stretch>
        </p:blipFill>
        <p:spPr>
          <a:xfrm>
            <a:off x="2172138" y="3523338"/>
            <a:ext cx="196975" cy="196975"/>
          </a:xfrm>
          <a:prstGeom prst="rect">
            <a:avLst/>
          </a:prstGeom>
          <a:noFill/>
          <a:ln>
            <a:noFill/>
          </a:ln>
        </p:spPr>
      </p:pic>
      <p:sp>
        <p:nvSpPr>
          <p:cNvPr id="65" name="Google Shape;65;p16"/>
          <p:cNvSpPr txBox="1"/>
          <p:nvPr/>
        </p:nvSpPr>
        <p:spPr>
          <a:xfrm>
            <a:off x="2690550" y="3415188"/>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b="1" lang="es" sz="1350">
                <a:solidFill>
                  <a:schemeClr val="lt1"/>
                </a:solidFill>
                <a:latin typeface="DM Sans"/>
                <a:ea typeface="DM Sans"/>
                <a:cs typeface="DM Sans"/>
                <a:sym typeface="DM Sans"/>
              </a:rPr>
              <a:t>Diagnosticar </a:t>
            </a:r>
            <a:r>
              <a:rPr lang="es" sz="1350">
                <a:solidFill>
                  <a:schemeClr val="lt1"/>
                </a:solidFill>
                <a:latin typeface="DM Sans"/>
                <a:ea typeface="DM Sans"/>
                <a:cs typeface="DM Sans"/>
                <a:sym typeface="DM Sans"/>
              </a:rPr>
              <a:t>y solucionar problemas de rendering.</a:t>
            </a:r>
            <a:endParaRPr sz="1350">
              <a:solidFill>
                <a:schemeClr val="lt1"/>
              </a:solidFill>
              <a:latin typeface="DM Sans"/>
              <a:ea typeface="DM Sans"/>
              <a:cs typeface="DM Sans"/>
              <a:sym typeface="DM Sans"/>
            </a:endParaRPr>
          </a:p>
        </p:txBody>
      </p:sp>
      <p:cxnSp>
        <p:nvCxnSpPr>
          <p:cNvPr id="66" name="Google Shape;66;p16"/>
          <p:cNvCxnSpPr>
            <a:stCxn id="58" idx="2"/>
            <a:endCxn id="60" idx="0"/>
          </p:cNvCxnSpPr>
          <p:nvPr/>
        </p:nvCxnSpPr>
        <p:spPr>
          <a:xfrm flipH="1" rot="-5400000">
            <a:off x="2052975" y="1960237"/>
            <a:ext cx="436500" cy="600"/>
          </a:xfrm>
          <a:prstGeom prst="bentConnector3">
            <a:avLst>
              <a:gd fmla="val 49991" name="adj1"/>
            </a:avLst>
          </a:prstGeom>
          <a:noFill/>
          <a:ln cap="flat" cmpd="sng" w="9525">
            <a:solidFill>
              <a:srgbClr val="EAFF6A"/>
            </a:solidFill>
            <a:prstDash val="solid"/>
            <a:round/>
            <a:headEnd len="med" w="med" type="none"/>
            <a:tailEnd len="med" w="med" type="none"/>
          </a:ln>
        </p:spPr>
      </p:cxnSp>
      <p:cxnSp>
        <p:nvCxnSpPr>
          <p:cNvPr id="67" name="Google Shape;67;p16"/>
          <p:cNvCxnSpPr>
            <a:stCxn id="60" idx="2"/>
            <a:endCxn id="62" idx="0"/>
          </p:cNvCxnSpPr>
          <p:nvPr/>
        </p:nvCxnSpPr>
        <p:spPr>
          <a:xfrm flipH="1" rot="-5400000">
            <a:off x="2042475" y="2603837"/>
            <a:ext cx="456900" cy="600"/>
          </a:xfrm>
          <a:prstGeom prst="bentConnector3">
            <a:avLst>
              <a:gd fmla="val 50011" name="adj1"/>
            </a:avLst>
          </a:prstGeom>
          <a:noFill/>
          <a:ln cap="flat" cmpd="sng" w="9525">
            <a:solidFill>
              <a:srgbClr val="EAFF6A"/>
            </a:solidFill>
            <a:prstDash val="solid"/>
            <a:round/>
            <a:headEnd len="med" w="med" type="none"/>
            <a:tailEnd len="med" w="med" type="none"/>
          </a:ln>
        </p:spPr>
      </p:cxnSp>
      <p:cxnSp>
        <p:nvCxnSpPr>
          <p:cNvPr id="68" name="Google Shape;68;p16"/>
          <p:cNvCxnSpPr>
            <a:stCxn id="62" idx="2"/>
            <a:endCxn id="64" idx="0"/>
          </p:cNvCxnSpPr>
          <p:nvPr/>
        </p:nvCxnSpPr>
        <p:spPr>
          <a:xfrm flipH="1" rot="-5400000">
            <a:off x="2024025" y="3276262"/>
            <a:ext cx="493800" cy="600"/>
          </a:xfrm>
          <a:prstGeom prst="bentConnector3">
            <a:avLst>
              <a:gd fmla="val 49987" name="adj1"/>
            </a:avLst>
          </a:prstGeom>
          <a:noFill/>
          <a:ln cap="flat" cmpd="sng" w="9525">
            <a:solidFill>
              <a:srgbClr val="EAFF6A"/>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7"/>
          <p:cNvSpPr txBox="1"/>
          <p:nvPr/>
        </p:nvSpPr>
        <p:spPr>
          <a:xfrm>
            <a:off x="475500" y="971050"/>
            <a:ext cx="48495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Context </a:t>
            </a:r>
            <a:endParaRPr b="1" sz="4000">
              <a:solidFill>
                <a:schemeClr val="dk1"/>
              </a:solidFill>
              <a:latin typeface="DM Sans"/>
              <a:ea typeface="DM Sans"/>
              <a:cs typeface="DM Sans"/>
              <a:sym typeface="DM Sans"/>
            </a:endParaRPr>
          </a:p>
        </p:txBody>
      </p:sp>
      <p:pic>
        <p:nvPicPr>
          <p:cNvPr id="74" name="Google Shape;74;p17"/>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75" name="Google Shape;75;p17"/>
          <p:cNvSpPr txBox="1"/>
          <p:nvPr/>
        </p:nvSpPr>
        <p:spPr>
          <a:xfrm>
            <a:off x="475500" y="2515575"/>
            <a:ext cx="5088600" cy="2065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Administrar un </a:t>
            </a:r>
            <a:r>
              <a:rPr lang="es" sz="1350">
                <a:latin typeface="DM Sans"/>
                <a:ea typeface="DM Sans"/>
                <a:cs typeface="DM Sans"/>
                <a:sym typeface="DM Sans"/>
              </a:rPr>
              <a:t>Context </a:t>
            </a:r>
            <a:r>
              <a:rPr lang="es" sz="1350">
                <a:latin typeface="DM Sans"/>
                <a:ea typeface="DM Sans"/>
                <a:cs typeface="DM Sans"/>
                <a:sym typeface="DM Sans"/>
              </a:rPr>
              <a:t>te servirá para gestionar y compartir datos a través de componentes sin tener que pasar manualmente props a lo largo de la jerarquía de componentes. Algunos casos de uso son: datos del usuario activo, configuración del tema de estilos de la interfaz, o la gestión del carrito de compras para tu proyecto.</a:t>
            </a:r>
            <a:endParaRPr sz="1350">
              <a:latin typeface="DM Sans"/>
              <a:ea typeface="DM Sans"/>
              <a:cs typeface="DM Sans"/>
              <a:sym typeface="DM Sans"/>
            </a:endParaRPr>
          </a:p>
          <a:p>
            <a:pPr indent="0" lvl="0" marL="0" rtl="0" algn="l">
              <a:lnSpc>
                <a:spcPct val="115000"/>
              </a:lnSpc>
              <a:spcBef>
                <a:spcPts val="0"/>
              </a:spcBef>
              <a:spcAft>
                <a:spcPts val="0"/>
              </a:spcAft>
              <a:buClr>
                <a:schemeClr val="dk1"/>
              </a:buClr>
              <a:buSzPts val="1100"/>
              <a:buFont typeface="Arial"/>
              <a:buNone/>
            </a:pPr>
            <a:r>
              <a:t/>
            </a:r>
            <a:endParaRPr sz="1350">
              <a:latin typeface="DM Sans"/>
              <a:ea typeface="DM Sans"/>
              <a:cs typeface="DM Sans"/>
              <a:sym typeface="DM Sans"/>
            </a:endParaRPr>
          </a:p>
          <a:p>
            <a:pPr indent="0" lvl="0" marL="0" rtl="0" algn="l">
              <a:lnSpc>
                <a:spcPct val="115000"/>
              </a:lnSpc>
              <a:spcBef>
                <a:spcPts val="0"/>
              </a:spcBef>
              <a:spcAft>
                <a:spcPts val="0"/>
              </a:spcAft>
              <a:buNone/>
            </a:pPr>
            <a:r>
              <a:t/>
            </a:r>
            <a:endParaRPr sz="1350">
              <a:latin typeface="DM Sans"/>
              <a:ea typeface="DM Sans"/>
              <a:cs typeface="DM Sans"/>
              <a:sym typeface="DM Sans"/>
            </a:endParaRPr>
          </a:p>
        </p:txBody>
      </p:sp>
      <p:pic>
        <p:nvPicPr>
          <p:cNvPr id="76" name="Google Shape;76;p17"/>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77" name="Google Shape;77;p17"/>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grpSp>
        <p:nvGrpSpPr>
          <p:cNvPr id="82" name="Google Shape;82;p18"/>
          <p:cNvGrpSpPr/>
          <p:nvPr/>
        </p:nvGrpSpPr>
        <p:grpSpPr>
          <a:xfrm>
            <a:off x="2172088" y="1852650"/>
            <a:ext cx="197100" cy="197100"/>
            <a:chOff x="2172088" y="1852650"/>
            <a:chExt cx="197100" cy="197100"/>
          </a:xfrm>
        </p:grpSpPr>
        <p:sp>
          <p:nvSpPr>
            <p:cNvPr id="83" name="Google Shape;83;p18"/>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8"/>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18"/>
          <p:cNvGrpSpPr/>
          <p:nvPr/>
        </p:nvGrpSpPr>
        <p:grpSpPr>
          <a:xfrm>
            <a:off x="2172088" y="2455775"/>
            <a:ext cx="197100" cy="197100"/>
            <a:chOff x="2172088" y="2455775"/>
            <a:chExt cx="197100" cy="197100"/>
          </a:xfrm>
        </p:grpSpPr>
        <p:sp>
          <p:nvSpPr>
            <p:cNvPr id="86" name="Google Shape;86;p18"/>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8"/>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8" name="Google Shape;88;p18"/>
          <p:cNvCxnSpPr>
            <a:endCxn id="86"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89" name="Google Shape;89;p18"/>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Recapitulación Context</a:t>
            </a:r>
            <a:endParaRPr b="1" sz="4000">
              <a:solidFill>
                <a:schemeClr val="dk1"/>
              </a:solidFill>
              <a:latin typeface="DM Sans"/>
              <a:ea typeface="DM Sans"/>
              <a:cs typeface="DM Sans"/>
              <a:sym typeface="DM Sans"/>
            </a:endParaRPr>
          </a:p>
        </p:txBody>
      </p:sp>
      <p:sp>
        <p:nvSpPr>
          <p:cNvPr id="90" name="Google Shape;90;p18"/>
          <p:cNvSpPr txBox="1"/>
          <p:nvPr/>
        </p:nvSpPr>
        <p:spPr>
          <a:xfrm>
            <a:off x="2690573" y="1731413"/>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solidFill>
                  <a:schemeClr val="dk1"/>
                </a:solidFill>
                <a:highlight>
                  <a:schemeClr val="lt1"/>
                </a:highlight>
                <a:latin typeface="DM Sans"/>
                <a:ea typeface="DM Sans"/>
                <a:cs typeface="DM Sans"/>
                <a:sym typeface="DM Sans"/>
              </a:rPr>
              <a:t>Permiten</a:t>
            </a:r>
            <a:r>
              <a:rPr lang="es" sz="1350">
                <a:solidFill>
                  <a:schemeClr val="dk1"/>
                </a:solidFill>
                <a:highlight>
                  <a:schemeClr val="lt1"/>
                </a:highlight>
                <a:latin typeface="DM Sans"/>
                <a:ea typeface="DM Sans"/>
                <a:cs typeface="DM Sans"/>
                <a:sym typeface="DM Sans"/>
              </a:rPr>
              <a:t> compartir un valor único cross-app.</a:t>
            </a:r>
            <a:endParaRPr sz="1350">
              <a:solidFill>
                <a:schemeClr val="dk1"/>
              </a:solidFill>
              <a:latin typeface="DM Sans"/>
              <a:ea typeface="DM Sans"/>
              <a:cs typeface="DM Sans"/>
              <a:sym typeface="DM Sans"/>
            </a:endParaRPr>
          </a:p>
        </p:txBody>
      </p:sp>
      <p:sp>
        <p:nvSpPr>
          <p:cNvPr id="91" name="Google Shape;91;p18"/>
          <p:cNvSpPr txBox="1"/>
          <p:nvPr/>
        </p:nvSpPr>
        <p:spPr>
          <a:xfrm>
            <a:off x="2690573" y="2334538"/>
            <a:ext cx="4281300" cy="39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dk1"/>
                </a:solidFill>
                <a:highlight>
                  <a:schemeClr val="lt1"/>
                </a:highlight>
                <a:latin typeface="DM Sans"/>
                <a:ea typeface="DM Sans"/>
                <a:cs typeface="DM Sans"/>
                <a:sym typeface="DM Sans"/>
              </a:rPr>
              <a:t>Reducen </a:t>
            </a:r>
            <a:r>
              <a:rPr lang="es" sz="1350">
                <a:solidFill>
                  <a:schemeClr val="dk1"/>
                </a:solidFill>
                <a:highlight>
                  <a:schemeClr val="lt1"/>
                </a:highlight>
                <a:latin typeface="DM Sans"/>
                <a:ea typeface="DM Sans"/>
                <a:cs typeface="DM Sans"/>
                <a:sym typeface="DM Sans"/>
              </a:rPr>
              <a:t>el wrapper-hell (infierno de nesting).</a:t>
            </a:r>
            <a:endParaRPr sz="1350">
              <a:solidFill>
                <a:schemeClr val="dk1"/>
              </a:solidFill>
              <a:latin typeface="DM Sans"/>
              <a:ea typeface="DM Sans"/>
              <a:cs typeface="DM Sans"/>
              <a:sym typeface="DM Sans"/>
            </a:endParaRPr>
          </a:p>
        </p:txBody>
      </p:sp>
      <p:grpSp>
        <p:nvGrpSpPr>
          <p:cNvPr id="92" name="Google Shape;92;p18"/>
          <p:cNvGrpSpPr/>
          <p:nvPr/>
        </p:nvGrpSpPr>
        <p:grpSpPr>
          <a:xfrm>
            <a:off x="2172088" y="3082350"/>
            <a:ext cx="197100" cy="197100"/>
            <a:chOff x="2172088" y="3058775"/>
            <a:chExt cx="197100" cy="197100"/>
          </a:xfrm>
        </p:grpSpPr>
        <p:sp>
          <p:nvSpPr>
            <p:cNvPr id="93" name="Google Shape;93;p18"/>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8"/>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5" name="Google Shape;95;p18"/>
          <p:cNvCxnSpPr>
            <a:endCxn id="93"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grpSp>
        <p:nvGrpSpPr>
          <p:cNvPr id="96" name="Google Shape;96;p18"/>
          <p:cNvGrpSpPr/>
          <p:nvPr/>
        </p:nvGrpSpPr>
        <p:grpSpPr>
          <a:xfrm>
            <a:off x="2172088" y="3685475"/>
            <a:ext cx="197100" cy="197100"/>
            <a:chOff x="2172088" y="3661775"/>
            <a:chExt cx="197100" cy="197100"/>
          </a:xfrm>
        </p:grpSpPr>
        <p:sp>
          <p:nvSpPr>
            <p:cNvPr id="97" name="Google Shape;97;p18"/>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8"/>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99" name="Google Shape;99;p18"/>
          <p:cNvCxnSpPr>
            <a:endCxn id="97" idx="0"/>
          </p:cNvCxnSpPr>
          <p:nvPr/>
        </p:nvCxnSpPr>
        <p:spPr>
          <a:xfrm>
            <a:off x="2270638" y="3279575"/>
            <a:ext cx="0" cy="405900"/>
          </a:xfrm>
          <a:prstGeom prst="straightConnector1">
            <a:avLst/>
          </a:prstGeom>
          <a:noFill/>
          <a:ln cap="flat" cmpd="sng" w="9525">
            <a:solidFill>
              <a:srgbClr val="DEFC52"/>
            </a:solidFill>
            <a:prstDash val="solid"/>
            <a:round/>
            <a:headEnd len="med" w="med" type="none"/>
            <a:tailEnd len="med" w="med" type="none"/>
          </a:ln>
        </p:spPr>
      </p:cxnSp>
      <p:sp>
        <p:nvSpPr>
          <p:cNvPr id="100" name="Google Shape;100;p18"/>
          <p:cNvSpPr txBox="1"/>
          <p:nvPr/>
        </p:nvSpPr>
        <p:spPr>
          <a:xfrm>
            <a:off x="2690573" y="2984688"/>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dk1"/>
                </a:solidFill>
                <a:highlight>
                  <a:schemeClr val="lt1"/>
                </a:highlight>
                <a:latin typeface="DM Sans"/>
                <a:ea typeface="DM Sans"/>
                <a:cs typeface="DM Sans"/>
                <a:sym typeface="DM Sans"/>
              </a:rPr>
              <a:t>No sólo pueden llevar values</a:t>
            </a:r>
            <a:r>
              <a:rPr lang="es" sz="1350">
                <a:solidFill>
                  <a:schemeClr val="dk1"/>
                </a:solidFill>
                <a:highlight>
                  <a:schemeClr val="lt1"/>
                </a:highlight>
                <a:latin typeface="DM Sans"/>
                <a:ea typeface="DM Sans"/>
                <a:cs typeface="DM Sans"/>
                <a:sym typeface="DM Sans"/>
              </a:rPr>
              <a:t>, sino cualquier tipo de </a:t>
            </a:r>
            <a:r>
              <a:rPr b="1" lang="es" sz="1350">
                <a:solidFill>
                  <a:schemeClr val="dk1"/>
                </a:solidFill>
                <a:highlight>
                  <a:schemeClr val="lt1"/>
                </a:highlight>
                <a:latin typeface="DM Sans"/>
                <a:ea typeface="DM Sans"/>
                <a:cs typeface="DM Sans"/>
                <a:sym typeface="DM Sans"/>
              </a:rPr>
              <a:t>fn</a:t>
            </a:r>
            <a:r>
              <a:rPr lang="es" sz="1350">
                <a:solidFill>
                  <a:schemeClr val="dk1"/>
                </a:solidFill>
                <a:highlight>
                  <a:schemeClr val="lt1"/>
                </a:highlight>
                <a:latin typeface="DM Sans"/>
                <a:ea typeface="DM Sans"/>
                <a:cs typeface="DM Sans"/>
                <a:sym typeface="DM Sans"/>
              </a:rPr>
              <a:t>, </a:t>
            </a:r>
            <a:r>
              <a:rPr b="1" lang="es" sz="1350">
                <a:solidFill>
                  <a:schemeClr val="dk1"/>
                </a:solidFill>
                <a:highlight>
                  <a:schemeClr val="lt1"/>
                </a:highlight>
                <a:latin typeface="DM Sans"/>
                <a:ea typeface="DM Sans"/>
                <a:cs typeface="DM Sans"/>
                <a:sym typeface="DM Sans"/>
              </a:rPr>
              <a:t>obj</a:t>
            </a:r>
            <a:r>
              <a:rPr lang="es" sz="1350">
                <a:solidFill>
                  <a:schemeClr val="dk1"/>
                </a:solidFill>
                <a:highlight>
                  <a:schemeClr val="lt1"/>
                </a:highlight>
                <a:latin typeface="DM Sans"/>
                <a:ea typeface="DM Sans"/>
                <a:cs typeface="DM Sans"/>
                <a:sym typeface="DM Sans"/>
              </a:rPr>
              <a:t> o referencia.</a:t>
            </a:r>
            <a:endParaRPr sz="1350">
              <a:solidFill>
                <a:schemeClr val="dk1"/>
              </a:solidFill>
              <a:latin typeface="DM Sans"/>
              <a:ea typeface="DM Sans"/>
              <a:cs typeface="DM Sans"/>
              <a:sym typeface="DM Sans"/>
            </a:endParaRPr>
          </a:p>
        </p:txBody>
      </p:sp>
      <p:sp>
        <p:nvSpPr>
          <p:cNvPr id="101" name="Google Shape;101;p18"/>
          <p:cNvSpPr txBox="1"/>
          <p:nvPr/>
        </p:nvSpPr>
        <p:spPr>
          <a:xfrm>
            <a:off x="2690573" y="3587813"/>
            <a:ext cx="4281300" cy="631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solidFill>
                  <a:schemeClr val="dk1"/>
                </a:solidFill>
                <a:highlight>
                  <a:schemeClr val="lt1"/>
                </a:highlight>
                <a:latin typeface="DM Sans"/>
                <a:ea typeface="DM Sans"/>
                <a:cs typeface="DM Sans"/>
                <a:sym typeface="DM Sans"/>
              </a:rPr>
              <a:t>Toman </a:t>
            </a:r>
            <a:r>
              <a:rPr lang="es" sz="1350">
                <a:solidFill>
                  <a:schemeClr val="dk1"/>
                </a:solidFill>
                <a:highlight>
                  <a:schemeClr val="lt1"/>
                </a:highlight>
                <a:latin typeface="DM Sans"/>
                <a:ea typeface="DM Sans"/>
                <a:cs typeface="DM Sans"/>
                <a:sym typeface="DM Sans"/>
              </a:rPr>
              <a:t>el valor del provider más cercano o el definido durante su declaración.</a:t>
            </a:r>
            <a:endParaRPr sz="1350">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nvSpPr>
        <p:spPr>
          <a:xfrm>
            <a:off x="475500" y="971050"/>
            <a:ext cx="4849500" cy="240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Nodo Proveedor y Custom Provider</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Clr>
                <a:schemeClr val="dk1"/>
              </a:buClr>
              <a:buSzPts val="1100"/>
              <a:buFont typeface="Arial"/>
              <a:buNone/>
            </a:pPr>
            <a:r>
              <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sp>
        <p:nvSpPr>
          <p:cNvPr id="107" name="Google Shape;107;p19"/>
          <p:cNvSpPr txBox="1"/>
          <p:nvPr/>
        </p:nvSpPr>
        <p:spPr>
          <a:xfrm>
            <a:off x="475500" y="2515575"/>
            <a:ext cx="5088600" cy="200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Creando un componente y, usándolo como Custom Provider, podrás administrar información de la aplicación de forma dinámica utilizando el hook </a:t>
            </a:r>
            <a:r>
              <a:rPr b="1" lang="es" sz="1350">
                <a:latin typeface="DM Sans"/>
                <a:ea typeface="DM Sans"/>
                <a:cs typeface="DM Sans"/>
                <a:sym typeface="DM Sans"/>
              </a:rPr>
              <a:t>useState</a:t>
            </a:r>
            <a:r>
              <a:rPr lang="es" sz="1350">
                <a:latin typeface="DM Sans"/>
                <a:ea typeface="DM Sans"/>
                <a:cs typeface="DM Sans"/>
                <a:sym typeface="DM Sans"/>
              </a:rPr>
              <a:t>. </a:t>
            </a:r>
            <a:r>
              <a:rPr lang="es" sz="1350">
                <a:solidFill>
                  <a:schemeClr val="dk1"/>
                </a:solidFill>
                <a:latin typeface="DM Sans"/>
                <a:ea typeface="DM Sans"/>
                <a:cs typeface="DM Sans"/>
                <a:sym typeface="DM Sans"/>
              </a:rPr>
              <a:t>Cada vez que ocurra una actualización de estado en el Custom Provider, esta se propagará a todos los componentes consumers.</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Con un Custom Provider podrás administrar todos los productos que el usuario agregue al carrito, y crear funcionalidad que te permita manipularlo</a:t>
            </a:r>
            <a:endParaRPr sz="1350">
              <a:latin typeface="DM Sans"/>
              <a:ea typeface="DM Sans"/>
              <a:cs typeface="DM Sans"/>
              <a:sym typeface="DM Sans"/>
            </a:endParaRPr>
          </a:p>
        </p:txBody>
      </p:sp>
      <p:pic>
        <p:nvPicPr>
          <p:cNvPr id="108" name="Google Shape;108;p19"/>
          <p:cNvPicPr preferRelativeResize="0"/>
          <p:nvPr/>
        </p:nvPicPr>
        <p:blipFill>
          <a:blip r:embed="rId3">
            <a:alphaModFix/>
          </a:blip>
          <a:stretch>
            <a:fillRect/>
          </a:stretch>
        </p:blipFill>
        <p:spPr>
          <a:xfrm>
            <a:off x="7811413" y="4692275"/>
            <a:ext cx="1150750" cy="267575"/>
          </a:xfrm>
          <a:prstGeom prst="rect">
            <a:avLst/>
          </a:prstGeom>
          <a:noFill/>
          <a:ln>
            <a:noFill/>
          </a:ln>
        </p:spPr>
      </p:pic>
      <p:pic>
        <p:nvPicPr>
          <p:cNvPr id="109" name="Google Shape;109;p19"/>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10" name="Google Shape;110;p19"/>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nvSpPr>
        <p:spPr>
          <a:xfrm>
            <a:off x="475500" y="971050"/>
            <a:ext cx="48495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a:t>
            </a:r>
            <a:r>
              <a:rPr b="1" lang="es" sz="4000">
                <a:solidFill>
                  <a:schemeClr val="dk1"/>
                </a:solidFill>
                <a:latin typeface="DM Sans"/>
                <a:ea typeface="DM Sans"/>
                <a:cs typeface="DM Sans"/>
                <a:sym typeface="DM Sans"/>
              </a:rPr>
              <a:t>endering condicional</a:t>
            </a:r>
            <a:endParaRPr b="1" sz="4000">
              <a:solidFill>
                <a:schemeClr val="dk1"/>
              </a:solidFill>
              <a:latin typeface="DM Sans"/>
              <a:ea typeface="DM Sans"/>
              <a:cs typeface="DM Sans"/>
              <a:sym typeface="DM Sans"/>
            </a:endParaRPr>
          </a:p>
        </p:txBody>
      </p:sp>
      <p:pic>
        <p:nvPicPr>
          <p:cNvPr id="116" name="Google Shape;116;p20"/>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17" name="Google Shape;117;p20"/>
          <p:cNvSpPr txBox="1"/>
          <p:nvPr/>
        </p:nvSpPr>
        <p:spPr>
          <a:xfrm>
            <a:off x="475500" y="2515575"/>
            <a:ext cx="4751100" cy="158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solidFill>
                  <a:schemeClr val="dk1"/>
                </a:solidFill>
                <a:latin typeface="DM Sans"/>
                <a:ea typeface="DM Sans"/>
                <a:cs typeface="DM Sans"/>
                <a:sym typeface="DM Sans"/>
              </a:rPr>
              <a:t>El rendering condicional en React se refiere a la capacidad de mostrar diferentes elementos o componentes en función de ciertas condiciones.</a:t>
            </a:r>
            <a:endParaRPr sz="1350">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rPr lang="es" sz="1350">
                <a:latin typeface="DM Sans"/>
                <a:ea typeface="DM Sans"/>
                <a:cs typeface="DM Sans"/>
                <a:sym typeface="DM Sans"/>
              </a:rPr>
              <a:t>Hay diversas maneras de alterar el renderizado de componente en base a información que provenga del estado, de props o de datos externos.</a:t>
            </a:r>
            <a:endParaRPr b="1" sz="1350">
              <a:latin typeface="DM Sans"/>
              <a:ea typeface="DM Sans"/>
              <a:cs typeface="DM Sans"/>
              <a:sym typeface="DM Sans"/>
            </a:endParaRPr>
          </a:p>
        </p:txBody>
      </p:sp>
      <p:pic>
        <p:nvPicPr>
          <p:cNvPr id="118" name="Google Shape;118;p20"/>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19" name="Google Shape;119;p20"/>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1"/>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25" name="Google Shape;125;p21"/>
          <p:cNvSpPr txBox="1"/>
          <p:nvPr/>
        </p:nvSpPr>
        <p:spPr>
          <a:xfrm>
            <a:off x="475500" y="2515575"/>
            <a:ext cx="5088600" cy="134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 sz="1350">
                <a:latin typeface="DM Sans"/>
                <a:ea typeface="DM Sans"/>
                <a:cs typeface="DM Sans"/>
                <a:sym typeface="DM Sans"/>
              </a:rPr>
              <a:t>Utilizando operadores condicionales, también podemos modificar distintas características de los elementos de la interfaz, como su className o Style, y así generar diferente impacto visual dependiendo de las props que recibe un componente o de datos externos.</a:t>
            </a:r>
            <a:endParaRPr b="1" sz="1350">
              <a:latin typeface="DM Sans"/>
              <a:ea typeface="DM Sans"/>
              <a:cs typeface="DM Sans"/>
              <a:sym typeface="DM Sans"/>
            </a:endParaRPr>
          </a:p>
        </p:txBody>
      </p:sp>
      <p:pic>
        <p:nvPicPr>
          <p:cNvPr id="126" name="Google Shape;126;p21"/>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27" name="Google Shape;127;p21"/>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28" name="Google Shape;128;p21"/>
          <p:cNvSpPr txBox="1"/>
          <p:nvPr/>
        </p:nvSpPr>
        <p:spPr>
          <a:xfrm>
            <a:off x="475500" y="971050"/>
            <a:ext cx="48495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Rendering condicional</a:t>
            </a:r>
            <a:endParaRPr b="1" sz="4000">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2"/>
          <p:cNvSpPr txBox="1"/>
          <p:nvPr/>
        </p:nvSpPr>
        <p:spPr>
          <a:xfrm>
            <a:off x="475500" y="971050"/>
            <a:ext cx="4849500" cy="24012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 Render optimization</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Clr>
                <a:schemeClr val="dk1"/>
              </a:buClr>
              <a:buSzPts val="1100"/>
              <a:buFont typeface="Arial"/>
              <a:buNone/>
            </a:pPr>
            <a:r>
              <a:t/>
            </a:r>
            <a:endParaRPr b="1" sz="4000">
              <a:solidFill>
                <a:schemeClr val="dk1"/>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pic>
        <p:nvPicPr>
          <p:cNvPr id="134" name="Google Shape;134;p22"/>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35" name="Google Shape;135;p22"/>
          <p:cNvSpPr txBox="1"/>
          <p:nvPr/>
        </p:nvSpPr>
        <p:spPr>
          <a:xfrm>
            <a:off x="475500" y="2515575"/>
            <a:ext cx="5088600" cy="182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s" sz="1350">
                <a:latin typeface="DM Sans"/>
                <a:ea typeface="DM Sans"/>
                <a:cs typeface="DM Sans"/>
                <a:sym typeface="DM Sans"/>
              </a:rPr>
              <a:t>Memo </a:t>
            </a:r>
            <a:r>
              <a:rPr lang="es" sz="1350">
                <a:latin typeface="DM Sans"/>
                <a:ea typeface="DM Sans"/>
                <a:cs typeface="DM Sans"/>
                <a:sym typeface="DM Sans"/>
              </a:rPr>
              <a:t>es una función de optimización de rendimiento que  sirve para memorizar o almacenar en caché el resultado de un componente, evitando su renderización innecesaria cuando las props no han cambiado. Al envolver un componente con React.memo, se compara las props actuales con las props anteriores, y solo se vuelve a renderizar si hay cambios. </a:t>
            </a:r>
            <a:endParaRPr b="1" sz="1350">
              <a:latin typeface="DM Sans"/>
              <a:ea typeface="DM Sans"/>
              <a:cs typeface="DM Sans"/>
              <a:sym typeface="DM Sans"/>
            </a:endParaRPr>
          </a:p>
        </p:txBody>
      </p:sp>
      <p:pic>
        <p:nvPicPr>
          <p:cNvPr id="136" name="Google Shape;136;p22"/>
          <p:cNvPicPr preferRelativeResize="0"/>
          <p:nvPr/>
        </p:nvPicPr>
        <p:blipFill>
          <a:blip r:embed="rId4">
            <a:alphaModFix/>
          </a:blip>
          <a:stretch>
            <a:fillRect/>
          </a:stretch>
        </p:blipFill>
        <p:spPr>
          <a:xfrm>
            <a:off x="5673600" y="0"/>
            <a:ext cx="3470406" cy="5143500"/>
          </a:xfrm>
          <a:prstGeom prst="rect">
            <a:avLst/>
          </a:prstGeom>
          <a:noFill/>
          <a:ln>
            <a:noFill/>
          </a:ln>
        </p:spPr>
      </p:pic>
      <p:pic>
        <p:nvPicPr>
          <p:cNvPr id="137" name="Google Shape;137;p22"/>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3"/>
          <p:cNvSpPr txBox="1"/>
          <p:nvPr/>
        </p:nvSpPr>
        <p:spPr>
          <a:xfrm>
            <a:off x="475500" y="1181850"/>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El costo de memo</a:t>
            </a:r>
            <a:endParaRPr b="1" sz="3500">
              <a:solidFill>
                <a:schemeClr val="dk1"/>
              </a:solidFill>
              <a:latin typeface="DM Sans"/>
              <a:ea typeface="DM Sans"/>
              <a:cs typeface="DM Sans"/>
              <a:sym typeface="DM Sans"/>
            </a:endParaRPr>
          </a:p>
        </p:txBody>
      </p:sp>
      <p:sp>
        <p:nvSpPr>
          <p:cNvPr id="143" name="Google Shape;143;p23"/>
          <p:cNvSpPr txBox="1"/>
          <p:nvPr/>
        </p:nvSpPr>
        <p:spPr>
          <a:xfrm>
            <a:off x="475500" y="2235575"/>
            <a:ext cx="8460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800">
                <a:solidFill>
                  <a:schemeClr val="dk2"/>
                </a:solidFill>
                <a:latin typeface="DM Sans"/>
                <a:ea typeface="DM Sans"/>
                <a:cs typeface="DM Sans"/>
                <a:sym typeface="DM Sans"/>
              </a:rPr>
              <a:t>Ten en cuenta, que el uso de memo tiene un costo secundario asociado, ya que React debe almacenar en memoria una representación del componente y realizar una verificación adicional de props.</a:t>
            </a:r>
            <a:endParaRPr sz="1800">
              <a:solidFill>
                <a:schemeClr val="dk2"/>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800">
              <a:solidFill>
                <a:schemeClr val="dk2"/>
              </a:solidFill>
              <a:latin typeface="DM Sans"/>
              <a:ea typeface="DM Sans"/>
              <a:cs typeface="DM Sans"/>
              <a:sym typeface="DM Sans"/>
            </a:endParaRPr>
          </a:p>
          <a:p>
            <a:pPr indent="0" lvl="0" marL="0" rtl="0" algn="l">
              <a:spcBef>
                <a:spcPts val="0"/>
              </a:spcBef>
              <a:spcAft>
                <a:spcPts val="0"/>
              </a:spcAft>
              <a:buNone/>
            </a:pPr>
            <a:r>
              <a:rPr lang="es" sz="1800">
                <a:solidFill>
                  <a:schemeClr val="dk2"/>
                </a:solidFill>
                <a:latin typeface="DM Sans"/>
                <a:ea typeface="DM Sans"/>
                <a:cs typeface="DM Sans"/>
                <a:sym typeface="DM Sans"/>
              </a:rPr>
              <a:t>Por este motivo, es importante utilizar memoization solo en los casos recomendados y realizar un diagnóstico previo de tu aplicación para determinar si su uso implica una mejora real en la performance.</a:t>
            </a:r>
            <a:endParaRPr b="1" sz="1800">
              <a:solidFill>
                <a:srgbClr val="B7B7B7"/>
              </a:solidFill>
              <a:latin typeface="Helvetica Neue"/>
              <a:ea typeface="Helvetica Neue"/>
              <a:cs typeface="Helvetica Neue"/>
              <a:sym typeface="Helvetica Neue"/>
            </a:endParaRPr>
          </a:p>
        </p:txBody>
      </p:sp>
      <p:grpSp>
        <p:nvGrpSpPr>
          <p:cNvPr id="144" name="Google Shape;144;p23"/>
          <p:cNvGrpSpPr/>
          <p:nvPr/>
        </p:nvGrpSpPr>
        <p:grpSpPr>
          <a:xfrm>
            <a:off x="0" y="-7400"/>
            <a:ext cx="9143925" cy="44400"/>
            <a:chOff x="0" y="-7400"/>
            <a:chExt cx="9143925" cy="44400"/>
          </a:xfrm>
        </p:grpSpPr>
        <p:sp>
          <p:nvSpPr>
            <p:cNvPr id="145" name="Google Shape;145;p23"/>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146" name="Google Shape;146;p23"/>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grpSp>
        <p:nvGrpSpPr>
          <p:cNvPr id="151" name="Google Shape;151;p24"/>
          <p:cNvGrpSpPr/>
          <p:nvPr/>
        </p:nvGrpSpPr>
        <p:grpSpPr>
          <a:xfrm>
            <a:off x="4202551" y="1088764"/>
            <a:ext cx="738900" cy="738974"/>
            <a:chOff x="974706" y="2467173"/>
            <a:chExt cx="738900" cy="738900"/>
          </a:xfrm>
        </p:grpSpPr>
        <p:sp>
          <p:nvSpPr>
            <p:cNvPr id="152" name="Google Shape;152;p24"/>
            <p:cNvSpPr/>
            <p:nvPr/>
          </p:nvSpPr>
          <p:spPr>
            <a:xfrm>
              <a:off x="974706" y="2467173"/>
              <a:ext cx="738900" cy="738900"/>
            </a:xfrm>
            <a:prstGeom prst="ellipse">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24"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154" name="Google Shape;154;p24"/>
          <p:cNvSpPr txBox="1"/>
          <p:nvPr/>
        </p:nvSpPr>
        <p:spPr>
          <a:xfrm>
            <a:off x="1547025" y="1925250"/>
            <a:ext cx="6221400" cy="1847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User Context</a:t>
            </a:r>
            <a:endParaRPr b="1" sz="4000">
              <a:solidFill>
                <a:schemeClr val="dk1"/>
              </a:solidFill>
              <a:latin typeface="DM Sans"/>
              <a:ea typeface="DM Sans"/>
              <a:cs typeface="DM Sans"/>
              <a:sym typeface="DM Sans"/>
            </a:endParaRPr>
          </a:p>
          <a:p>
            <a:pPr indent="0" lvl="0" marL="0" rtl="0" algn="ctr">
              <a:lnSpc>
                <a:spcPct val="90000"/>
              </a:lnSpc>
              <a:spcBef>
                <a:spcPts val="0"/>
              </a:spcBef>
              <a:spcAft>
                <a:spcPts val="0"/>
              </a:spcAft>
              <a:buClr>
                <a:schemeClr val="dk1"/>
              </a:buClr>
              <a:buSzPts val="1100"/>
              <a:buFont typeface="Arial"/>
              <a:buNone/>
            </a:pPr>
            <a:r>
              <a:t/>
            </a:r>
            <a:endParaRPr b="1" sz="4000">
              <a:solidFill>
                <a:schemeClr val="dk1"/>
              </a:solidFill>
              <a:latin typeface="DM Sans"/>
              <a:ea typeface="DM Sans"/>
              <a:cs typeface="DM Sans"/>
              <a:sym typeface="DM Sans"/>
            </a:endParaRPr>
          </a:p>
          <a:p>
            <a:pPr indent="0" lvl="0" marL="0" rtl="0" algn="ctr">
              <a:lnSpc>
                <a:spcPct val="90000"/>
              </a:lnSpc>
              <a:spcBef>
                <a:spcPts val="0"/>
              </a:spcBef>
              <a:spcAft>
                <a:spcPts val="0"/>
              </a:spcAft>
              <a:buNone/>
            </a:pPr>
            <a:r>
              <a:t/>
            </a:r>
            <a:endParaRPr b="1" sz="4000">
              <a:solidFill>
                <a:schemeClr val="dk1"/>
              </a:solidFill>
              <a:latin typeface="DM Sans"/>
              <a:ea typeface="DM Sans"/>
              <a:cs typeface="DM Sans"/>
              <a:sym typeface="DM Sans"/>
            </a:endParaRPr>
          </a:p>
        </p:txBody>
      </p:sp>
      <p:sp>
        <p:nvSpPr>
          <p:cNvPr id="155" name="Google Shape;155;p24"/>
          <p:cNvSpPr txBox="1"/>
          <p:nvPr/>
        </p:nvSpPr>
        <p:spPr>
          <a:xfrm>
            <a:off x="987300" y="32873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rgbClr val="999999"/>
                </a:solidFill>
                <a:latin typeface="DM Sans"/>
                <a:ea typeface="DM Sans"/>
                <a:cs typeface="DM Sans"/>
                <a:sym typeface="DM Sans"/>
              </a:rPr>
              <a:t>¡Vamos a recuperar lo trabajado durante la semana! </a:t>
            </a:r>
            <a:endParaRPr sz="2000">
              <a:solidFill>
                <a:srgbClr val="999999"/>
              </a:solidFill>
              <a:latin typeface="DM Sans"/>
              <a:ea typeface="DM Sans"/>
              <a:cs typeface="DM Sans"/>
              <a:sym typeface="DM Sans"/>
            </a:endParaRPr>
          </a:p>
        </p:txBody>
      </p:sp>
      <p:sp>
        <p:nvSpPr>
          <p:cNvPr id="156" name="Google Shape;156;p24"/>
          <p:cNvSpPr txBox="1"/>
          <p:nvPr/>
        </p:nvSpPr>
        <p:spPr>
          <a:xfrm>
            <a:off x="987300" y="3849138"/>
            <a:ext cx="7169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800">
                <a:solidFill>
                  <a:srgbClr val="83AEFB"/>
                </a:solidFill>
                <a:latin typeface="DM Sans"/>
                <a:ea typeface="DM Sans"/>
                <a:cs typeface="DM Sans"/>
                <a:sym typeface="DM Sans"/>
              </a:rPr>
              <a:t>Duración: </a:t>
            </a:r>
            <a:r>
              <a:rPr b="1" lang="es" sz="1800">
                <a:solidFill>
                  <a:srgbClr val="83AEFB"/>
                </a:solidFill>
                <a:latin typeface="DM Sans"/>
                <a:ea typeface="DM Sans"/>
                <a:cs typeface="DM Sans"/>
                <a:sym typeface="DM Sans"/>
              </a:rPr>
              <a:t>10</a:t>
            </a:r>
            <a:r>
              <a:rPr b="1" lang="es" sz="1800">
                <a:solidFill>
                  <a:srgbClr val="83AEFB"/>
                </a:solidFill>
                <a:latin typeface="DM Sans"/>
                <a:ea typeface="DM Sans"/>
                <a:cs typeface="DM Sans"/>
                <a:sym typeface="DM Sans"/>
              </a:rPr>
              <a:t> </a:t>
            </a:r>
            <a:r>
              <a:rPr b="1" lang="es" sz="1800">
                <a:solidFill>
                  <a:srgbClr val="83AEFB"/>
                </a:solidFill>
                <a:latin typeface="DM Sans"/>
                <a:ea typeface="DM Sans"/>
                <a:cs typeface="DM Sans"/>
                <a:sym typeface="DM Sans"/>
              </a:rPr>
              <a:t>minutos</a:t>
            </a:r>
            <a:r>
              <a:rPr lang="es" sz="1800">
                <a:solidFill>
                  <a:srgbClr val="83AEFB"/>
                </a:solidFill>
                <a:latin typeface="DM Sans"/>
                <a:ea typeface="DM Sans"/>
                <a:cs typeface="DM Sans"/>
                <a:sym typeface="DM Sans"/>
              </a:rPr>
              <a:t>.</a:t>
            </a:r>
            <a:endParaRPr sz="1800">
              <a:solidFill>
                <a:srgbClr val="83AEFB"/>
              </a:solidFill>
              <a:latin typeface="DM Sans"/>
              <a:ea typeface="DM Sans"/>
              <a:cs typeface="DM Sans"/>
              <a:sym typeface="DM Sans"/>
            </a:endParaRPr>
          </a:p>
        </p:txBody>
      </p:sp>
      <p:grpSp>
        <p:nvGrpSpPr>
          <p:cNvPr id="157" name="Google Shape;157;p24"/>
          <p:cNvGrpSpPr/>
          <p:nvPr/>
        </p:nvGrpSpPr>
        <p:grpSpPr>
          <a:xfrm>
            <a:off x="0" y="-7400"/>
            <a:ext cx="9143925" cy="44400"/>
            <a:chOff x="0" y="-7400"/>
            <a:chExt cx="9143925" cy="44400"/>
          </a:xfrm>
        </p:grpSpPr>
        <p:sp>
          <p:nvSpPr>
            <p:cNvPr id="158" name="Google Shape;158;p24"/>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159" name="Google Shape;159;p24"/>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3" name="Shape 163"/>
        <p:cNvGrpSpPr/>
        <p:nvPr/>
      </p:nvGrpSpPr>
      <p:grpSpPr>
        <a:xfrm>
          <a:off x="0" y="0"/>
          <a:ext cx="0" cy="0"/>
          <a:chOff x="0" y="0"/>
          <a:chExt cx="0" cy="0"/>
        </a:xfrm>
      </p:grpSpPr>
      <p:sp>
        <p:nvSpPr>
          <p:cNvPr id="164" name="Google Shape;164;p25"/>
          <p:cNvSpPr/>
          <p:nvPr/>
        </p:nvSpPr>
        <p:spPr>
          <a:xfrm>
            <a:off x="485050" y="3937450"/>
            <a:ext cx="8183700" cy="653400"/>
          </a:xfrm>
          <a:prstGeom prst="rect">
            <a:avLst/>
          </a:prstGeom>
          <a:solidFill>
            <a:srgbClr val="F0F7F5"/>
          </a:solidFill>
          <a:ln>
            <a:noFill/>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s" sz="1800">
                <a:solidFill>
                  <a:schemeClr val="accent5"/>
                </a:solidFill>
                <a:latin typeface="DM Sans"/>
                <a:ea typeface="DM Sans"/>
                <a:cs typeface="DM Sans"/>
                <a:sym typeface="DM Sans"/>
              </a:rPr>
              <a:t>Duración: </a:t>
            </a:r>
            <a:r>
              <a:rPr b="1" lang="es" sz="1800">
                <a:solidFill>
                  <a:schemeClr val="accent5"/>
                </a:solidFill>
                <a:latin typeface="DM Sans"/>
                <a:ea typeface="DM Sans"/>
                <a:cs typeface="DM Sans"/>
                <a:sym typeface="DM Sans"/>
              </a:rPr>
              <a:t>15 </a:t>
            </a:r>
            <a:r>
              <a:rPr b="1" lang="es" sz="1800">
                <a:solidFill>
                  <a:schemeClr val="accent5"/>
                </a:solidFill>
                <a:latin typeface="DM Sans"/>
                <a:ea typeface="DM Sans"/>
                <a:cs typeface="DM Sans"/>
                <a:sym typeface="DM Sans"/>
              </a:rPr>
              <a:t>minutos</a:t>
            </a:r>
            <a:r>
              <a:rPr lang="es" sz="1800">
                <a:solidFill>
                  <a:schemeClr val="accent5"/>
                </a:solidFill>
                <a:latin typeface="DM Sans"/>
                <a:ea typeface="DM Sans"/>
                <a:cs typeface="DM Sans"/>
                <a:sym typeface="DM Sans"/>
              </a:rPr>
              <a:t>.</a:t>
            </a:r>
            <a:endParaRPr sz="1800">
              <a:solidFill>
                <a:schemeClr val="accent5"/>
              </a:solidFill>
              <a:latin typeface="DM Sans"/>
              <a:ea typeface="DM Sans"/>
              <a:cs typeface="DM Sans"/>
              <a:sym typeface="DM Sans"/>
            </a:endParaRPr>
          </a:p>
          <a:p>
            <a:pPr indent="0" lvl="0" marL="0" rtl="0" algn="l">
              <a:spcBef>
                <a:spcPts val="0"/>
              </a:spcBef>
              <a:spcAft>
                <a:spcPts val="0"/>
              </a:spcAft>
              <a:buNone/>
            </a:pPr>
            <a:r>
              <a:t/>
            </a:r>
            <a:endParaRPr/>
          </a:p>
        </p:txBody>
      </p:sp>
      <p:sp>
        <p:nvSpPr>
          <p:cNvPr id="165" name="Google Shape;165;p25"/>
          <p:cNvSpPr/>
          <p:nvPr/>
        </p:nvSpPr>
        <p:spPr>
          <a:xfrm>
            <a:off x="475500" y="1694775"/>
            <a:ext cx="4131000" cy="21597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6" name="Google Shape;166;p25"/>
          <p:cNvPicPr preferRelativeResize="0"/>
          <p:nvPr/>
        </p:nvPicPr>
        <p:blipFill>
          <a:blip r:embed="rId3">
            <a:alphaModFix/>
          </a:blip>
          <a:stretch>
            <a:fillRect/>
          </a:stretch>
        </p:blipFill>
        <p:spPr>
          <a:xfrm>
            <a:off x="7811413" y="4692275"/>
            <a:ext cx="1150750" cy="267575"/>
          </a:xfrm>
          <a:prstGeom prst="rect">
            <a:avLst/>
          </a:prstGeom>
          <a:noFill/>
          <a:ln>
            <a:noFill/>
          </a:ln>
        </p:spPr>
      </p:pic>
      <p:sp>
        <p:nvSpPr>
          <p:cNvPr id="167" name="Google Shape;167;p25"/>
          <p:cNvSpPr txBox="1"/>
          <p:nvPr/>
        </p:nvSpPr>
        <p:spPr>
          <a:xfrm>
            <a:off x="469200" y="1077850"/>
            <a:ext cx="7353300" cy="531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2500">
                <a:solidFill>
                  <a:schemeClr val="dk1"/>
                </a:solidFill>
                <a:latin typeface="DM Sans"/>
                <a:ea typeface="DM Sans"/>
                <a:cs typeface="DM Sans"/>
                <a:sym typeface="DM Sans"/>
              </a:rPr>
              <a:t>User Context</a:t>
            </a:r>
            <a:endParaRPr b="1" sz="2500">
              <a:solidFill>
                <a:schemeClr val="dk1"/>
              </a:solidFill>
              <a:latin typeface="DM Sans"/>
              <a:ea typeface="DM Sans"/>
              <a:cs typeface="DM Sans"/>
              <a:sym typeface="DM Sans"/>
            </a:endParaRPr>
          </a:p>
        </p:txBody>
      </p:sp>
      <p:sp>
        <p:nvSpPr>
          <p:cNvPr id="168" name="Google Shape;168;p25"/>
          <p:cNvSpPr txBox="1"/>
          <p:nvPr/>
        </p:nvSpPr>
        <p:spPr>
          <a:xfrm>
            <a:off x="900300" y="455050"/>
            <a:ext cx="3831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600">
                <a:solidFill>
                  <a:schemeClr val="dk1"/>
                </a:solidFill>
                <a:latin typeface="DM Sans"/>
                <a:ea typeface="DM Sans"/>
                <a:cs typeface="DM Sans"/>
                <a:sym typeface="DM Sans"/>
              </a:rPr>
              <a:t>EJERCICIO</a:t>
            </a:r>
            <a:endParaRPr/>
          </a:p>
        </p:txBody>
      </p:sp>
      <p:sp>
        <p:nvSpPr>
          <p:cNvPr id="169" name="Google Shape;169;p25"/>
          <p:cNvSpPr/>
          <p:nvPr/>
        </p:nvSpPr>
        <p:spPr>
          <a:xfrm>
            <a:off x="4689651" y="1694775"/>
            <a:ext cx="3933900" cy="2139600"/>
          </a:xfrm>
          <a:prstGeom prst="rect">
            <a:avLst/>
          </a:prstGeom>
          <a:solidFill>
            <a:srgbClr val="F0F7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5"/>
          <p:cNvSpPr txBox="1"/>
          <p:nvPr/>
        </p:nvSpPr>
        <p:spPr>
          <a:xfrm>
            <a:off x="4729425" y="1839250"/>
            <a:ext cx="4232700" cy="392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s" sz="1350">
                <a:latin typeface="DM Sans"/>
                <a:ea typeface="DM Sans"/>
                <a:cs typeface="DM Sans"/>
                <a:sym typeface="DM Sans"/>
              </a:rPr>
              <a:t>Tips</a:t>
            </a:r>
            <a:endParaRPr sz="1200" u="sng">
              <a:solidFill>
                <a:srgbClr val="83AEFB"/>
              </a:solidFill>
              <a:latin typeface="DM Sans"/>
              <a:ea typeface="DM Sans"/>
              <a:cs typeface="DM Sans"/>
              <a:sym typeface="DM Sans"/>
            </a:endParaRPr>
          </a:p>
        </p:txBody>
      </p:sp>
      <p:grpSp>
        <p:nvGrpSpPr>
          <p:cNvPr id="171" name="Google Shape;171;p25"/>
          <p:cNvGrpSpPr/>
          <p:nvPr/>
        </p:nvGrpSpPr>
        <p:grpSpPr>
          <a:xfrm>
            <a:off x="0" y="-7400"/>
            <a:ext cx="9143925" cy="44400"/>
            <a:chOff x="0" y="-7400"/>
            <a:chExt cx="9143925" cy="44400"/>
          </a:xfrm>
        </p:grpSpPr>
        <p:sp>
          <p:nvSpPr>
            <p:cNvPr id="172" name="Google Shape;172;p25"/>
            <p:cNvSpPr/>
            <p:nvPr/>
          </p:nvSpPr>
          <p:spPr>
            <a:xfrm>
              <a:off x="5846625" y="-7400"/>
              <a:ext cx="3297300" cy="44400"/>
            </a:xfrm>
            <a:prstGeom prst="rect">
              <a:avLst/>
            </a:prstGeom>
            <a:solidFill>
              <a:srgbClr val="21212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00000"/>
                </a:solidFill>
                <a:latin typeface="DM Sans"/>
                <a:ea typeface="DM Sans"/>
                <a:cs typeface="DM Sans"/>
                <a:sym typeface="DM Sans"/>
              </a:endParaRPr>
            </a:p>
          </p:txBody>
        </p:sp>
        <p:sp>
          <p:nvSpPr>
            <p:cNvPr id="173" name="Google Shape;173;p25"/>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grpSp>
        <p:nvGrpSpPr>
          <p:cNvPr id="174" name="Google Shape;174;p25"/>
          <p:cNvGrpSpPr/>
          <p:nvPr/>
        </p:nvGrpSpPr>
        <p:grpSpPr>
          <a:xfrm>
            <a:off x="475509" y="435709"/>
            <a:ext cx="431100" cy="431100"/>
            <a:chOff x="475509" y="435709"/>
            <a:chExt cx="431100" cy="431100"/>
          </a:xfrm>
        </p:grpSpPr>
        <p:sp>
          <p:nvSpPr>
            <p:cNvPr id="175" name="Google Shape;175;p25"/>
            <p:cNvSpPr/>
            <p:nvPr/>
          </p:nvSpPr>
          <p:spPr>
            <a:xfrm>
              <a:off x="475509" y="435709"/>
              <a:ext cx="431100" cy="4311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300">
                <a:latin typeface="DM Sans"/>
                <a:ea typeface="DM Sans"/>
                <a:cs typeface="DM Sans"/>
                <a:sym typeface="DM Sans"/>
              </a:endParaRPr>
            </a:p>
          </p:txBody>
        </p:sp>
        <p:pic>
          <p:nvPicPr>
            <p:cNvPr id="176" name="Google Shape;176;p25" title="ícono de actividad en clase"/>
            <p:cNvPicPr preferRelativeResize="0"/>
            <p:nvPr/>
          </p:nvPicPr>
          <p:blipFill>
            <a:blip r:embed="rId4">
              <a:alphaModFix/>
            </a:blip>
            <a:stretch>
              <a:fillRect/>
            </a:stretch>
          </p:blipFill>
          <p:spPr>
            <a:xfrm>
              <a:off x="539150" y="499350"/>
              <a:ext cx="303800" cy="303800"/>
            </a:xfrm>
            <a:prstGeom prst="rect">
              <a:avLst/>
            </a:prstGeom>
            <a:noFill/>
            <a:ln>
              <a:noFill/>
            </a:ln>
          </p:spPr>
        </p:pic>
      </p:grpSp>
      <p:sp>
        <p:nvSpPr>
          <p:cNvPr id="177" name="Google Shape;177;p25"/>
          <p:cNvSpPr txBox="1"/>
          <p:nvPr/>
        </p:nvSpPr>
        <p:spPr>
          <a:xfrm>
            <a:off x="675350" y="2160025"/>
            <a:ext cx="367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00">
              <a:solidFill>
                <a:schemeClr val="dk1"/>
              </a:solidFill>
              <a:latin typeface="DM Sans"/>
              <a:ea typeface="DM Sans"/>
              <a:cs typeface="DM Sans"/>
              <a:sym typeface="DM Sans"/>
            </a:endParaRPr>
          </a:p>
        </p:txBody>
      </p:sp>
      <p:sp>
        <p:nvSpPr>
          <p:cNvPr id="178" name="Google Shape;178;p25"/>
          <p:cNvSpPr txBox="1"/>
          <p:nvPr/>
        </p:nvSpPr>
        <p:spPr>
          <a:xfrm>
            <a:off x="668550" y="1839250"/>
            <a:ext cx="3831900" cy="186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s" sz="1000">
                <a:solidFill>
                  <a:schemeClr val="dk1"/>
                </a:solidFill>
                <a:latin typeface="DM Sans"/>
                <a:ea typeface="DM Sans"/>
                <a:cs typeface="DM Sans"/>
                <a:sym typeface="DM Sans"/>
              </a:rPr>
              <a:t>Consigna</a:t>
            </a:r>
            <a:endParaRPr b="1" sz="1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br>
              <a:rPr lang="es" sz="1000">
                <a:solidFill>
                  <a:schemeClr val="dk1"/>
                </a:solidFill>
                <a:latin typeface="DM Sans"/>
                <a:ea typeface="DM Sans"/>
                <a:cs typeface="DM Sans"/>
                <a:sym typeface="DM Sans"/>
              </a:rPr>
            </a:br>
            <a:r>
              <a:rPr lang="es" sz="1000">
                <a:solidFill>
                  <a:schemeClr val="dk1"/>
                </a:solidFill>
                <a:latin typeface="DM Sans"/>
                <a:ea typeface="DM Sans"/>
                <a:cs typeface="DM Sans"/>
                <a:sym typeface="DM Sans"/>
              </a:rPr>
              <a:t>Edita la siguiente </a:t>
            </a:r>
            <a:r>
              <a:rPr b="1" lang="es" sz="1000" u="sng">
                <a:solidFill>
                  <a:schemeClr val="accent5"/>
                </a:solidFill>
                <a:latin typeface="DM Sans"/>
                <a:ea typeface="DM Sans"/>
                <a:cs typeface="DM Sans"/>
                <a:sym typeface="DM Sans"/>
                <a:hlinkClick r:id="rId5">
                  <a:extLst>
                    <a:ext uri="{A12FA001-AC4F-418D-AE19-62706E023703}">
                      <ahyp:hlinkClr val="tx"/>
                    </a:ext>
                  </a:extLst>
                </a:hlinkClick>
              </a:rPr>
              <a:t>aplicación de Stackblitz</a:t>
            </a:r>
            <a:r>
              <a:rPr lang="es" sz="1000">
                <a:solidFill>
                  <a:schemeClr val="dk1"/>
                </a:solidFill>
                <a:latin typeface="DM Sans"/>
                <a:ea typeface="DM Sans"/>
                <a:cs typeface="DM Sans"/>
                <a:sym typeface="DM Sans"/>
              </a:rPr>
              <a:t>.</a:t>
            </a:r>
            <a:endParaRPr sz="1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000">
                <a:solidFill>
                  <a:schemeClr val="dk1"/>
                </a:solidFill>
                <a:latin typeface="DM Sans"/>
                <a:ea typeface="DM Sans"/>
                <a:cs typeface="DM Sans"/>
                <a:sym typeface="DM Sans"/>
              </a:rPr>
              <a:t>Crea un </a:t>
            </a:r>
            <a:r>
              <a:rPr b="1" lang="es" sz="1000">
                <a:solidFill>
                  <a:schemeClr val="dk1"/>
                </a:solidFill>
                <a:latin typeface="DM Sans"/>
                <a:ea typeface="DM Sans"/>
                <a:cs typeface="DM Sans"/>
                <a:sym typeface="DM Sans"/>
              </a:rPr>
              <a:t>context </a:t>
            </a:r>
            <a:r>
              <a:rPr lang="es" sz="1000">
                <a:solidFill>
                  <a:schemeClr val="dk1"/>
                </a:solidFill>
                <a:latin typeface="DM Sans"/>
                <a:ea typeface="DM Sans"/>
                <a:cs typeface="DM Sans"/>
                <a:sym typeface="DM Sans"/>
              </a:rPr>
              <a:t>para almacenar los datos del usuario y evitar el paso de props a cada componente.</a:t>
            </a:r>
            <a:br>
              <a:rPr lang="es" sz="1000">
                <a:solidFill>
                  <a:schemeClr val="dk1"/>
                </a:solidFill>
                <a:latin typeface="DM Sans"/>
                <a:ea typeface="DM Sans"/>
                <a:cs typeface="DM Sans"/>
                <a:sym typeface="DM Sans"/>
              </a:rPr>
            </a:br>
            <a:r>
              <a:rPr lang="es" sz="1000">
                <a:solidFill>
                  <a:schemeClr val="dk1"/>
                </a:solidFill>
                <a:latin typeface="DM Sans"/>
                <a:ea typeface="DM Sans"/>
                <a:cs typeface="DM Sans"/>
                <a:sym typeface="DM Sans"/>
              </a:rPr>
              <a:t>Implementa el </a:t>
            </a:r>
            <a:r>
              <a:rPr b="1" lang="es" sz="1000">
                <a:solidFill>
                  <a:schemeClr val="dk1"/>
                </a:solidFill>
                <a:latin typeface="DM Sans"/>
                <a:ea typeface="DM Sans"/>
                <a:cs typeface="DM Sans"/>
                <a:sym typeface="DM Sans"/>
              </a:rPr>
              <a:t>context.Provider </a:t>
            </a:r>
            <a:r>
              <a:rPr lang="es" sz="1000">
                <a:solidFill>
                  <a:schemeClr val="dk1"/>
                </a:solidFill>
                <a:latin typeface="DM Sans"/>
                <a:ea typeface="DM Sans"/>
                <a:cs typeface="DM Sans"/>
                <a:sym typeface="DM Sans"/>
              </a:rPr>
              <a:t>para brindar acceso a los datos de usuario a los componentes children.</a:t>
            </a:r>
            <a:br>
              <a:rPr lang="es" sz="1000">
                <a:solidFill>
                  <a:schemeClr val="dk1"/>
                </a:solidFill>
                <a:latin typeface="DM Sans"/>
                <a:ea typeface="DM Sans"/>
                <a:cs typeface="DM Sans"/>
                <a:sym typeface="DM Sans"/>
              </a:rPr>
            </a:br>
            <a:r>
              <a:rPr lang="es" sz="1000">
                <a:solidFill>
                  <a:schemeClr val="dk1"/>
                </a:solidFill>
                <a:latin typeface="DM Sans"/>
                <a:ea typeface="DM Sans"/>
                <a:cs typeface="DM Sans"/>
                <a:sym typeface="DM Sans"/>
              </a:rPr>
              <a:t>Utiliza </a:t>
            </a:r>
            <a:r>
              <a:rPr b="1" lang="es" sz="1000">
                <a:solidFill>
                  <a:schemeClr val="dk1"/>
                </a:solidFill>
                <a:latin typeface="DM Sans"/>
                <a:ea typeface="DM Sans"/>
                <a:cs typeface="DM Sans"/>
                <a:sym typeface="DM Sans"/>
              </a:rPr>
              <a:t>useContext</a:t>
            </a:r>
            <a:r>
              <a:rPr lang="es" sz="1000">
                <a:solidFill>
                  <a:schemeClr val="dk1"/>
                </a:solidFill>
                <a:latin typeface="DM Sans"/>
                <a:ea typeface="DM Sans"/>
                <a:cs typeface="DM Sans"/>
                <a:sym typeface="DM Sans"/>
              </a:rPr>
              <a:t>() en cada componente para recibir la información almacenada en el context en lugar de las props.</a:t>
            </a:r>
            <a:endParaRPr sz="100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b="1" sz="900">
              <a:latin typeface="DM Sans"/>
              <a:ea typeface="DM Sans"/>
              <a:cs typeface="DM Sans"/>
              <a:sym typeface="DM Sans"/>
            </a:endParaRPr>
          </a:p>
        </p:txBody>
      </p:sp>
      <p:sp>
        <p:nvSpPr>
          <p:cNvPr id="179" name="Google Shape;179;p25"/>
          <p:cNvSpPr txBox="1"/>
          <p:nvPr/>
        </p:nvSpPr>
        <p:spPr>
          <a:xfrm>
            <a:off x="4780250" y="2109250"/>
            <a:ext cx="3642900" cy="1569900"/>
          </a:xfrm>
          <a:prstGeom prst="rect">
            <a:avLst/>
          </a:prstGeom>
          <a:noFill/>
          <a:ln>
            <a:noFill/>
          </a:ln>
        </p:spPr>
        <p:txBody>
          <a:bodyPr anchorCtr="0" anchor="t" bIns="91425" lIns="91425" spcFirstLastPara="1" rIns="91425" wrap="square" tIns="91425">
            <a:spAutoFit/>
          </a:bodyPr>
          <a:lstStyle/>
          <a:p>
            <a:pPr indent="-292100" lvl="0" marL="457200" rtl="0" algn="l">
              <a:spcBef>
                <a:spcPts val="0"/>
              </a:spcBef>
              <a:spcAft>
                <a:spcPts val="0"/>
              </a:spcAft>
              <a:buClr>
                <a:srgbClr val="000000"/>
              </a:buClr>
              <a:buSzPts val="1000"/>
              <a:buFont typeface="DM Sans"/>
              <a:buChar char="✓"/>
            </a:pPr>
            <a:r>
              <a:rPr lang="es" sz="1000">
                <a:latin typeface="DM Sans"/>
                <a:ea typeface="DM Sans"/>
                <a:cs typeface="DM Sans"/>
                <a:sym typeface="DM Sans"/>
              </a:rPr>
              <a:t>Recuerda que a useContext debes enviarle por parámetro el context al cual deseas conectarte</a:t>
            </a:r>
            <a:endParaRPr sz="1000">
              <a:latin typeface="DM Sans"/>
              <a:ea typeface="DM Sans"/>
              <a:cs typeface="DM Sans"/>
              <a:sym typeface="DM Sans"/>
            </a:endParaRPr>
          </a:p>
          <a:p>
            <a:pPr indent="0" lvl="0" marL="0" rtl="0" algn="l">
              <a:spcBef>
                <a:spcPts val="0"/>
              </a:spcBef>
              <a:spcAft>
                <a:spcPts val="0"/>
              </a:spcAft>
              <a:buNone/>
            </a:pPr>
            <a:r>
              <a:rPr lang="es" sz="1000">
                <a:latin typeface="DM Sans"/>
                <a:ea typeface="DM Sans"/>
                <a:cs typeface="DM Sans"/>
                <a:sym typeface="DM Sans"/>
              </a:rPr>
              <a:t> </a:t>
            </a:r>
            <a:endParaRPr sz="1000">
              <a:latin typeface="DM Sans"/>
              <a:ea typeface="DM Sans"/>
              <a:cs typeface="DM Sans"/>
              <a:sym typeface="DM Sans"/>
            </a:endParaRPr>
          </a:p>
          <a:p>
            <a:pPr indent="-292100" lvl="0" marL="457200" rtl="0" algn="l">
              <a:spcBef>
                <a:spcPts val="0"/>
              </a:spcBef>
              <a:spcAft>
                <a:spcPts val="0"/>
              </a:spcAft>
              <a:buClr>
                <a:srgbClr val="595959"/>
              </a:buClr>
              <a:buSzPts val="1000"/>
              <a:buFont typeface="DM Sans"/>
              <a:buChar char="✓"/>
            </a:pPr>
            <a:r>
              <a:rPr lang="es" sz="1000">
                <a:latin typeface="DM Sans"/>
                <a:ea typeface="DM Sans"/>
                <a:cs typeface="DM Sans"/>
                <a:sym typeface="DM Sans"/>
              </a:rPr>
              <a:t>Utiliza el context.Provider como componente wrapper del resto de la aplicación</a:t>
            </a:r>
            <a:br>
              <a:rPr lang="es" sz="1000">
                <a:latin typeface="DM Sans"/>
                <a:ea typeface="DM Sans"/>
                <a:cs typeface="DM Sans"/>
                <a:sym typeface="DM Sans"/>
              </a:rPr>
            </a:br>
            <a:endParaRPr sz="1000">
              <a:latin typeface="DM Sans"/>
              <a:ea typeface="DM Sans"/>
              <a:cs typeface="DM Sans"/>
              <a:sym typeface="DM Sans"/>
            </a:endParaRPr>
          </a:p>
          <a:p>
            <a:pPr indent="-292100" lvl="0" marL="457200" rtl="0" algn="l">
              <a:spcBef>
                <a:spcPts val="0"/>
              </a:spcBef>
              <a:spcAft>
                <a:spcPts val="0"/>
              </a:spcAft>
              <a:buClr>
                <a:srgbClr val="595959"/>
              </a:buClr>
              <a:buSzPts val="1000"/>
              <a:buFont typeface="DM Sans"/>
              <a:buChar char="✓"/>
            </a:pPr>
            <a:r>
              <a:rPr lang="es" sz="1000">
                <a:latin typeface="DM Sans"/>
                <a:ea typeface="DM Sans"/>
                <a:cs typeface="DM Sans"/>
                <a:sym typeface="DM Sans"/>
              </a:rPr>
              <a:t>Context no es un reemplazo de props: solo utilizalo en caso que necesites compartir el mismo set de datos a través de múltiples componentes</a:t>
            </a:r>
            <a:endParaRPr sz="1000">
              <a:latin typeface="DM Sans"/>
              <a:ea typeface="DM Sans"/>
              <a:cs typeface="DM Sans"/>
              <a:sym typeface="DM Sans"/>
            </a:endParaRPr>
          </a:p>
        </p:txBody>
      </p:sp>
      <p:pic>
        <p:nvPicPr>
          <p:cNvPr id="180" name="Google Shape;180;p25" title="MD 06">
            <a:hlinkClick r:id="rId6"/>
          </p:cNvPr>
          <p:cNvPicPr preferRelativeResize="0"/>
          <p:nvPr/>
        </p:nvPicPr>
        <p:blipFill>
          <a:blip r:embed="rId7">
            <a:alphaModFix/>
          </a:blip>
          <a:stretch>
            <a:fillRect/>
          </a:stretch>
        </p:blipFill>
        <p:spPr>
          <a:xfrm>
            <a:off x="2915750" y="866800"/>
            <a:ext cx="653400" cy="6534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grpSp>
        <p:nvGrpSpPr>
          <p:cNvPr id="185" name="Google Shape;185;p26"/>
          <p:cNvGrpSpPr/>
          <p:nvPr/>
        </p:nvGrpSpPr>
        <p:grpSpPr>
          <a:xfrm>
            <a:off x="2172088" y="1852650"/>
            <a:ext cx="197100" cy="197100"/>
            <a:chOff x="2172088" y="1852650"/>
            <a:chExt cx="197100" cy="197100"/>
          </a:xfrm>
        </p:grpSpPr>
        <p:sp>
          <p:nvSpPr>
            <p:cNvPr id="186" name="Google Shape;186;p26"/>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6"/>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 name="Google Shape;188;p26"/>
          <p:cNvGrpSpPr/>
          <p:nvPr/>
        </p:nvGrpSpPr>
        <p:grpSpPr>
          <a:xfrm>
            <a:off x="2172088" y="2455775"/>
            <a:ext cx="197100" cy="197100"/>
            <a:chOff x="2172088" y="2455775"/>
            <a:chExt cx="197100" cy="197100"/>
          </a:xfrm>
        </p:grpSpPr>
        <p:sp>
          <p:nvSpPr>
            <p:cNvPr id="189" name="Google Shape;189;p26"/>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6"/>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1" name="Google Shape;191;p26"/>
          <p:cNvCxnSpPr>
            <a:endCxn id="189"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192" name="Google Shape;192;p26"/>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193" name="Google Shape;193;p26"/>
          <p:cNvSpPr txBox="1"/>
          <p:nvPr/>
        </p:nvSpPr>
        <p:spPr>
          <a:xfrm>
            <a:off x="2690573" y="2341013"/>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Utilizamos context.Provider como wrapper del resto de componentes.</a:t>
            </a:r>
            <a:endParaRPr sz="1350">
              <a:solidFill>
                <a:schemeClr val="dk1"/>
              </a:solidFill>
              <a:latin typeface="DM Sans"/>
              <a:ea typeface="DM Sans"/>
              <a:cs typeface="DM Sans"/>
              <a:sym typeface="DM Sans"/>
            </a:endParaRPr>
          </a:p>
        </p:txBody>
      </p:sp>
      <p:sp>
        <p:nvSpPr>
          <p:cNvPr id="194" name="Google Shape;194;p26"/>
          <p:cNvSpPr txBox="1"/>
          <p:nvPr/>
        </p:nvSpPr>
        <p:spPr>
          <a:xfrm>
            <a:off x="2690573" y="2944138"/>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Descartamos los usos de props innecesarias.</a:t>
            </a:r>
            <a:endParaRPr sz="1350">
              <a:solidFill>
                <a:schemeClr val="dk1"/>
              </a:solidFill>
              <a:latin typeface="DM Sans"/>
              <a:ea typeface="DM Sans"/>
              <a:cs typeface="DM Sans"/>
              <a:sym typeface="DM Sans"/>
            </a:endParaRPr>
          </a:p>
        </p:txBody>
      </p:sp>
      <p:grpSp>
        <p:nvGrpSpPr>
          <p:cNvPr id="195" name="Google Shape;195;p26"/>
          <p:cNvGrpSpPr/>
          <p:nvPr/>
        </p:nvGrpSpPr>
        <p:grpSpPr>
          <a:xfrm>
            <a:off x="2172088" y="3006150"/>
            <a:ext cx="197100" cy="197100"/>
            <a:chOff x="2172088" y="3058775"/>
            <a:chExt cx="197100" cy="197100"/>
          </a:xfrm>
        </p:grpSpPr>
        <p:sp>
          <p:nvSpPr>
            <p:cNvPr id="196" name="Google Shape;196;p26"/>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6"/>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98" name="Google Shape;198;p26"/>
          <p:cNvCxnSpPr>
            <a:endCxn id="196" idx="0"/>
          </p:cNvCxnSpPr>
          <p:nvPr/>
        </p:nvCxnSpPr>
        <p:spPr>
          <a:xfrm>
            <a:off x="2270638" y="2600250"/>
            <a:ext cx="0" cy="405900"/>
          </a:xfrm>
          <a:prstGeom prst="straightConnector1">
            <a:avLst/>
          </a:prstGeom>
          <a:noFill/>
          <a:ln cap="flat" cmpd="sng" w="9525">
            <a:solidFill>
              <a:srgbClr val="DEFC52"/>
            </a:solidFill>
            <a:prstDash val="solid"/>
            <a:round/>
            <a:headEnd len="med" w="med" type="none"/>
            <a:tailEnd len="med" w="med" type="none"/>
          </a:ln>
        </p:spPr>
      </p:cxnSp>
      <p:sp>
        <p:nvSpPr>
          <p:cNvPr id="199" name="Google Shape;199;p26"/>
          <p:cNvSpPr txBox="1"/>
          <p:nvPr/>
        </p:nvSpPr>
        <p:spPr>
          <a:xfrm>
            <a:off x="2690573" y="344188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Leemos la información del context utilizando el hook useContext.</a:t>
            </a:r>
            <a:endParaRPr sz="1350">
              <a:solidFill>
                <a:schemeClr val="dk1"/>
              </a:solidFill>
              <a:latin typeface="DM Sans"/>
              <a:ea typeface="DM Sans"/>
              <a:cs typeface="DM Sans"/>
              <a:sym typeface="DM Sans"/>
            </a:endParaRPr>
          </a:p>
        </p:txBody>
      </p:sp>
      <p:grpSp>
        <p:nvGrpSpPr>
          <p:cNvPr id="200" name="Google Shape;200;p26"/>
          <p:cNvGrpSpPr/>
          <p:nvPr/>
        </p:nvGrpSpPr>
        <p:grpSpPr>
          <a:xfrm>
            <a:off x="2172088" y="3533075"/>
            <a:ext cx="197100" cy="197100"/>
            <a:chOff x="2172088" y="3661775"/>
            <a:chExt cx="197100" cy="197100"/>
          </a:xfrm>
        </p:grpSpPr>
        <p:sp>
          <p:nvSpPr>
            <p:cNvPr id="201" name="Google Shape;201;p26"/>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6"/>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03" name="Google Shape;203;p26"/>
          <p:cNvCxnSpPr/>
          <p:nvPr/>
        </p:nvCxnSpPr>
        <p:spPr>
          <a:xfrm>
            <a:off x="2270638" y="3028475"/>
            <a:ext cx="0" cy="580800"/>
          </a:xfrm>
          <a:prstGeom prst="straightConnector1">
            <a:avLst/>
          </a:prstGeom>
          <a:noFill/>
          <a:ln cap="flat" cmpd="sng" w="9525">
            <a:solidFill>
              <a:srgbClr val="DEFC52"/>
            </a:solidFill>
            <a:prstDash val="solid"/>
            <a:round/>
            <a:headEnd len="med" w="med" type="none"/>
            <a:tailEnd len="med" w="med" type="none"/>
          </a:ln>
        </p:spPr>
      </p:cxnSp>
      <p:sp>
        <p:nvSpPr>
          <p:cNvPr id="204" name="Google Shape;204;p26"/>
          <p:cNvSpPr txBox="1"/>
          <p:nvPr/>
        </p:nvSpPr>
        <p:spPr>
          <a:xfrm>
            <a:off x="2690575" y="1774925"/>
            <a:ext cx="46842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Creamos un nuevo contexto con createContext, con un valor por defecto</a:t>
            </a:r>
            <a:r>
              <a:rPr lang="es" sz="1350">
                <a:solidFill>
                  <a:schemeClr val="dk1"/>
                </a:solidFill>
                <a:latin typeface="Ubuntu Mono"/>
                <a:ea typeface="Ubuntu Mono"/>
                <a:cs typeface="Ubuntu Mono"/>
                <a:sym typeface="Ubuntu Mono"/>
              </a:rPr>
              <a:t> { user: null, isLoggedIn: false}</a:t>
            </a:r>
            <a:endParaRPr sz="1350">
              <a:solidFill>
                <a:schemeClr val="dk1"/>
              </a:solidFill>
              <a:latin typeface="Ubuntu Mono"/>
              <a:ea typeface="Ubuntu Mono"/>
              <a:cs typeface="Ubuntu Mono"/>
              <a:sym typeface="Ubuntu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7"/>
          <p:cNvSpPr txBox="1"/>
          <p:nvPr/>
        </p:nvSpPr>
        <p:spPr>
          <a:xfrm>
            <a:off x="1905000" y="2202300"/>
            <a:ext cx="53721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¡Buen trabajo! </a:t>
            </a:r>
            <a:r>
              <a:rPr b="1" lang="es" sz="3500">
                <a:solidFill>
                  <a:schemeClr val="dk1"/>
                </a:solidFill>
                <a:latin typeface="DM Sans"/>
                <a:ea typeface="DM Sans"/>
                <a:cs typeface="DM Sans"/>
                <a:sym typeface="DM Sans"/>
              </a:rPr>
              <a:t>😎</a:t>
            </a:r>
            <a:endParaRPr sz="3000">
              <a:solidFill>
                <a:schemeClr val="dk1"/>
              </a:solidFill>
              <a:latin typeface="DM Sans"/>
              <a:ea typeface="DM Sans"/>
              <a:cs typeface="DM Sans"/>
              <a:sym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8"/>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215" name="Google Shape;215;p28"/>
          <p:cNvSpPr txBox="1"/>
          <p:nvPr/>
        </p:nvSpPr>
        <p:spPr>
          <a:xfrm>
            <a:off x="475500" y="1474850"/>
            <a:ext cx="71694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Creamos una estructura de context simple, utilizando </a:t>
            </a:r>
            <a:r>
              <a:rPr b="1" lang="es" sz="2500">
                <a:solidFill>
                  <a:schemeClr val="dk2"/>
                </a:solidFill>
                <a:latin typeface="DM Sans"/>
                <a:ea typeface="DM Sans"/>
                <a:cs typeface="DM Sans"/>
                <a:sym typeface="DM Sans"/>
              </a:rPr>
              <a:t>createContext </a:t>
            </a:r>
            <a:r>
              <a:rPr lang="es" sz="2500">
                <a:solidFill>
                  <a:schemeClr val="dk2"/>
                </a:solidFill>
                <a:latin typeface="DM Sans"/>
                <a:ea typeface="DM Sans"/>
                <a:cs typeface="DM Sans"/>
                <a:sym typeface="DM Sans"/>
              </a:rPr>
              <a:t>con un valor por defecto y consumiendo este context con </a:t>
            </a:r>
            <a:r>
              <a:rPr b="1" lang="es" sz="2500">
                <a:solidFill>
                  <a:schemeClr val="dk2"/>
                </a:solidFill>
                <a:latin typeface="DM Sans"/>
                <a:ea typeface="DM Sans"/>
                <a:cs typeface="DM Sans"/>
                <a:sym typeface="DM Sans"/>
              </a:rPr>
              <a:t>useContext</a:t>
            </a:r>
            <a:r>
              <a:rPr lang="es" sz="2500">
                <a:solidFill>
                  <a:schemeClr val="dk2"/>
                </a:solidFill>
                <a:latin typeface="DM Sans"/>
                <a:ea typeface="DM Sans"/>
                <a:cs typeface="DM Sans"/>
                <a:sym typeface="DM Sans"/>
              </a:rPr>
              <a:t> desde un componente de la app.</a:t>
            </a:r>
            <a:endParaRPr b="1" sz="2500">
              <a:solidFill>
                <a:srgbClr val="B7B7B7"/>
              </a:solidFill>
              <a:latin typeface="Helvetica Neue"/>
              <a:ea typeface="Helvetica Neue"/>
              <a:cs typeface="Helvetica Neue"/>
              <a:sym typeface="Helvetica Neue"/>
            </a:endParaRPr>
          </a:p>
        </p:txBody>
      </p:sp>
      <p:grpSp>
        <p:nvGrpSpPr>
          <p:cNvPr id="216" name="Google Shape;216;p28"/>
          <p:cNvGrpSpPr/>
          <p:nvPr/>
        </p:nvGrpSpPr>
        <p:grpSpPr>
          <a:xfrm>
            <a:off x="475501" y="468273"/>
            <a:ext cx="738900" cy="738900"/>
            <a:chOff x="473351" y="619523"/>
            <a:chExt cx="738900" cy="738900"/>
          </a:xfrm>
        </p:grpSpPr>
        <p:sp>
          <p:nvSpPr>
            <p:cNvPr id="217" name="Google Shape;217;p28"/>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8" name="Google Shape;218;p28"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219" name="Google Shape;219;p28"/>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10 minutos</a:t>
            </a:r>
            <a:endParaRPr b="1" sz="2000">
              <a:solidFill>
                <a:schemeClr val="dk2"/>
              </a:solidFill>
              <a:latin typeface="DM Sans"/>
              <a:ea typeface="DM Sans"/>
              <a:cs typeface="DM Sans"/>
              <a:sym typeface="DM Sans"/>
            </a:endParaRPr>
          </a:p>
        </p:txBody>
      </p:sp>
      <p:grpSp>
        <p:nvGrpSpPr>
          <p:cNvPr id="220" name="Google Shape;220;p28"/>
          <p:cNvGrpSpPr/>
          <p:nvPr/>
        </p:nvGrpSpPr>
        <p:grpSpPr>
          <a:xfrm>
            <a:off x="0" y="-7400"/>
            <a:ext cx="9143925" cy="44400"/>
            <a:chOff x="0" y="-7400"/>
            <a:chExt cx="9143925" cy="44400"/>
          </a:xfrm>
        </p:grpSpPr>
        <p:sp>
          <p:nvSpPr>
            <p:cNvPr id="221" name="Google Shape;221;p28"/>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222" name="Google Shape;222;p28"/>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nvSpPr>
        <p:spPr>
          <a:xfrm>
            <a:off x="2690575" y="2334550"/>
            <a:ext cx="48054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Dentro de otro componente, importamos el hook </a:t>
            </a:r>
            <a:r>
              <a:rPr b="1" lang="es" sz="1350">
                <a:solidFill>
                  <a:schemeClr val="dk1"/>
                </a:solidFill>
                <a:latin typeface="DM Sans"/>
                <a:ea typeface="DM Sans"/>
                <a:cs typeface="DM Sans"/>
                <a:sym typeface="DM Sans"/>
              </a:rPr>
              <a:t>useContext </a:t>
            </a:r>
            <a:r>
              <a:rPr lang="es" sz="1350">
                <a:solidFill>
                  <a:schemeClr val="dk1"/>
                </a:solidFill>
                <a:latin typeface="DM Sans"/>
                <a:ea typeface="DM Sans"/>
                <a:cs typeface="DM Sans"/>
                <a:sym typeface="DM Sans"/>
              </a:rPr>
              <a:t>y la variable donde almacenamos el context.</a:t>
            </a:r>
            <a:endParaRPr sz="1350">
              <a:solidFill>
                <a:schemeClr val="dk1"/>
              </a:solidFill>
              <a:latin typeface="DM Sans"/>
              <a:ea typeface="DM Sans"/>
              <a:cs typeface="DM Sans"/>
              <a:sym typeface="DM Sans"/>
            </a:endParaRPr>
          </a:p>
        </p:txBody>
      </p:sp>
      <p:grpSp>
        <p:nvGrpSpPr>
          <p:cNvPr id="228" name="Google Shape;228;p29"/>
          <p:cNvGrpSpPr/>
          <p:nvPr/>
        </p:nvGrpSpPr>
        <p:grpSpPr>
          <a:xfrm>
            <a:off x="2172088" y="1852650"/>
            <a:ext cx="197100" cy="197100"/>
            <a:chOff x="2172088" y="1852650"/>
            <a:chExt cx="197100" cy="197100"/>
          </a:xfrm>
        </p:grpSpPr>
        <p:sp>
          <p:nvSpPr>
            <p:cNvPr id="229" name="Google Shape;229;p29"/>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9"/>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1" name="Google Shape;231;p29"/>
          <p:cNvGrpSpPr/>
          <p:nvPr/>
        </p:nvGrpSpPr>
        <p:grpSpPr>
          <a:xfrm>
            <a:off x="2172088" y="2455775"/>
            <a:ext cx="197100" cy="197100"/>
            <a:chOff x="2172088" y="2455775"/>
            <a:chExt cx="197100" cy="197100"/>
          </a:xfrm>
        </p:grpSpPr>
        <p:sp>
          <p:nvSpPr>
            <p:cNvPr id="232" name="Google Shape;232;p29"/>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9"/>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34" name="Google Shape;234;p29"/>
          <p:cNvCxnSpPr>
            <a:endCxn id="232"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235" name="Google Shape;235;p29"/>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236" name="Google Shape;236;p29"/>
          <p:cNvSpPr txBox="1"/>
          <p:nvPr/>
        </p:nvSpPr>
        <p:spPr>
          <a:xfrm>
            <a:off x="2690575" y="1731425"/>
            <a:ext cx="54408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Creamos el contexto con </a:t>
            </a:r>
            <a:r>
              <a:rPr b="1" lang="es" sz="1350">
                <a:solidFill>
                  <a:schemeClr val="dk1"/>
                </a:solidFill>
                <a:latin typeface="DM Sans"/>
                <a:ea typeface="DM Sans"/>
                <a:cs typeface="DM Sans"/>
                <a:sym typeface="DM Sans"/>
              </a:rPr>
              <a:t>createContext </a:t>
            </a:r>
            <a:r>
              <a:rPr lang="es" sz="1350">
                <a:solidFill>
                  <a:schemeClr val="dk1"/>
                </a:solidFill>
                <a:latin typeface="DM Sans"/>
                <a:ea typeface="DM Sans"/>
                <a:cs typeface="DM Sans"/>
                <a:sym typeface="DM Sans"/>
              </a:rPr>
              <a:t>y un valor por defecto. Ejemplo:</a:t>
            </a:r>
            <a:r>
              <a:rPr lang="es" sz="1350">
                <a:solidFill>
                  <a:schemeClr val="dk1"/>
                </a:solidFill>
                <a:latin typeface="Ubuntu Mono"/>
                <a:ea typeface="Ubuntu Mono"/>
                <a:cs typeface="Ubuntu Mono"/>
                <a:sym typeface="Ubuntu Mono"/>
              </a:rPr>
              <a:t> createContext({ title: “valor por defecto” })</a:t>
            </a:r>
            <a:endParaRPr sz="1350">
              <a:solidFill>
                <a:schemeClr val="dk1"/>
              </a:solidFill>
              <a:latin typeface="Ubuntu Mono"/>
              <a:ea typeface="Ubuntu Mono"/>
              <a:cs typeface="Ubuntu Mono"/>
              <a:sym typeface="Ubuntu Mono"/>
            </a:endParaRPr>
          </a:p>
        </p:txBody>
      </p:sp>
      <p:grpSp>
        <p:nvGrpSpPr>
          <p:cNvPr id="237" name="Google Shape;237;p29"/>
          <p:cNvGrpSpPr/>
          <p:nvPr/>
        </p:nvGrpSpPr>
        <p:grpSpPr>
          <a:xfrm>
            <a:off x="2172088" y="3082350"/>
            <a:ext cx="197100" cy="197100"/>
            <a:chOff x="2172088" y="3058775"/>
            <a:chExt cx="197100" cy="197100"/>
          </a:xfrm>
        </p:grpSpPr>
        <p:sp>
          <p:nvSpPr>
            <p:cNvPr id="238" name="Google Shape;238;p29"/>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9"/>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40" name="Google Shape;240;p29"/>
          <p:cNvCxnSpPr>
            <a:endCxn id="238"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sp>
        <p:nvSpPr>
          <p:cNvPr id="241" name="Google Shape;241;p29"/>
          <p:cNvSpPr txBox="1"/>
          <p:nvPr/>
        </p:nvSpPr>
        <p:spPr>
          <a:xfrm>
            <a:off x="2690573" y="2984688"/>
            <a:ext cx="4281300" cy="39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50">
              <a:solidFill>
                <a:schemeClr val="dk1"/>
              </a:solidFill>
              <a:latin typeface="DM Sans"/>
              <a:ea typeface="DM Sans"/>
              <a:cs typeface="DM Sans"/>
              <a:sym typeface="DM Sans"/>
            </a:endParaRPr>
          </a:p>
        </p:txBody>
      </p:sp>
      <p:sp>
        <p:nvSpPr>
          <p:cNvPr id="242" name="Google Shape;242;p29"/>
          <p:cNvSpPr txBox="1"/>
          <p:nvPr/>
        </p:nvSpPr>
        <p:spPr>
          <a:xfrm>
            <a:off x="2690575" y="3006150"/>
            <a:ext cx="4608600" cy="8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Importamos el context.Provider en el nodo de nuestra app donde necesitemos utilizarlo, y envolvemos los componentes necesarios como childrens.</a:t>
            </a:r>
            <a:endParaRPr sz="1350">
              <a:solidFill>
                <a:schemeClr val="dk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grpSp>
        <p:nvGrpSpPr>
          <p:cNvPr id="247" name="Google Shape;247;p30"/>
          <p:cNvGrpSpPr/>
          <p:nvPr/>
        </p:nvGrpSpPr>
        <p:grpSpPr>
          <a:xfrm>
            <a:off x="4202556" y="994173"/>
            <a:ext cx="738900" cy="738900"/>
            <a:chOff x="974706" y="2467173"/>
            <a:chExt cx="738900" cy="738900"/>
          </a:xfrm>
        </p:grpSpPr>
        <p:sp>
          <p:nvSpPr>
            <p:cNvPr id="248" name="Google Shape;248;p30"/>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9" name="Google Shape;249;p30"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250" name="Google Shape;250;p30"/>
          <p:cNvSpPr txBox="1"/>
          <p:nvPr/>
        </p:nvSpPr>
        <p:spPr>
          <a:xfrm>
            <a:off x="1461300" y="220862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Crea tu contexto</a:t>
            </a:r>
            <a:endParaRPr b="1" sz="4000">
              <a:solidFill>
                <a:schemeClr val="dk1"/>
              </a:solidFill>
              <a:latin typeface="DM Sans"/>
              <a:ea typeface="DM Sans"/>
              <a:cs typeface="DM Sans"/>
              <a:sym typeface="DM Sans"/>
            </a:endParaRPr>
          </a:p>
        </p:txBody>
      </p:sp>
      <p:sp>
        <p:nvSpPr>
          <p:cNvPr id="251" name="Google Shape;251;p30"/>
          <p:cNvSpPr txBox="1"/>
          <p:nvPr/>
        </p:nvSpPr>
        <p:spPr>
          <a:xfrm>
            <a:off x="987263" y="38185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15 minutos</a:t>
            </a:r>
            <a:endParaRPr b="1" sz="2000">
              <a:solidFill>
                <a:schemeClr val="dk2"/>
              </a:solidFill>
              <a:latin typeface="DM Sans"/>
              <a:ea typeface="DM Sans"/>
              <a:cs typeface="DM Sans"/>
              <a:sym typeface="DM Sans"/>
            </a:endParaRPr>
          </a:p>
        </p:txBody>
      </p:sp>
      <p:sp>
        <p:nvSpPr>
          <p:cNvPr id="252" name="Google Shape;252;p30"/>
          <p:cNvSpPr txBox="1"/>
          <p:nvPr/>
        </p:nvSpPr>
        <p:spPr>
          <a:xfrm>
            <a:off x="1064900" y="2947513"/>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rgbClr val="999999"/>
                </a:solidFill>
                <a:latin typeface="DM Sans"/>
                <a:ea typeface="DM Sans"/>
                <a:cs typeface="DM Sans"/>
                <a:sym typeface="DM Sans"/>
              </a:rPr>
              <a:t>Vamos a practicar lo visto</a:t>
            </a:r>
            <a:endParaRPr sz="2000">
              <a:solidFill>
                <a:srgbClr val="999999"/>
              </a:solidFill>
              <a:latin typeface="DM Sans"/>
              <a:ea typeface="DM Sans"/>
              <a:cs typeface="DM Sans"/>
              <a:sym typeface="DM Sans"/>
            </a:endParaRPr>
          </a:p>
        </p:txBody>
      </p:sp>
      <p:grpSp>
        <p:nvGrpSpPr>
          <p:cNvPr id="253" name="Google Shape;253;p30"/>
          <p:cNvGrpSpPr/>
          <p:nvPr/>
        </p:nvGrpSpPr>
        <p:grpSpPr>
          <a:xfrm>
            <a:off x="0" y="-7400"/>
            <a:ext cx="9143925" cy="44400"/>
            <a:chOff x="0" y="-7400"/>
            <a:chExt cx="9143925" cy="44400"/>
          </a:xfrm>
        </p:grpSpPr>
        <p:sp>
          <p:nvSpPr>
            <p:cNvPr id="254" name="Google Shape;254;p30"/>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255" name="Google Shape;255;p30"/>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grpSp>
        <p:nvGrpSpPr>
          <p:cNvPr id="260" name="Google Shape;260;p31"/>
          <p:cNvGrpSpPr/>
          <p:nvPr/>
        </p:nvGrpSpPr>
        <p:grpSpPr>
          <a:xfrm>
            <a:off x="457347" y="468297"/>
            <a:ext cx="431074" cy="431074"/>
            <a:chOff x="974706" y="2467173"/>
            <a:chExt cx="738900" cy="738900"/>
          </a:xfrm>
        </p:grpSpPr>
        <p:sp>
          <p:nvSpPr>
            <p:cNvPr id="261" name="Google Shape;261;p31"/>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2" name="Google Shape;262;p31"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263" name="Google Shape;263;p31"/>
          <p:cNvSpPr txBox="1"/>
          <p:nvPr/>
        </p:nvSpPr>
        <p:spPr>
          <a:xfrm>
            <a:off x="501450" y="1081750"/>
            <a:ext cx="49872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b="1" lang="es" sz="4000">
                <a:solidFill>
                  <a:schemeClr val="dk1"/>
                </a:solidFill>
                <a:latin typeface="DM Sans"/>
                <a:ea typeface="DM Sans"/>
                <a:cs typeface="DM Sans"/>
                <a:sym typeface="DM Sans"/>
              </a:rPr>
              <a:t>Crea tu contexto</a:t>
            </a:r>
            <a:endParaRPr b="1" sz="4000">
              <a:solidFill>
                <a:schemeClr val="dk1"/>
              </a:solidFill>
              <a:latin typeface="DM Sans"/>
              <a:ea typeface="DM Sans"/>
              <a:cs typeface="DM Sans"/>
              <a:sym typeface="DM Sans"/>
            </a:endParaRPr>
          </a:p>
        </p:txBody>
      </p:sp>
      <p:pic>
        <p:nvPicPr>
          <p:cNvPr id="264" name="Google Shape;264;p31"/>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265" name="Google Shape;265;p31"/>
          <p:cNvSpPr txBox="1"/>
          <p:nvPr/>
        </p:nvSpPr>
        <p:spPr>
          <a:xfrm>
            <a:off x="501450" y="2003025"/>
            <a:ext cx="7384800" cy="24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latin typeface="DM Sans"/>
                <a:ea typeface="DM Sans"/>
                <a:cs typeface="DM Sans"/>
                <a:sym typeface="DM Sans"/>
              </a:rPr>
              <a:t>Descripción de la actividad. </a:t>
            </a:r>
            <a:endParaRPr b="1"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En tu proyecto, crea una carpeta en src/context/ y un archivo </a:t>
            </a:r>
            <a:r>
              <a:rPr b="1" lang="es" sz="1350">
                <a:solidFill>
                  <a:schemeClr val="dk1"/>
                </a:solidFill>
                <a:latin typeface="DM Sans"/>
                <a:ea typeface="DM Sans"/>
                <a:cs typeface="DM Sans"/>
                <a:sym typeface="DM Sans"/>
              </a:rPr>
              <a:t>cartContext.js. </a:t>
            </a:r>
            <a:r>
              <a:rPr lang="es" sz="1350">
                <a:solidFill>
                  <a:schemeClr val="dk1"/>
                </a:solidFill>
                <a:latin typeface="DM Sans"/>
                <a:ea typeface="DM Sans"/>
                <a:cs typeface="DM Sans"/>
                <a:sym typeface="DM Sans"/>
              </a:rPr>
              <a:t>En él, crea un nuevo context con un array vacío como valor inicial.</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Impórtalo como provider de tu app con value [] (puedes asignar algún valor de prueba para diferenciarlo del valor por defecto)</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Pista: los pasos son los mismos que en las slides, pero deberás exportar tu context creado para poder usarlo en App.js.</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350"/>
              <a:buFont typeface="Arial"/>
              <a:buNone/>
            </a:pPr>
            <a:r>
              <a:t/>
            </a:r>
            <a:endParaRPr sz="1350">
              <a:solidFill>
                <a:schemeClr val="dk1"/>
              </a:solidFill>
              <a:latin typeface="DM Sans"/>
              <a:ea typeface="DM Sans"/>
              <a:cs typeface="DM Sans"/>
              <a:sym typeface="DM Sans"/>
            </a:endParaRPr>
          </a:p>
        </p:txBody>
      </p:sp>
      <p:sp>
        <p:nvSpPr>
          <p:cNvPr id="266" name="Google Shape;266;p31"/>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ACTIVIDAD</a:t>
            </a:r>
            <a:endParaRPr>
              <a:latin typeface="DM Sans"/>
              <a:ea typeface="DM Sans"/>
              <a:cs typeface="DM Sans"/>
              <a:sym typeface="DM Sans"/>
            </a:endParaRPr>
          </a:p>
        </p:txBody>
      </p:sp>
      <p:pic>
        <p:nvPicPr>
          <p:cNvPr id="267" name="Google Shape;267;p31"/>
          <p:cNvPicPr preferRelativeResize="0"/>
          <p:nvPr/>
        </p:nvPicPr>
        <p:blipFill>
          <a:blip r:embed="rId4">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32"/>
          <p:cNvPicPr preferRelativeResize="0"/>
          <p:nvPr/>
        </p:nvPicPr>
        <p:blipFill>
          <a:blip r:embed="rId3">
            <a:alphaModFix/>
          </a:blip>
          <a:stretch>
            <a:fillRect/>
          </a:stretch>
        </p:blipFill>
        <p:spPr>
          <a:xfrm>
            <a:off x="7811413" y="4692275"/>
            <a:ext cx="1150750" cy="267575"/>
          </a:xfrm>
          <a:prstGeom prst="rect">
            <a:avLst/>
          </a:prstGeom>
          <a:noFill/>
          <a:ln>
            <a:noFill/>
          </a:ln>
        </p:spPr>
      </p:pic>
      <p:grpSp>
        <p:nvGrpSpPr>
          <p:cNvPr id="273" name="Google Shape;273;p32"/>
          <p:cNvGrpSpPr/>
          <p:nvPr/>
        </p:nvGrpSpPr>
        <p:grpSpPr>
          <a:xfrm>
            <a:off x="4243306" y="1320073"/>
            <a:ext cx="738900" cy="738900"/>
            <a:chOff x="974706" y="2467173"/>
            <a:chExt cx="738900" cy="738900"/>
          </a:xfrm>
        </p:grpSpPr>
        <p:sp>
          <p:nvSpPr>
            <p:cNvPr id="274" name="Google Shape;274;p32"/>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5" name="Google Shape;275;p32" title="ícono de actividad en clase"/>
            <p:cNvPicPr preferRelativeResize="0"/>
            <p:nvPr/>
          </p:nvPicPr>
          <p:blipFill>
            <a:blip r:embed="rId4">
              <a:alphaModFix/>
            </a:blip>
            <a:stretch>
              <a:fillRect/>
            </a:stretch>
          </p:blipFill>
          <p:spPr>
            <a:xfrm>
              <a:off x="1109750" y="2610275"/>
              <a:ext cx="452650" cy="452650"/>
            </a:xfrm>
            <a:prstGeom prst="rect">
              <a:avLst/>
            </a:prstGeom>
            <a:noFill/>
            <a:ln>
              <a:noFill/>
            </a:ln>
          </p:spPr>
        </p:pic>
      </p:grpSp>
      <p:sp>
        <p:nvSpPr>
          <p:cNvPr id="276" name="Google Shape;276;p32"/>
          <p:cNvSpPr txBox="1"/>
          <p:nvPr/>
        </p:nvSpPr>
        <p:spPr>
          <a:xfrm>
            <a:off x="1502050" y="2406788"/>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Puesta en común</a:t>
            </a:r>
            <a:endParaRPr b="1" sz="4000">
              <a:solidFill>
                <a:schemeClr val="dk1"/>
              </a:solidFill>
              <a:highlight>
                <a:srgbClr val="EAFF6A"/>
              </a:highlight>
              <a:latin typeface="DM Sans"/>
              <a:ea typeface="DM Sans"/>
              <a:cs typeface="DM Sans"/>
              <a:sym typeface="DM Sans"/>
            </a:endParaRPr>
          </a:p>
        </p:txBody>
      </p:sp>
      <p:sp>
        <p:nvSpPr>
          <p:cNvPr id="277" name="Google Shape;277;p32"/>
          <p:cNvSpPr txBox="1"/>
          <p:nvPr/>
        </p:nvSpPr>
        <p:spPr>
          <a:xfrm>
            <a:off x="2179625" y="3493500"/>
            <a:ext cx="5061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5 minutos</a:t>
            </a:r>
            <a:endParaRPr b="1" sz="2000">
              <a:solidFill>
                <a:schemeClr val="dk2"/>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3"/>
          <p:cNvSpPr txBox="1"/>
          <p:nvPr/>
        </p:nvSpPr>
        <p:spPr>
          <a:xfrm>
            <a:off x="1404863" y="1941375"/>
            <a:ext cx="6221400" cy="18471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t/>
            </a:r>
            <a:endParaRPr b="1" sz="4000">
              <a:solidFill>
                <a:schemeClr val="lt1"/>
              </a:solidFill>
              <a:latin typeface="DM Sans"/>
              <a:ea typeface="DM Sans"/>
              <a:cs typeface="DM Sans"/>
              <a:sym typeface="DM Sans"/>
            </a:endParaRPr>
          </a:p>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Contexto dinámico</a:t>
            </a:r>
            <a:endParaRPr b="1" sz="4000">
              <a:solidFill>
                <a:srgbClr val="EAFF6A"/>
              </a:solidFill>
              <a:latin typeface="DM Sans"/>
              <a:ea typeface="DM Sans"/>
              <a:cs typeface="DM Sans"/>
              <a:sym typeface="DM Sans"/>
            </a:endParaRPr>
          </a:p>
          <a:p>
            <a:pPr indent="0" lvl="0" marL="0" rtl="0" algn="l">
              <a:lnSpc>
                <a:spcPct val="90000"/>
              </a:lnSpc>
              <a:spcBef>
                <a:spcPts val="0"/>
              </a:spcBef>
              <a:spcAft>
                <a:spcPts val="0"/>
              </a:spcAft>
              <a:buNone/>
            </a:pPr>
            <a:r>
              <a:t/>
            </a:r>
            <a:endParaRPr b="1" sz="4000">
              <a:solidFill>
                <a:srgbClr val="EAFF6A"/>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id="287" name="Google Shape;287;p34"/>
          <p:cNvPicPr preferRelativeResize="0"/>
          <p:nvPr/>
        </p:nvPicPr>
        <p:blipFill>
          <a:blip r:embed="rId3">
            <a:alphaModFix/>
          </a:blip>
          <a:stretch>
            <a:fillRect/>
          </a:stretch>
        </p:blipFill>
        <p:spPr>
          <a:xfrm>
            <a:off x="-32900" y="0"/>
            <a:ext cx="9176899" cy="5143500"/>
          </a:xfrm>
          <a:prstGeom prst="rect">
            <a:avLst/>
          </a:prstGeom>
          <a:noFill/>
          <a:ln>
            <a:noFill/>
          </a:ln>
        </p:spPr>
      </p:pic>
      <p:pic>
        <p:nvPicPr>
          <p:cNvPr id="288" name="Google Shape;288;p34"/>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289" name="Google Shape;289;p34"/>
          <p:cNvSpPr txBox="1"/>
          <p:nvPr/>
        </p:nvSpPr>
        <p:spPr>
          <a:xfrm>
            <a:off x="3729456" y="2264828"/>
            <a:ext cx="16851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1350">
                <a:solidFill>
                  <a:schemeClr val="dk1"/>
                </a:solidFill>
                <a:latin typeface="DM Sans"/>
                <a:ea typeface="DM Sans"/>
                <a:cs typeface="DM Sans"/>
                <a:sym typeface="DM Sans"/>
              </a:rPr>
              <a:t>REEMPLAZAR </a:t>
            </a:r>
            <a:endParaRPr sz="1350">
              <a:solidFill>
                <a:schemeClr val="dk1"/>
              </a:solidFill>
              <a:latin typeface="DM Sans"/>
              <a:ea typeface="DM Sans"/>
              <a:cs typeface="DM Sans"/>
              <a:sym typeface="DM Sans"/>
            </a:endParaRPr>
          </a:p>
          <a:p>
            <a:pPr indent="0" lvl="0" marL="0" rtl="0" algn="ctr">
              <a:spcBef>
                <a:spcPts val="0"/>
              </a:spcBef>
              <a:spcAft>
                <a:spcPts val="0"/>
              </a:spcAft>
              <a:buNone/>
            </a:pPr>
            <a:r>
              <a:rPr lang="es" sz="1350">
                <a:solidFill>
                  <a:schemeClr val="dk1"/>
                </a:solidFill>
                <a:latin typeface="DM Sans"/>
                <a:ea typeface="DM Sans"/>
                <a:cs typeface="DM Sans"/>
                <a:sym typeface="DM Sans"/>
              </a:rPr>
              <a:t>POR IMAGEN</a:t>
            </a:r>
            <a:endParaRPr sz="1350">
              <a:latin typeface="DM Sans"/>
              <a:ea typeface="DM Sans"/>
              <a:cs typeface="DM Sans"/>
              <a:sym typeface="DM Sans"/>
            </a:endParaRPr>
          </a:p>
        </p:txBody>
      </p:sp>
      <p:pic>
        <p:nvPicPr>
          <p:cNvPr id="290" name="Google Shape;290;p34"/>
          <p:cNvPicPr preferRelativeResize="0"/>
          <p:nvPr/>
        </p:nvPicPr>
        <p:blipFill>
          <a:blip r:embed="rId5">
            <a:alphaModFix/>
          </a:blip>
          <a:stretch>
            <a:fillRect/>
          </a:stretch>
        </p:blipFill>
        <p:spPr>
          <a:xfrm>
            <a:off x="277675" y="613175"/>
            <a:ext cx="8064498" cy="4079099"/>
          </a:xfrm>
          <a:prstGeom prst="rect">
            <a:avLst/>
          </a:prstGeom>
          <a:noFill/>
          <a:ln>
            <a:noFill/>
          </a:ln>
        </p:spPr>
      </p:pic>
      <p:sp>
        <p:nvSpPr>
          <p:cNvPr id="291" name="Google Shape;291;p34"/>
          <p:cNvSpPr txBox="1"/>
          <p:nvPr/>
        </p:nvSpPr>
        <p:spPr>
          <a:xfrm>
            <a:off x="672600" y="142425"/>
            <a:ext cx="60693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2600">
                <a:latin typeface="DM Sans"/>
                <a:ea typeface="DM Sans"/>
                <a:cs typeface="DM Sans"/>
                <a:sym typeface="DM Sans"/>
              </a:rPr>
              <a:t>Contexto Dinámico</a:t>
            </a:r>
            <a:endParaRPr b="1" sz="2600">
              <a:latin typeface="DM Sans"/>
              <a:ea typeface="DM Sans"/>
              <a:cs typeface="DM Sans"/>
              <a:sym typeface="DM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5"/>
          <p:cNvSpPr/>
          <p:nvPr/>
        </p:nvSpPr>
        <p:spPr>
          <a:xfrm>
            <a:off x="0" y="0"/>
            <a:ext cx="2525100" cy="5143500"/>
          </a:xfrm>
          <a:prstGeom prst="rect">
            <a:avLst/>
          </a:prstGeom>
          <a:solidFill>
            <a:srgbClr val="EAFF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5"/>
          <p:cNvSpPr txBox="1"/>
          <p:nvPr/>
        </p:nvSpPr>
        <p:spPr>
          <a:xfrm>
            <a:off x="3649500" y="1104863"/>
            <a:ext cx="49872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Contexto Dinámico</a:t>
            </a:r>
            <a:endParaRPr b="1" sz="4000">
              <a:solidFill>
                <a:schemeClr val="dk1"/>
              </a:solidFill>
              <a:latin typeface="DM Sans"/>
              <a:ea typeface="DM Sans"/>
              <a:cs typeface="DM Sans"/>
              <a:sym typeface="DM Sans"/>
            </a:endParaRPr>
          </a:p>
        </p:txBody>
      </p:sp>
      <p:pic>
        <p:nvPicPr>
          <p:cNvPr id="298" name="Google Shape;298;p35"/>
          <p:cNvPicPr preferRelativeResize="0"/>
          <p:nvPr/>
        </p:nvPicPr>
        <p:blipFill>
          <a:blip r:embed="rId3">
            <a:alphaModFix/>
          </a:blip>
          <a:stretch>
            <a:fillRect/>
          </a:stretch>
        </p:blipFill>
        <p:spPr>
          <a:xfrm>
            <a:off x="912400" y="1505996"/>
            <a:ext cx="2024825" cy="1812200"/>
          </a:xfrm>
          <a:prstGeom prst="rect">
            <a:avLst/>
          </a:prstGeom>
          <a:noFill/>
          <a:ln>
            <a:noFill/>
          </a:ln>
        </p:spPr>
      </p:pic>
      <p:sp>
        <p:nvSpPr>
          <p:cNvPr id="299" name="Google Shape;299;p35"/>
          <p:cNvSpPr txBox="1"/>
          <p:nvPr/>
        </p:nvSpPr>
        <p:spPr>
          <a:xfrm>
            <a:off x="3379575" y="1761700"/>
            <a:ext cx="5070000" cy="32760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s" sz="1350">
                <a:solidFill>
                  <a:srgbClr val="000000"/>
                </a:solidFill>
                <a:highlight>
                  <a:srgbClr val="FFFFFF"/>
                </a:highlight>
                <a:latin typeface="DM Sans"/>
                <a:ea typeface="DM Sans"/>
                <a:cs typeface="DM Sans"/>
                <a:sym typeface="DM Sans"/>
              </a:rPr>
              <a:t>Flexibilidad de context</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State</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Hooks</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 </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Higher Order Components</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rPr lang="es" sz="1350">
                <a:solidFill>
                  <a:srgbClr val="000000"/>
                </a:solidFill>
                <a:highlight>
                  <a:srgbClr val="FFFFFF"/>
                </a:highlight>
                <a:latin typeface="DM Sans"/>
                <a:ea typeface="DM Sans"/>
                <a:cs typeface="DM Sans"/>
                <a:sym typeface="DM Sans"/>
              </a:rPr>
              <a:t>=</a:t>
            </a:r>
            <a:endParaRPr sz="1350">
              <a:solidFill>
                <a:srgbClr val="000000"/>
              </a:solidFill>
              <a:highlight>
                <a:srgbClr val="FFFFFF"/>
              </a:highlight>
              <a:latin typeface="DM Sans"/>
              <a:ea typeface="DM Sans"/>
              <a:cs typeface="DM Sans"/>
              <a:sym typeface="DM Sans"/>
            </a:endParaRPr>
          </a:p>
          <a:p>
            <a:pPr indent="0" lvl="0" marL="457200" rtl="0" algn="ctr">
              <a:lnSpc>
                <a:spcPct val="115000"/>
              </a:lnSpc>
              <a:spcBef>
                <a:spcPts val="0"/>
              </a:spcBef>
              <a:spcAft>
                <a:spcPts val="0"/>
              </a:spcAft>
              <a:buNone/>
            </a:pPr>
            <a:r>
              <a:t/>
            </a:r>
            <a:endParaRPr sz="2400">
              <a:solidFill>
                <a:srgbClr val="000000"/>
              </a:solidFill>
              <a:highlight>
                <a:srgbClr val="FFFFFF"/>
              </a:highlight>
              <a:latin typeface="Helvetica Neue Light"/>
              <a:ea typeface="Helvetica Neue Light"/>
              <a:cs typeface="Helvetica Neue Light"/>
              <a:sym typeface="Helvetica Neue Light"/>
            </a:endParaRPr>
          </a:p>
        </p:txBody>
      </p:sp>
      <p:pic>
        <p:nvPicPr>
          <p:cNvPr id="300" name="Google Shape;300;p35"/>
          <p:cNvPicPr preferRelativeResize="0"/>
          <p:nvPr/>
        </p:nvPicPr>
        <p:blipFill>
          <a:blip r:embed="rId4">
            <a:alphaModFix/>
          </a:blip>
          <a:stretch>
            <a:fillRect/>
          </a:stretch>
        </p:blipFill>
        <p:spPr>
          <a:xfrm>
            <a:off x="5848038" y="4129050"/>
            <a:ext cx="590124" cy="5901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6"/>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306" name="Google Shape;306;p36"/>
          <p:cNvSpPr txBox="1"/>
          <p:nvPr/>
        </p:nvSpPr>
        <p:spPr>
          <a:xfrm>
            <a:off x="475500" y="1474850"/>
            <a:ext cx="7169400" cy="210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Creamos nuestro CustomProvider: un componente de fachada que administre un estado y renderize el context.Provider con su “value” ya definido. </a:t>
            </a:r>
            <a:endParaRPr b="1" sz="2500">
              <a:solidFill>
                <a:srgbClr val="B7B7B7"/>
              </a:solidFill>
              <a:latin typeface="Helvetica Neue"/>
              <a:ea typeface="Helvetica Neue"/>
              <a:cs typeface="Helvetica Neue"/>
              <a:sym typeface="Helvetica Neue"/>
            </a:endParaRPr>
          </a:p>
        </p:txBody>
      </p:sp>
      <p:grpSp>
        <p:nvGrpSpPr>
          <p:cNvPr id="307" name="Google Shape;307;p36"/>
          <p:cNvGrpSpPr/>
          <p:nvPr/>
        </p:nvGrpSpPr>
        <p:grpSpPr>
          <a:xfrm>
            <a:off x="475501" y="468273"/>
            <a:ext cx="738900" cy="738900"/>
            <a:chOff x="473351" y="619523"/>
            <a:chExt cx="738900" cy="738900"/>
          </a:xfrm>
        </p:grpSpPr>
        <p:sp>
          <p:nvSpPr>
            <p:cNvPr id="308" name="Google Shape;308;p36"/>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9" name="Google Shape;309;p36"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310" name="Google Shape;310;p36"/>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 </a:t>
            </a:r>
            <a:r>
              <a:rPr b="1" lang="es" sz="2000">
                <a:solidFill>
                  <a:schemeClr val="dk2"/>
                </a:solidFill>
                <a:latin typeface="DM Sans"/>
                <a:ea typeface="DM Sans"/>
                <a:cs typeface="DM Sans"/>
                <a:sym typeface="DM Sans"/>
              </a:rPr>
              <a:t>10 minutos</a:t>
            </a:r>
            <a:endParaRPr b="1" sz="2000">
              <a:solidFill>
                <a:schemeClr val="dk2"/>
              </a:solidFill>
              <a:latin typeface="DM Sans"/>
              <a:ea typeface="DM Sans"/>
              <a:cs typeface="DM Sans"/>
              <a:sym typeface="DM Sans"/>
            </a:endParaRPr>
          </a:p>
        </p:txBody>
      </p:sp>
      <p:grpSp>
        <p:nvGrpSpPr>
          <p:cNvPr id="311" name="Google Shape;311;p36"/>
          <p:cNvGrpSpPr/>
          <p:nvPr/>
        </p:nvGrpSpPr>
        <p:grpSpPr>
          <a:xfrm>
            <a:off x="0" y="-7400"/>
            <a:ext cx="9143925" cy="44400"/>
            <a:chOff x="0" y="-7400"/>
            <a:chExt cx="9143925" cy="44400"/>
          </a:xfrm>
        </p:grpSpPr>
        <p:sp>
          <p:nvSpPr>
            <p:cNvPr id="312" name="Google Shape;312;p36"/>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13" name="Google Shape;313;p36"/>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grpSp>
        <p:nvGrpSpPr>
          <p:cNvPr id="318" name="Google Shape;318;p37"/>
          <p:cNvGrpSpPr/>
          <p:nvPr/>
        </p:nvGrpSpPr>
        <p:grpSpPr>
          <a:xfrm>
            <a:off x="2172088" y="1852650"/>
            <a:ext cx="197100" cy="197100"/>
            <a:chOff x="2172088" y="1852650"/>
            <a:chExt cx="197100" cy="197100"/>
          </a:xfrm>
        </p:grpSpPr>
        <p:sp>
          <p:nvSpPr>
            <p:cNvPr id="319" name="Google Shape;319;p37"/>
            <p:cNvSpPr/>
            <p:nvPr/>
          </p:nvSpPr>
          <p:spPr>
            <a:xfrm>
              <a:off x="2172088" y="1852650"/>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37"/>
            <p:cNvSpPr/>
            <p:nvPr/>
          </p:nvSpPr>
          <p:spPr>
            <a:xfrm>
              <a:off x="2227138" y="1907700"/>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1" name="Google Shape;321;p37"/>
          <p:cNvGrpSpPr/>
          <p:nvPr/>
        </p:nvGrpSpPr>
        <p:grpSpPr>
          <a:xfrm>
            <a:off x="2172088" y="2455775"/>
            <a:ext cx="197100" cy="197100"/>
            <a:chOff x="2172088" y="2455775"/>
            <a:chExt cx="197100" cy="197100"/>
          </a:xfrm>
        </p:grpSpPr>
        <p:sp>
          <p:nvSpPr>
            <p:cNvPr id="322" name="Google Shape;322;p37"/>
            <p:cNvSpPr/>
            <p:nvPr/>
          </p:nvSpPr>
          <p:spPr>
            <a:xfrm>
              <a:off x="2172088" y="2455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7"/>
            <p:cNvSpPr/>
            <p:nvPr/>
          </p:nvSpPr>
          <p:spPr>
            <a:xfrm>
              <a:off x="2227138" y="2510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24" name="Google Shape;324;p37"/>
          <p:cNvCxnSpPr>
            <a:endCxn id="322" idx="0"/>
          </p:cNvCxnSpPr>
          <p:nvPr/>
        </p:nvCxnSpPr>
        <p:spPr>
          <a:xfrm>
            <a:off x="2270638" y="2049875"/>
            <a:ext cx="0" cy="405900"/>
          </a:xfrm>
          <a:prstGeom prst="straightConnector1">
            <a:avLst/>
          </a:prstGeom>
          <a:noFill/>
          <a:ln cap="flat" cmpd="sng" w="9525">
            <a:solidFill>
              <a:srgbClr val="DEFC52"/>
            </a:solidFill>
            <a:prstDash val="solid"/>
            <a:round/>
            <a:headEnd len="med" w="med" type="none"/>
            <a:tailEnd len="med" w="med" type="none"/>
          </a:ln>
        </p:spPr>
      </p:cxnSp>
      <p:sp>
        <p:nvSpPr>
          <p:cNvPr id="325" name="Google Shape;325;p37"/>
          <p:cNvSpPr txBox="1"/>
          <p:nvPr/>
        </p:nvSpPr>
        <p:spPr>
          <a:xfrm>
            <a:off x="473350" y="619525"/>
            <a:ext cx="8141100" cy="738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Paso a paso</a:t>
            </a:r>
            <a:endParaRPr b="1" sz="4000">
              <a:solidFill>
                <a:schemeClr val="dk1"/>
              </a:solidFill>
              <a:latin typeface="DM Sans"/>
              <a:ea typeface="DM Sans"/>
              <a:cs typeface="DM Sans"/>
              <a:sym typeface="DM Sans"/>
            </a:endParaRPr>
          </a:p>
        </p:txBody>
      </p:sp>
      <p:sp>
        <p:nvSpPr>
          <p:cNvPr id="326" name="Google Shape;326;p37"/>
          <p:cNvSpPr txBox="1"/>
          <p:nvPr/>
        </p:nvSpPr>
        <p:spPr>
          <a:xfrm>
            <a:off x="2690573" y="1731413"/>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 el </a:t>
            </a:r>
            <a:r>
              <a:rPr b="1" lang="es" sz="1350">
                <a:solidFill>
                  <a:schemeClr val="dk1"/>
                </a:solidFill>
                <a:latin typeface="DM Sans"/>
                <a:ea typeface="DM Sans"/>
                <a:cs typeface="DM Sans"/>
                <a:sym typeface="DM Sans"/>
              </a:rPr>
              <a:t>componente proveedor</a:t>
            </a:r>
            <a:r>
              <a:rPr lang="es" sz="1350">
                <a:solidFill>
                  <a:schemeClr val="dk1"/>
                </a:solidFill>
                <a:latin typeface="DM Sans"/>
                <a:ea typeface="DM Sans"/>
                <a:cs typeface="DM Sans"/>
                <a:sym typeface="DM Sans"/>
              </a:rPr>
              <a:t> que utilice el contexto y un estado interno con useState.</a:t>
            </a:r>
            <a:endParaRPr sz="1350">
              <a:solidFill>
                <a:schemeClr val="dk1"/>
              </a:solidFill>
              <a:latin typeface="DM Sans"/>
              <a:ea typeface="DM Sans"/>
              <a:cs typeface="DM Sans"/>
              <a:sym typeface="DM Sans"/>
            </a:endParaRPr>
          </a:p>
        </p:txBody>
      </p:sp>
      <p:sp>
        <p:nvSpPr>
          <p:cNvPr id="327" name="Google Shape;327;p37"/>
          <p:cNvSpPr txBox="1"/>
          <p:nvPr/>
        </p:nvSpPr>
        <p:spPr>
          <a:xfrm>
            <a:off x="2690573" y="233453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Renderiza el context.Provider inicial con todos los </a:t>
            </a:r>
            <a:r>
              <a:rPr b="1" lang="es" sz="1350">
                <a:solidFill>
                  <a:schemeClr val="dk1"/>
                </a:solidFill>
                <a:latin typeface="DM Sans"/>
                <a:ea typeface="DM Sans"/>
                <a:cs typeface="DM Sans"/>
                <a:sym typeface="DM Sans"/>
              </a:rPr>
              <a:t>childrens </a:t>
            </a:r>
            <a:r>
              <a:rPr lang="es" sz="1350">
                <a:solidFill>
                  <a:schemeClr val="dk1"/>
                </a:solidFill>
                <a:latin typeface="DM Sans"/>
                <a:ea typeface="DM Sans"/>
                <a:cs typeface="DM Sans"/>
                <a:sym typeface="DM Sans"/>
              </a:rPr>
              <a:t>recibidos en props</a:t>
            </a:r>
            <a:endParaRPr sz="1350">
              <a:solidFill>
                <a:schemeClr val="dk1"/>
              </a:solidFill>
              <a:latin typeface="DM Sans"/>
              <a:ea typeface="DM Sans"/>
              <a:cs typeface="DM Sans"/>
              <a:sym typeface="DM Sans"/>
            </a:endParaRPr>
          </a:p>
        </p:txBody>
      </p:sp>
      <p:grpSp>
        <p:nvGrpSpPr>
          <p:cNvPr id="328" name="Google Shape;328;p37"/>
          <p:cNvGrpSpPr/>
          <p:nvPr/>
        </p:nvGrpSpPr>
        <p:grpSpPr>
          <a:xfrm>
            <a:off x="2172088" y="3082350"/>
            <a:ext cx="197100" cy="197100"/>
            <a:chOff x="2172088" y="3058775"/>
            <a:chExt cx="197100" cy="197100"/>
          </a:xfrm>
        </p:grpSpPr>
        <p:sp>
          <p:nvSpPr>
            <p:cNvPr id="329" name="Google Shape;329;p37"/>
            <p:cNvSpPr/>
            <p:nvPr/>
          </p:nvSpPr>
          <p:spPr>
            <a:xfrm>
              <a:off x="2172088" y="3058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7"/>
            <p:cNvSpPr/>
            <p:nvPr/>
          </p:nvSpPr>
          <p:spPr>
            <a:xfrm>
              <a:off x="2227138" y="3113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1" name="Google Shape;331;p37"/>
          <p:cNvCxnSpPr>
            <a:endCxn id="329" idx="0"/>
          </p:cNvCxnSpPr>
          <p:nvPr/>
        </p:nvCxnSpPr>
        <p:spPr>
          <a:xfrm>
            <a:off x="2270638" y="2676450"/>
            <a:ext cx="0" cy="405900"/>
          </a:xfrm>
          <a:prstGeom prst="straightConnector1">
            <a:avLst/>
          </a:prstGeom>
          <a:noFill/>
          <a:ln cap="flat" cmpd="sng" w="9525">
            <a:solidFill>
              <a:srgbClr val="DEFC52"/>
            </a:solidFill>
            <a:prstDash val="solid"/>
            <a:round/>
            <a:headEnd len="med" w="med" type="none"/>
            <a:tailEnd len="med" w="med" type="none"/>
          </a:ln>
        </p:spPr>
      </p:cxnSp>
      <p:grpSp>
        <p:nvGrpSpPr>
          <p:cNvPr id="332" name="Google Shape;332;p37"/>
          <p:cNvGrpSpPr/>
          <p:nvPr/>
        </p:nvGrpSpPr>
        <p:grpSpPr>
          <a:xfrm>
            <a:off x="2172088" y="3685475"/>
            <a:ext cx="197100" cy="197100"/>
            <a:chOff x="2172088" y="3661775"/>
            <a:chExt cx="197100" cy="197100"/>
          </a:xfrm>
        </p:grpSpPr>
        <p:sp>
          <p:nvSpPr>
            <p:cNvPr id="333" name="Google Shape;333;p37"/>
            <p:cNvSpPr/>
            <p:nvPr/>
          </p:nvSpPr>
          <p:spPr>
            <a:xfrm>
              <a:off x="2172088" y="3661775"/>
              <a:ext cx="197100" cy="197100"/>
            </a:xfrm>
            <a:prstGeom prst="ellipse">
              <a:avLst/>
            </a:prstGeom>
            <a:solidFill>
              <a:srgbClr val="DEF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7"/>
            <p:cNvSpPr/>
            <p:nvPr/>
          </p:nvSpPr>
          <p:spPr>
            <a:xfrm>
              <a:off x="2227138" y="3716825"/>
              <a:ext cx="87000" cy="870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335" name="Google Shape;335;p37"/>
          <p:cNvCxnSpPr>
            <a:endCxn id="333" idx="0"/>
          </p:cNvCxnSpPr>
          <p:nvPr/>
        </p:nvCxnSpPr>
        <p:spPr>
          <a:xfrm>
            <a:off x="2270638" y="3279575"/>
            <a:ext cx="0" cy="405900"/>
          </a:xfrm>
          <a:prstGeom prst="straightConnector1">
            <a:avLst/>
          </a:prstGeom>
          <a:noFill/>
          <a:ln cap="flat" cmpd="sng" w="9525">
            <a:solidFill>
              <a:srgbClr val="DEFC52"/>
            </a:solidFill>
            <a:prstDash val="solid"/>
            <a:round/>
            <a:headEnd len="med" w="med" type="none"/>
            <a:tailEnd len="med" w="med" type="none"/>
          </a:ln>
        </p:spPr>
      </p:cxnSp>
      <p:sp>
        <p:nvSpPr>
          <p:cNvPr id="336" name="Google Shape;336;p37"/>
          <p:cNvSpPr txBox="1"/>
          <p:nvPr/>
        </p:nvSpPr>
        <p:spPr>
          <a:xfrm>
            <a:off x="2690573" y="2984688"/>
            <a:ext cx="42813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350">
                <a:solidFill>
                  <a:schemeClr val="dk1"/>
                </a:solidFill>
                <a:latin typeface="DM Sans"/>
                <a:ea typeface="DM Sans"/>
                <a:cs typeface="DM Sans"/>
                <a:sym typeface="DM Sans"/>
              </a:rPr>
              <a:t>Crea una </a:t>
            </a:r>
            <a:r>
              <a:rPr b="1" lang="es" sz="1350">
                <a:solidFill>
                  <a:schemeClr val="dk1"/>
                </a:solidFill>
                <a:latin typeface="DM Sans"/>
                <a:ea typeface="DM Sans"/>
                <a:cs typeface="DM Sans"/>
                <a:sym typeface="DM Sans"/>
              </a:rPr>
              <a:t>función</a:t>
            </a:r>
            <a:r>
              <a:rPr lang="es" sz="1350">
                <a:solidFill>
                  <a:schemeClr val="dk1"/>
                </a:solidFill>
                <a:latin typeface="DM Sans"/>
                <a:ea typeface="DM Sans"/>
                <a:cs typeface="DM Sans"/>
                <a:sym typeface="DM Sans"/>
              </a:rPr>
              <a:t> que reciba un objeto como parámetro y lo guarde en el estado</a:t>
            </a:r>
            <a:endParaRPr sz="1350">
              <a:solidFill>
                <a:schemeClr val="dk1"/>
              </a:solidFill>
              <a:latin typeface="DM Sans"/>
              <a:ea typeface="DM Sans"/>
              <a:cs typeface="DM Sans"/>
              <a:sym typeface="DM Sans"/>
            </a:endParaRPr>
          </a:p>
        </p:txBody>
      </p:sp>
      <p:sp>
        <p:nvSpPr>
          <p:cNvPr id="337" name="Google Shape;337;p37"/>
          <p:cNvSpPr txBox="1"/>
          <p:nvPr/>
        </p:nvSpPr>
        <p:spPr>
          <a:xfrm>
            <a:off x="2690575" y="3587825"/>
            <a:ext cx="4472400" cy="8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Actualiza la </a:t>
            </a:r>
            <a:r>
              <a:rPr b="1" lang="es" sz="1350">
                <a:solidFill>
                  <a:schemeClr val="dk1"/>
                </a:solidFill>
                <a:latin typeface="DM Sans"/>
                <a:ea typeface="DM Sans"/>
                <a:cs typeface="DM Sans"/>
                <a:sym typeface="DM Sans"/>
              </a:rPr>
              <a:t>prop “value”</a:t>
            </a:r>
            <a:r>
              <a:rPr lang="es" sz="1350">
                <a:solidFill>
                  <a:schemeClr val="dk1"/>
                </a:solidFill>
                <a:latin typeface="DM Sans"/>
                <a:ea typeface="DM Sans"/>
                <a:cs typeface="DM Sans"/>
                <a:sym typeface="DM Sans"/>
              </a:rPr>
              <a:t> del context.Provider, con la variable de estado creado y la función </a:t>
            </a:r>
            <a:endParaRPr sz="1350">
              <a:solidFill>
                <a:schemeClr val="dk1"/>
              </a:solidFill>
              <a:latin typeface="DM Sans"/>
              <a:ea typeface="DM Sans"/>
              <a:cs typeface="DM Sans"/>
              <a:sym typeface="DM Sans"/>
            </a:endParaRPr>
          </a:p>
          <a:p>
            <a:pPr indent="0" lvl="0" marL="0" rtl="0" algn="l">
              <a:spcBef>
                <a:spcPts val="0"/>
              </a:spcBef>
              <a:spcAft>
                <a:spcPts val="0"/>
              </a:spcAft>
              <a:buNone/>
            </a:pPr>
            <a:r>
              <a:t/>
            </a:r>
            <a:endParaRPr sz="1350">
              <a:solidFill>
                <a:schemeClr val="dk1"/>
              </a:solidFill>
              <a:latin typeface="DM Sans"/>
              <a:ea typeface="DM Sans"/>
              <a:cs typeface="DM Sans"/>
              <a:sym typeface="DM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8"/>
          <p:cNvSpPr txBox="1"/>
          <p:nvPr/>
        </p:nvSpPr>
        <p:spPr>
          <a:xfrm>
            <a:off x="1461300" y="1598325"/>
            <a:ext cx="6221400" cy="14316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lang="es" sz="5000">
                <a:solidFill>
                  <a:srgbClr val="E8E7E3"/>
                </a:solidFill>
              </a:rPr>
              <a:t>☕</a:t>
            </a:r>
            <a:endParaRPr sz="5000">
              <a:solidFill>
                <a:srgbClr val="E8E7E3"/>
              </a:solidFill>
            </a:endParaRPr>
          </a:p>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Break</a:t>
            </a:r>
            <a:endParaRPr b="1" sz="4000">
              <a:solidFill>
                <a:schemeClr val="lt1"/>
              </a:solidFill>
              <a:latin typeface="DM Sans"/>
              <a:ea typeface="DM Sans"/>
              <a:cs typeface="DM Sans"/>
              <a:sym typeface="DM Sans"/>
            </a:endParaRPr>
          </a:p>
        </p:txBody>
      </p:sp>
      <p:sp>
        <p:nvSpPr>
          <p:cNvPr id="343" name="Google Shape;343;p38"/>
          <p:cNvSpPr txBox="1"/>
          <p:nvPr/>
        </p:nvSpPr>
        <p:spPr>
          <a:xfrm>
            <a:off x="2809200" y="2971950"/>
            <a:ext cx="3525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lt1"/>
                </a:solidFill>
                <a:latin typeface="DM Sans"/>
                <a:ea typeface="DM Sans"/>
                <a:cs typeface="DM Sans"/>
                <a:sym typeface="DM Sans"/>
              </a:rPr>
              <a:t>¡En 5 minutos volvemos!</a:t>
            </a:r>
            <a:endParaRPr sz="2000">
              <a:solidFill>
                <a:schemeClr val="lt1"/>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9"/>
          <p:cNvSpPr txBox="1"/>
          <p:nvPr/>
        </p:nvSpPr>
        <p:spPr>
          <a:xfrm>
            <a:off x="1404863" y="194137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Rendering Condicional</a:t>
            </a:r>
            <a:endParaRPr b="1" sz="4000">
              <a:solidFill>
                <a:srgbClr val="EAFF6A"/>
              </a:solidFill>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40"/>
          <p:cNvSpPr txBox="1"/>
          <p:nvPr/>
        </p:nvSpPr>
        <p:spPr>
          <a:xfrm>
            <a:off x="1447300" y="537575"/>
            <a:ext cx="7169400" cy="669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3500">
                <a:solidFill>
                  <a:schemeClr val="dk1"/>
                </a:solidFill>
                <a:latin typeface="DM Sans"/>
                <a:ea typeface="DM Sans"/>
                <a:cs typeface="DM Sans"/>
                <a:sym typeface="DM Sans"/>
              </a:rPr>
              <a:t>Ejemplo en vivo</a:t>
            </a:r>
            <a:endParaRPr b="1" sz="3500">
              <a:solidFill>
                <a:schemeClr val="dk1"/>
              </a:solidFill>
              <a:latin typeface="DM Sans"/>
              <a:ea typeface="DM Sans"/>
              <a:cs typeface="DM Sans"/>
              <a:sym typeface="DM Sans"/>
            </a:endParaRPr>
          </a:p>
        </p:txBody>
      </p:sp>
      <p:sp>
        <p:nvSpPr>
          <p:cNvPr id="354" name="Google Shape;354;p40"/>
          <p:cNvSpPr txBox="1"/>
          <p:nvPr/>
        </p:nvSpPr>
        <p:spPr>
          <a:xfrm>
            <a:off x="475500" y="1474850"/>
            <a:ext cx="7169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500">
              <a:solidFill>
                <a:srgbClr val="B7B7B7"/>
              </a:solidFill>
              <a:latin typeface="DM Sans"/>
              <a:ea typeface="DM Sans"/>
              <a:cs typeface="DM Sans"/>
              <a:sym typeface="DM Sans"/>
            </a:endParaRPr>
          </a:p>
          <a:p>
            <a:pPr indent="0" lvl="0" marL="0" rtl="0" algn="l">
              <a:spcBef>
                <a:spcPts val="0"/>
              </a:spcBef>
              <a:spcAft>
                <a:spcPts val="0"/>
              </a:spcAft>
              <a:buNone/>
            </a:pPr>
            <a:r>
              <a:rPr lang="es" sz="2500">
                <a:solidFill>
                  <a:schemeClr val="dk2"/>
                </a:solidFill>
                <a:latin typeface="DM Sans"/>
                <a:ea typeface="DM Sans"/>
                <a:cs typeface="DM Sans"/>
                <a:sym typeface="DM Sans"/>
              </a:rPr>
              <a:t>Vemos ejemplos en los que aplicar las técnicas de renderizado condicional aprendidas </a:t>
            </a:r>
            <a:endParaRPr b="1" sz="2500">
              <a:solidFill>
                <a:schemeClr val="dk2"/>
              </a:solidFill>
              <a:latin typeface="Helvetica Neue"/>
              <a:ea typeface="Helvetica Neue"/>
              <a:cs typeface="Helvetica Neue"/>
              <a:sym typeface="Helvetica Neue"/>
            </a:endParaRPr>
          </a:p>
          <a:p>
            <a:pPr indent="0" lvl="0" marL="0" rtl="0" algn="l">
              <a:spcBef>
                <a:spcPts val="0"/>
              </a:spcBef>
              <a:spcAft>
                <a:spcPts val="0"/>
              </a:spcAft>
              <a:buNone/>
            </a:pPr>
            <a:r>
              <a:t/>
            </a:r>
            <a:endParaRPr b="1" sz="2500">
              <a:solidFill>
                <a:srgbClr val="B7B7B7"/>
              </a:solidFill>
              <a:latin typeface="Helvetica Neue"/>
              <a:ea typeface="Helvetica Neue"/>
              <a:cs typeface="Helvetica Neue"/>
              <a:sym typeface="Helvetica Neue"/>
            </a:endParaRPr>
          </a:p>
        </p:txBody>
      </p:sp>
      <p:grpSp>
        <p:nvGrpSpPr>
          <p:cNvPr id="355" name="Google Shape;355;p40"/>
          <p:cNvGrpSpPr/>
          <p:nvPr/>
        </p:nvGrpSpPr>
        <p:grpSpPr>
          <a:xfrm>
            <a:off x="475501" y="468273"/>
            <a:ext cx="738900" cy="738900"/>
            <a:chOff x="473351" y="619523"/>
            <a:chExt cx="738900" cy="738900"/>
          </a:xfrm>
        </p:grpSpPr>
        <p:sp>
          <p:nvSpPr>
            <p:cNvPr id="356" name="Google Shape;356;p40"/>
            <p:cNvSpPr/>
            <p:nvPr/>
          </p:nvSpPr>
          <p:spPr>
            <a:xfrm>
              <a:off x="473351" y="61952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57" name="Google Shape;357;p40"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
        <p:nvSpPr>
          <p:cNvPr id="358" name="Google Shape;358;p40"/>
          <p:cNvSpPr txBox="1"/>
          <p:nvPr/>
        </p:nvSpPr>
        <p:spPr>
          <a:xfrm>
            <a:off x="475500" y="3829300"/>
            <a:ext cx="71694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2000">
                <a:solidFill>
                  <a:schemeClr val="dk2"/>
                </a:solidFill>
                <a:latin typeface="DM Sans"/>
                <a:ea typeface="DM Sans"/>
                <a:cs typeface="DM Sans"/>
                <a:sym typeface="DM Sans"/>
              </a:rPr>
              <a:t>Duración:</a:t>
            </a:r>
            <a:r>
              <a:rPr lang="es" sz="2000">
                <a:solidFill>
                  <a:schemeClr val="dk2"/>
                </a:solidFill>
                <a:latin typeface="DM Sans"/>
                <a:ea typeface="DM Sans"/>
                <a:cs typeface="DM Sans"/>
                <a:sym typeface="DM Sans"/>
              </a:rPr>
              <a:t> </a:t>
            </a:r>
            <a:r>
              <a:rPr b="1" lang="es" sz="2000">
                <a:solidFill>
                  <a:schemeClr val="dk2"/>
                </a:solidFill>
                <a:latin typeface="DM Sans"/>
                <a:ea typeface="DM Sans"/>
                <a:cs typeface="DM Sans"/>
                <a:sym typeface="DM Sans"/>
              </a:rPr>
              <a:t>20</a:t>
            </a:r>
            <a:r>
              <a:rPr b="1" lang="es" sz="2000">
                <a:solidFill>
                  <a:schemeClr val="dk2"/>
                </a:solidFill>
                <a:latin typeface="DM Sans"/>
                <a:ea typeface="DM Sans"/>
                <a:cs typeface="DM Sans"/>
                <a:sym typeface="DM Sans"/>
              </a:rPr>
              <a:t> minutos</a:t>
            </a:r>
            <a:endParaRPr b="1" sz="2000">
              <a:solidFill>
                <a:schemeClr val="dk2"/>
              </a:solidFill>
              <a:latin typeface="DM Sans"/>
              <a:ea typeface="DM Sans"/>
              <a:cs typeface="DM Sans"/>
              <a:sym typeface="DM Sans"/>
            </a:endParaRPr>
          </a:p>
        </p:txBody>
      </p:sp>
      <p:grpSp>
        <p:nvGrpSpPr>
          <p:cNvPr id="359" name="Google Shape;359;p40"/>
          <p:cNvGrpSpPr/>
          <p:nvPr/>
        </p:nvGrpSpPr>
        <p:grpSpPr>
          <a:xfrm>
            <a:off x="0" y="-7400"/>
            <a:ext cx="9143925" cy="44400"/>
            <a:chOff x="0" y="-7400"/>
            <a:chExt cx="9143925" cy="44400"/>
          </a:xfrm>
        </p:grpSpPr>
        <p:sp>
          <p:nvSpPr>
            <p:cNvPr id="360" name="Google Shape;360;p40"/>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61" name="Google Shape;361;p40"/>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grpSp>
        <p:nvGrpSpPr>
          <p:cNvPr id="366" name="Google Shape;366;p41"/>
          <p:cNvGrpSpPr/>
          <p:nvPr/>
        </p:nvGrpSpPr>
        <p:grpSpPr>
          <a:xfrm>
            <a:off x="4202556" y="994173"/>
            <a:ext cx="738900" cy="738900"/>
            <a:chOff x="974706" y="2467173"/>
            <a:chExt cx="738900" cy="738900"/>
          </a:xfrm>
        </p:grpSpPr>
        <p:sp>
          <p:nvSpPr>
            <p:cNvPr id="367" name="Google Shape;367;p41"/>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68" name="Google Shape;368;p41"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369" name="Google Shape;369;p41"/>
          <p:cNvSpPr txBox="1"/>
          <p:nvPr/>
        </p:nvSpPr>
        <p:spPr>
          <a:xfrm>
            <a:off x="1538900" y="1925250"/>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Crea un Loader Component</a:t>
            </a:r>
            <a:endParaRPr b="1" sz="4000">
              <a:solidFill>
                <a:schemeClr val="dk1"/>
              </a:solidFill>
              <a:latin typeface="DM Sans"/>
              <a:ea typeface="DM Sans"/>
              <a:cs typeface="DM Sans"/>
              <a:sym typeface="DM Sans"/>
            </a:endParaRPr>
          </a:p>
        </p:txBody>
      </p:sp>
      <p:sp>
        <p:nvSpPr>
          <p:cNvPr id="370" name="Google Shape;370;p41"/>
          <p:cNvSpPr txBox="1"/>
          <p:nvPr/>
        </p:nvSpPr>
        <p:spPr>
          <a:xfrm>
            <a:off x="987263" y="3818588"/>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10 </a:t>
            </a:r>
            <a:r>
              <a:rPr b="1" lang="es" sz="2000">
                <a:solidFill>
                  <a:schemeClr val="dk2"/>
                </a:solidFill>
                <a:latin typeface="DM Sans"/>
                <a:ea typeface="DM Sans"/>
                <a:cs typeface="DM Sans"/>
                <a:sym typeface="DM Sans"/>
              </a:rPr>
              <a:t>minutos</a:t>
            </a:r>
            <a:endParaRPr b="1" sz="2000">
              <a:solidFill>
                <a:schemeClr val="dk2"/>
              </a:solidFill>
              <a:latin typeface="DM Sans"/>
              <a:ea typeface="DM Sans"/>
              <a:cs typeface="DM Sans"/>
              <a:sym typeface="DM Sans"/>
            </a:endParaRPr>
          </a:p>
        </p:txBody>
      </p:sp>
      <p:sp>
        <p:nvSpPr>
          <p:cNvPr id="371" name="Google Shape;371;p41"/>
          <p:cNvSpPr txBox="1"/>
          <p:nvPr/>
        </p:nvSpPr>
        <p:spPr>
          <a:xfrm>
            <a:off x="1064900" y="3136613"/>
            <a:ext cx="7169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rgbClr val="999999"/>
                </a:solidFill>
                <a:latin typeface="DM Sans"/>
                <a:ea typeface="DM Sans"/>
                <a:cs typeface="DM Sans"/>
                <a:sym typeface="DM Sans"/>
              </a:rPr>
              <a:t>Vamos a practicar lo visto</a:t>
            </a:r>
            <a:endParaRPr sz="2000">
              <a:solidFill>
                <a:srgbClr val="999999"/>
              </a:solidFill>
              <a:latin typeface="DM Sans"/>
              <a:ea typeface="DM Sans"/>
              <a:cs typeface="DM Sans"/>
              <a:sym typeface="DM Sans"/>
            </a:endParaRPr>
          </a:p>
        </p:txBody>
      </p:sp>
      <p:grpSp>
        <p:nvGrpSpPr>
          <p:cNvPr id="372" name="Google Shape;372;p41"/>
          <p:cNvGrpSpPr/>
          <p:nvPr/>
        </p:nvGrpSpPr>
        <p:grpSpPr>
          <a:xfrm>
            <a:off x="0" y="-7400"/>
            <a:ext cx="9143925" cy="44400"/>
            <a:chOff x="0" y="-7400"/>
            <a:chExt cx="9143925" cy="44400"/>
          </a:xfrm>
        </p:grpSpPr>
        <p:sp>
          <p:nvSpPr>
            <p:cNvPr id="373" name="Google Shape;373;p41"/>
            <p:cNvSpPr/>
            <p:nvPr/>
          </p:nvSpPr>
          <p:spPr>
            <a:xfrm>
              <a:off x="5846625" y="-7400"/>
              <a:ext cx="3297300" cy="444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DM Sans"/>
                <a:ea typeface="DM Sans"/>
                <a:cs typeface="DM Sans"/>
                <a:sym typeface="DM Sans"/>
              </a:endParaRPr>
            </a:p>
          </p:txBody>
        </p:sp>
        <p:sp>
          <p:nvSpPr>
            <p:cNvPr id="374" name="Google Shape;374;p41"/>
            <p:cNvSpPr/>
            <p:nvPr/>
          </p:nvSpPr>
          <p:spPr>
            <a:xfrm>
              <a:off x="0" y="-7400"/>
              <a:ext cx="5846700" cy="44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grpSp>
        <p:nvGrpSpPr>
          <p:cNvPr id="379" name="Google Shape;379;p42"/>
          <p:cNvGrpSpPr/>
          <p:nvPr/>
        </p:nvGrpSpPr>
        <p:grpSpPr>
          <a:xfrm>
            <a:off x="457347" y="468297"/>
            <a:ext cx="431074" cy="431074"/>
            <a:chOff x="974706" y="2467173"/>
            <a:chExt cx="738900" cy="738900"/>
          </a:xfrm>
        </p:grpSpPr>
        <p:sp>
          <p:nvSpPr>
            <p:cNvPr id="380" name="Google Shape;380;p42"/>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1" name="Google Shape;381;p42" title="ícono de actividad en clase"/>
            <p:cNvPicPr preferRelativeResize="0"/>
            <p:nvPr/>
          </p:nvPicPr>
          <p:blipFill>
            <a:blip r:embed="rId3">
              <a:alphaModFix/>
            </a:blip>
            <a:stretch>
              <a:fillRect/>
            </a:stretch>
          </p:blipFill>
          <p:spPr>
            <a:xfrm>
              <a:off x="1109750" y="2610275"/>
              <a:ext cx="452650" cy="452650"/>
            </a:xfrm>
            <a:prstGeom prst="rect">
              <a:avLst/>
            </a:prstGeom>
            <a:noFill/>
            <a:ln>
              <a:noFill/>
            </a:ln>
          </p:spPr>
        </p:pic>
      </p:grpSp>
      <p:sp>
        <p:nvSpPr>
          <p:cNvPr id="382" name="Google Shape;382;p42"/>
          <p:cNvSpPr txBox="1"/>
          <p:nvPr/>
        </p:nvSpPr>
        <p:spPr>
          <a:xfrm>
            <a:off x="457350" y="971825"/>
            <a:ext cx="5250600" cy="12930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s" sz="4000">
                <a:solidFill>
                  <a:schemeClr val="dk1"/>
                </a:solidFill>
                <a:latin typeface="DM Sans"/>
                <a:ea typeface="DM Sans"/>
                <a:cs typeface="DM Sans"/>
                <a:sym typeface="DM Sans"/>
              </a:rPr>
              <a:t>Crea un Loader Component</a:t>
            </a:r>
            <a:endParaRPr b="1" sz="4000">
              <a:solidFill>
                <a:schemeClr val="dk1"/>
              </a:solidFill>
              <a:latin typeface="DM Sans"/>
              <a:ea typeface="DM Sans"/>
              <a:cs typeface="DM Sans"/>
              <a:sym typeface="DM Sans"/>
            </a:endParaRPr>
          </a:p>
        </p:txBody>
      </p:sp>
      <p:pic>
        <p:nvPicPr>
          <p:cNvPr id="383" name="Google Shape;383;p42"/>
          <p:cNvPicPr preferRelativeResize="0"/>
          <p:nvPr/>
        </p:nvPicPr>
        <p:blipFill>
          <a:blip r:embed="rId4">
            <a:alphaModFix/>
          </a:blip>
          <a:stretch>
            <a:fillRect/>
          </a:stretch>
        </p:blipFill>
        <p:spPr>
          <a:xfrm>
            <a:off x="7811413" y="4692275"/>
            <a:ext cx="1150750" cy="267575"/>
          </a:xfrm>
          <a:prstGeom prst="rect">
            <a:avLst/>
          </a:prstGeom>
          <a:noFill/>
          <a:ln>
            <a:noFill/>
          </a:ln>
        </p:spPr>
      </p:pic>
      <p:sp>
        <p:nvSpPr>
          <p:cNvPr id="384" name="Google Shape;384;p42"/>
          <p:cNvSpPr txBox="1"/>
          <p:nvPr/>
        </p:nvSpPr>
        <p:spPr>
          <a:xfrm>
            <a:off x="457350" y="2264825"/>
            <a:ext cx="73986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350">
                <a:latin typeface="DM Sans"/>
                <a:ea typeface="DM Sans"/>
                <a:cs typeface="DM Sans"/>
                <a:sym typeface="DM Sans"/>
              </a:rPr>
              <a:t>Descripción de la actividad. </a:t>
            </a:r>
            <a:endParaRPr b="1" sz="1350">
              <a:latin typeface="DM Sans"/>
              <a:ea typeface="DM Sans"/>
              <a:cs typeface="DM Sans"/>
              <a:sym typeface="DM Sans"/>
            </a:endParaRPr>
          </a:p>
          <a:p>
            <a:pPr indent="0" lvl="0" marL="0" rtl="0" algn="l">
              <a:spcBef>
                <a:spcPts val="0"/>
              </a:spcBef>
              <a:spcAft>
                <a:spcPts val="0"/>
              </a:spcAft>
              <a:buNone/>
            </a:pPr>
            <a:r>
              <a:t/>
            </a:r>
            <a:endParaRPr sz="1350">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Crea en </a:t>
            </a:r>
            <a:r>
              <a:rPr lang="es" sz="1350" u="sng">
                <a:solidFill>
                  <a:schemeClr val="accent5"/>
                </a:solidFill>
                <a:latin typeface="DM Sans"/>
                <a:ea typeface="DM Sans"/>
                <a:cs typeface="DM Sans"/>
                <a:sym typeface="DM Sans"/>
                <a:hlinkClick r:id="rId5">
                  <a:extLst>
                    <a:ext uri="{A12FA001-AC4F-418D-AE19-62706E023703}">
                      <ahyp:hlinkClr val="tx"/>
                    </a:ext>
                  </a:extLst>
                </a:hlinkClick>
              </a:rPr>
              <a:t>stackblitz </a:t>
            </a:r>
            <a:r>
              <a:rPr lang="es" sz="1350">
                <a:solidFill>
                  <a:schemeClr val="dk1"/>
                </a:solidFill>
                <a:latin typeface="DM Sans"/>
                <a:ea typeface="DM Sans"/>
                <a:cs typeface="DM Sans"/>
                <a:sym typeface="DM Sans"/>
              </a:rPr>
              <a:t>un componente “Loader” dentro de la app que tenga una prop “loading” (boolean:true|false). Si loading es true, el componente debe mostrar “Loading…” y si es false, nada.</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Extra: si quieres, puedes integrar algún spinner de la librería de UI que estés usando o buscar una alternativa.</a:t>
            </a:r>
            <a:endParaRPr sz="1350">
              <a:solidFill>
                <a:schemeClr val="dk1"/>
              </a:solidFill>
              <a:latin typeface="DM Sans"/>
              <a:ea typeface="DM Sans"/>
              <a:cs typeface="DM Sans"/>
              <a:sym typeface="DM Sans"/>
            </a:endParaRPr>
          </a:p>
          <a:p>
            <a:pPr indent="0" lvl="0" marL="0" rtl="0" algn="l">
              <a:spcBef>
                <a:spcPts val="0"/>
              </a:spcBef>
              <a:spcAft>
                <a:spcPts val="0"/>
              </a:spcAft>
              <a:buClr>
                <a:schemeClr val="dk1"/>
              </a:buClr>
              <a:buSzPts val="1100"/>
              <a:buFont typeface="Arial"/>
              <a:buNone/>
            </a:pPr>
            <a:r>
              <a:t/>
            </a:r>
            <a:endParaRPr sz="1350">
              <a:latin typeface="DM Sans"/>
              <a:ea typeface="DM Sans"/>
              <a:cs typeface="DM Sans"/>
              <a:sym typeface="DM Sans"/>
            </a:endParaRPr>
          </a:p>
        </p:txBody>
      </p:sp>
      <p:sp>
        <p:nvSpPr>
          <p:cNvPr id="385" name="Google Shape;385;p42"/>
          <p:cNvSpPr txBox="1"/>
          <p:nvPr/>
        </p:nvSpPr>
        <p:spPr>
          <a:xfrm>
            <a:off x="930550" y="468275"/>
            <a:ext cx="24612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DM Sans"/>
                <a:ea typeface="DM Sans"/>
                <a:cs typeface="DM Sans"/>
                <a:sym typeface="DM Sans"/>
              </a:rPr>
              <a:t>ACTIVIDAD</a:t>
            </a:r>
            <a:endParaRPr>
              <a:latin typeface="DM Sans"/>
              <a:ea typeface="DM Sans"/>
              <a:cs typeface="DM Sans"/>
              <a:sym typeface="DM Sans"/>
            </a:endParaRPr>
          </a:p>
        </p:txBody>
      </p:sp>
      <p:pic>
        <p:nvPicPr>
          <p:cNvPr id="386" name="Google Shape;386;p42"/>
          <p:cNvPicPr preferRelativeResize="0"/>
          <p:nvPr/>
        </p:nvPicPr>
        <p:blipFill>
          <a:blip r:embed="rId4">
            <a:alphaModFix/>
          </a:blip>
          <a:stretch>
            <a:fillRect/>
          </a:stretch>
        </p:blipFill>
        <p:spPr>
          <a:xfrm>
            <a:off x="7811413" y="4692275"/>
            <a:ext cx="1150750" cy="267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pic>
        <p:nvPicPr>
          <p:cNvPr id="391" name="Google Shape;391;p43"/>
          <p:cNvPicPr preferRelativeResize="0"/>
          <p:nvPr/>
        </p:nvPicPr>
        <p:blipFill>
          <a:blip r:embed="rId3">
            <a:alphaModFix/>
          </a:blip>
          <a:stretch>
            <a:fillRect/>
          </a:stretch>
        </p:blipFill>
        <p:spPr>
          <a:xfrm>
            <a:off x="7811413" y="4692275"/>
            <a:ext cx="1150750" cy="267575"/>
          </a:xfrm>
          <a:prstGeom prst="rect">
            <a:avLst/>
          </a:prstGeom>
          <a:noFill/>
          <a:ln>
            <a:noFill/>
          </a:ln>
        </p:spPr>
      </p:pic>
      <p:grpSp>
        <p:nvGrpSpPr>
          <p:cNvPr id="392" name="Google Shape;392;p43"/>
          <p:cNvGrpSpPr/>
          <p:nvPr/>
        </p:nvGrpSpPr>
        <p:grpSpPr>
          <a:xfrm>
            <a:off x="4243306" y="1320073"/>
            <a:ext cx="738900" cy="738900"/>
            <a:chOff x="974706" y="2467173"/>
            <a:chExt cx="738900" cy="738900"/>
          </a:xfrm>
        </p:grpSpPr>
        <p:sp>
          <p:nvSpPr>
            <p:cNvPr id="393" name="Google Shape;393;p43"/>
            <p:cNvSpPr/>
            <p:nvPr/>
          </p:nvSpPr>
          <p:spPr>
            <a:xfrm>
              <a:off x="974706" y="2467173"/>
              <a:ext cx="738900" cy="738900"/>
            </a:xfrm>
            <a:prstGeom prst="ellips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4" name="Google Shape;394;p43" title="ícono de actividad en clase"/>
            <p:cNvPicPr preferRelativeResize="0"/>
            <p:nvPr/>
          </p:nvPicPr>
          <p:blipFill>
            <a:blip r:embed="rId4">
              <a:alphaModFix/>
            </a:blip>
            <a:stretch>
              <a:fillRect/>
            </a:stretch>
          </p:blipFill>
          <p:spPr>
            <a:xfrm>
              <a:off x="1109750" y="2610275"/>
              <a:ext cx="452650" cy="452650"/>
            </a:xfrm>
            <a:prstGeom prst="rect">
              <a:avLst/>
            </a:prstGeom>
            <a:noFill/>
            <a:ln>
              <a:noFill/>
            </a:ln>
          </p:spPr>
        </p:pic>
      </p:grpSp>
      <p:sp>
        <p:nvSpPr>
          <p:cNvPr id="395" name="Google Shape;395;p43"/>
          <p:cNvSpPr txBox="1"/>
          <p:nvPr/>
        </p:nvSpPr>
        <p:spPr>
          <a:xfrm>
            <a:off x="1502050" y="2406788"/>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chemeClr val="dk1"/>
                </a:solidFill>
                <a:latin typeface="DM Sans"/>
                <a:ea typeface="DM Sans"/>
                <a:cs typeface="DM Sans"/>
                <a:sym typeface="DM Sans"/>
              </a:rPr>
              <a:t>Puesta en común</a:t>
            </a:r>
            <a:endParaRPr b="1" sz="4000">
              <a:solidFill>
                <a:schemeClr val="dk1"/>
              </a:solidFill>
              <a:highlight>
                <a:srgbClr val="EAFF6A"/>
              </a:highlight>
              <a:latin typeface="DM Sans"/>
              <a:ea typeface="DM Sans"/>
              <a:cs typeface="DM Sans"/>
              <a:sym typeface="DM Sans"/>
            </a:endParaRPr>
          </a:p>
        </p:txBody>
      </p:sp>
      <p:sp>
        <p:nvSpPr>
          <p:cNvPr id="396" name="Google Shape;396;p43"/>
          <p:cNvSpPr txBox="1"/>
          <p:nvPr/>
        </p:nvSpPr>
        <p:spPr>
          <a:xfrm>
            <a:off x="2179625" y="3493500"/>
            <a:ext cx="50619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2000">
                <a:solidFill>
                  <a:schemeClr val="dk2"/>
                </a:solidFill>
                <a:latin typeface="DM Sans"/>
                <a:ea typeface="DM Sans"/>
                <a:cs typeface="DM Sans"/>
                <a:sym typeface="DM Sans"/>
              </a:rPr>
              <a:t>Duración: 5 minutos </a:t>
            </a:r>
            <a:endParaRPr b="1" sz="2000">
              <a:solidFill>
                <a:schemeClr val="dk2"/>
              </a:solidFill>
              <a:latin typeface="DM Sans"/>
              <a:ea typeface="DM Sans"/>
              <a:cs typeface="DM Sans"/>
              <a:sym typeface="DM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4"/>
          <p:cNvSpPr txBox="1"/>
          <p:nvPr/>
        </p:nvSpPr>
        <p:spPr>
          <a:xfrm>
            <a:off x="1461300" y="1786725"/>
            <a:ext cx="6221400" cy="7389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¿Preguntas?</a:t>
            </a:r>
            <a:endParaRPr b="1" sz="4000">
              <a:solidFill>
                <a:srgbClr val="EAFF6A"/>
              </a:solidFill>
              <a:latin typeface="DM Sans"/>
              <a:ea typeface="DM Sans"/>
              <a:cs typeface="DM Sans"/>
              <a:sym typeface="DM Sans"/>
            </a:endParaRPr>
          </a:p>
        </p:txBody>
      </p:sp>
      <p:sp>
        <p:nvSpPr>
          <p:cNvPr id="402" name="Google Shape;402;p44"/>
          <p:cNvSpPr txBox="1"/>
          <p:nvPr/>
        </p:nvSpPr>
        <p:spPr>
          <a:xfrm>
            <a:off x="2998200" y="2556375"/>
            <a:ext cx="31476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000"/>
              <a:buFont typeface="Arial"/>
              <a:buNone/>
            </a:pPr>
            <a:r>
              <a:rPr lang="es" sz="2000">
                <a:solidFill>
                  <a:srgbClr val="FFFFFF"/>
                </a:solidFill>
                <a:latin typeface="DM Sans"/>
                <a:ea typeface="DM Sans"/>
                <a:cs typeface="DM Sans"/>
                <a:sym typeface="DM Sans"/>
              </a:rPr>
              <a:t>Te invitamos a dejar tu pregunta a través del chat</a:t>
            </a:r>
            <a:endParaRPr b="0" i="0" sz="2000" u="sng" cap="none" strike="noStrike">
              <a:solidFill>
                <a:srgbClr val="83AEFB"/>
              </a:solidFill>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5"/>
          <p:cNvSpPr txBox="1"/>
          <p:nvPr/>
        </p:nvSpPr>
        <p:spPr>
          <a:xfrm>
            <a:off x="1431550" y="688825"/>
            <a:ext cx="7169400" cy="6696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3500"/>
              <a:buFont typeface="Arial"/>
              <a:buNone/>
            </a:pPr>
            <a:r>
              <a:rPr b="1" lang="es" sz="3500">
                <a:solidFill>
                  <a:srgbClr val="EAFF6A"/>
                </a:solidFill>
                <a:latin typeface="DM Sans"/>
                <a:ea typeface="DM Sans"/>
                <a:cs typeface="DM Sans"/>
                <a:sym typeface="DM Sans"/>
              </a:rPr>
              <a:t>#Coderalert</a:t>
            </a:r>
            <a:endParaRPr b="1" i="0" sz="3500" u="none" cap="none" strike="noStrike">
              <a:solidFill>
                <a:srgbClr val="EAFF6A"/>
              </a:solidFill>
              <a:latin typeface="DM Sans"/>
              <a:ea typeface="DM Sans"/>
              <a:cs typeface="DM Sans"/>
              <a:sym typeface="DM Sans"/>
            </a:endParaRPr>
          </a:p>
        </p:txBody>
      </p:sp>
      <p:sp>
        <p:nvSpPr>
          <p:cNvPr id="408" name="Google Shape;408;p45"/>
          <p:cNvSpPr txBox="1"/>
          <p:nvPr/>
        </p:nvSpPr>
        <p:spPr>
          <a:xfrm>
            <a:off x="1212250" y="1490050"/>
            <a:ext cx="71694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2000"/>
              <a:buFont typeface="Arial"/>
              <a:buNone/>
            </a:pPr>
            <a:r>
              <a:rPr lang="es" sz="2500">
                <a:solidFill>
                  <a:srgbClr val="9E9E9E"/>
                </a:solidFill>
                <a:latin typeface="DM Sans"/>
                <a:ea typeface="DM Sans"/>
                <a:cs typeface="DM Sans"/>
                <a:sym typeface="DM Sans"/>
              </a:rPr>
              <a:t>Ingresa a la </a:t>
            </a:r>
            <a:r>
              <a:rPr b="1" lang="es" sz="2500" u="sng">
                <a:solidFill>
                  <a:schemeClr val="hlink"/>
                </a:solidFill>
                <a:latin typeface="DM Sans"/>
                <a:ea typeface="DM Sans"/>
                <a:cs typeface="DM Sans"/>
                <a:sym typeface="DM Sans"/>
                <a:hlinkClick r:id="rId3"/>
              </a:rPr>
              <a:t>Guía de actividades hacia el Proyecto Final</a:t>
            </a:r>
            <a:r>
              <a:rPr b="1" lang="es" sz="2500">
                <a:solidFill>
                  <a:srgbClr val="9E9E9E"/>
                </a:solidFill>
                <a:latin typeface="DM Sans"/>
                <a:ea typeface="DM Sans"/>
                <a:cs typeface="DM Sans"/>
                <a:sym typeface="DM Sans"/>
              </a:rPr>
              <a:t> </a:t>
            </a:r>
            <a:r>
              <a:rPr lang="es" sz="2500">
                <a:solidFill>
                  <a:srgbClr val="9E9E9E"/>
                </a:solidFill>
                <a:latin typeface="DM Sans"/>
                <a:ea typeface="DM Sans"/>
                <a:cs typeface="DM Sans"/>
                <a:sym typeface="DM Sans"/>
              </a:rPr>
              <a:t> y realiza la actividade “Cart Context”. </a:t>
            </a:r>
            <a:endParaRPr sz="2500">
              <a:solidFill>
                <a:srgbClr val="9E9E9E"/>
              </a:solidFill>
              <a:latin typeface="DM Sans"/>
              <a:ea typeface="DM Sans"/>
              <a:cs typeface="DM Sans"/>
              <a:sym typeface="DM Sans"/>
            </a:endParaRPr>
          </a:p>
          <a:p>
            <a:pPr indent="0" lvl="0" marL="0" rtl="0" algn="l">
              <a:spcBef>
                <a:spcPts val="0"/>
              </a:spcBef>
              <a:spcAft>
                <a:spcPts val="0"/>
              </a:spcAft>
              <a:buClr>
                <a:schemeClr val="dk1"/>
              </a:buClr>
              <a:buSzPts val="2000"/>
              <a:buFont typeface="Arial"/>
              <a:buNone/>
            </a:pPr>
            <a:r>
              <a:t/>
            </a:r>
            <a:endParaRPr sz="2500">
              <a:solidFill>
                <a:srgbClr val="9E9E9E"/>
              </a:solidFill>
              <a:latin typeface="DM Sans"/>
              <a:ea typeface="DM Sans"/>
              <a:cs typeface="DM Sans"/>
              <a:sym typeface="DM Sans"/>
            </a:endParaRPr>
          </a:p>
          <a:p>
            <a:pPr indent="0" lvl="0" marL="0" rtl="0" algn="l">
              <a:spcBef>
                <a:spcPts val="0"/>
              </a:spcBef>
              <a:spcAft>
                <a:spcPts val="0"/>
              </a:spcAft>
              <a:buClr>
                <a:schemeClr val="dk1"/>
              </a:buClr>
              <a:buSzPts val="2000"/>
              <a:buFont typeface="Arial"/>
              <a:buNone/>
            </a:pPr>
            <a:r>
              <a:rPr lang="es" sz="2500">
                <a:solidFill>
                  <a:srgbClr val="9E9E9E"/>
                </a:solidFill>
                <a:latin typeface="DM Sans"/>
                <a:ea typeface="DM Sans"/>
                <a:cs typeface="DM Sans"/>
                <a:sym typeface="DM Sans"/>
              </a:rPr>
              <a:t>Ten en cuenta que el desarrollo de la misma será importante para la resolución del Proyecto Final.</a:t>
            </a:r>
            <a:endParaRPr sz="2500">
              <a:solidFill>
                <a:srgbClr val="B7B7B7"/>
              </a:solidFill>
              <a:latin typeface="DM Sans"/>
              <a:ea typeface="DM Sans"/>
              <a:cs typeface="DM Sans"/>
              <a:sym typeface="DM Sans"/>
            </a:endParaRPr>
          </a:p>
        </p:txBody>
      </p:sp>
      <p:grpSp>
        <p:nvGrpSpPr>
          <p:cNvPr id="409" name="Google Shape;409;p45"/>
          <p:cNvGrpSpPr/>
          <p:nvPr/>
        </p:nvGrpSpPr>
        <p:grpSpPr>
          <a:xfrm>
            <a:off x="543106" y="716450"/>
            <a:ext cx="669148" cy="614370"/>
            <a:chOff x="5855025" y="2172613"/>
            <a:chExt cx="1088400" cy="1057800"/>
          </a:xfrm>
        </p:grpSpPr>
        <p:sp>
          <p:nvSpPr>
            <p:cNvPr id="410" name="Google Shape;410;p45"/>
            <p:cNvSpPr/>
            <p:nvPr/>
          </p:nvSpPr>
          <p:spPr>
            <a:xfrm>
              <a:off x="5855025" y="2172613"/>
              <a:ext cx="1088400" cy="1057800"/>
            </a:xfrm>
            <a:prstGeom prst="ellipse">
              <a:avLst/>
            </a:prstGeom>
            <a:solidFill>
              <a:srgbClr val="EEEEEE"/>
            </a:solidFill>
            <a:ln cap="flat" cmpd="sng" w="9525">
              <a:solidFill>
                <a:srgbClr val="EEEE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1" name="Google Shape;411;p45"/>
            <p:cNvPicPr preferRelativeResize="0"/>
            <p:nvPr/>
          </p:nvPicPr>
          <p:blipFill>
            <a:blip r:embed="rId4">
              <a:alphaModFix/>
            </a:blip>
            <a:stretch>
              <a:fillRect/>
            </a:stretch>
          </p:blipFill>
          <p:spPr>
            <a:xfrm>
              <a:off x="6073225" y="2327338"/>
              <a:ext cx="748350" cy="748350"/>
            </a:xfrm>
            <a:prstGeom prst="rect">
              <a:avLst/>
            </a:prstGeom>
            <a:noFill/>
            <a:ln>
              <a:noFill/>
            </a:ln>
          </p:spPr>
        </p:pic>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6"/>
          <p:cNvSpPr txBox="1"/>
          <p:nvPr/>
        </p:nvSpPr>
        <p:spPr>
          <a:xfrm>
            <a:off x="1339500" y="693075"/>
            <a:ext cx="6465000" cy="108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s" sz="4000">
                <a:solidFill>
                  <a:srgbClr val="EAFF6A"/>
                </a:solidFill>
                <a:latin typeface="DM Sans"/>
                <a:ea typeface="DM Sans"/>
                <a:cs typeface="DM Sans"/>
                <a:sym typeface="DM Sans"/>
              </a:rPr>
              <a:t>Resumen</a:t>
            </a:r>
            <a:r>
              <a:rPr b="1" lang="es" sz="4000">
                <a:solidFill>
                  <a:srgbClr val="DEFC52"/>
                </a:solidFill>
                <a:latin typeface="DM Sans"/>
                <a:ea typeface="DM Sans"/>
                <a:cs typeface="DM Sans"/>
                <a:sym typeface="DM Sans"/>
              </a:rPr>
              <a:t> </a:t>
            </a:r>
            <a:endParaRPr b="1" sz="4000">
              <a:solidFill>
                <a:srgbClr val="DEFC52"/>
              </a:solidFill>
              <a:latin typeface="DM Sans"/>
              <a:ea typeface="DM Sans"/>
              <a:cs typeface="DM Sans"/>
              <a:sym typeface="DM Sans"/>
            </a:endParaRPr>
          </a:p>
          <a:p>
            <a:pPr indent="0" lvl="0" marL="0" rtl="0" algn="ctr">
              <a:lnSpc>
                <a:spcPct val="100000"/>
              </a:lnSpc>
              <a:spcBef>
                <a:spcPts val="0"/>
              </a:spcBef>
              <a:spcAft>
                <a:spcPts val="0"/>
              </a:spcAft>
              <a:buNone/>
            </a:pPr>
            <a:r>
              <a:rPr b="1" lang="es" sz="4000">
                <a:solidFill>
                  <a:schemeClr val="lt1"/>
                </a:solidFill>
                <a:latin typeface="DM Sans"/>
                <a:ea typeface="DM Sans"/>
                <a:cs typeface="DM Sans"/>
                <a:sym typeface="DM Sans"/>
              </a:rPr>
              <a:t>de la clase hoy</a:t>
            </a:r>
            <a:endParaRPr sz="4000">
              <a:solidFill>
                <a:schemeClr val="lt1"/>
              </a:solidFill>
              <a:latin typeface="DM Sans"/>
              <a:ea typeface="DM Sans"/>
              <a:cs typeface="DM Sans"/>
              <a:sym typeface="DM Sans"/>
            </a:endParaRPr>
          </a:p>
        </p:txBody>
      </p:sp>
      <p:sp>
        <p:nvSpPr>
          <p:cNvPr id="417" name="Google Shape;417;p46"/>
          <p:cNvSpPr txBox="1"/>
          <p:nvPr/>
        </p:nvSpPr>
        <p:spPr>
          <a:xfrm>
            <a:off x="2109143" y="2325013"/>
            <a:ext cx="4925700" cy="1736700"/>
          </a:xfrm>
          <a:prstGeom prst="rect">
            <a:avLst/>
          </a:prstGeom>
          <a:noFill/>
          <a:ln>
            <a:noFill/>
          </a:ln>
        </p:spPr>
        <p:txBody>
          <a:bodyPr anchorCtr="0" anchor="t" bIns="91425" lIns="91425" spcFirstLastPara="1" rIns="91425" wrap="square" tIns="91425">
            <a:spAutoFit/>
          </a:bodyPr>
          <a:lstStyle/>
          <a:p>
            <a:pPr indent="-314325" lvl="0" marL="457200" rtl="0" algn="l">
              <a:spcBef>
                <a:spcPts val="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Eventos aplicativos persistentes</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Context</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CustomProviders</a:t>
            </a:r>
            <a:endParaRPr sz="1350">
              <a:solidFill>
                <a:schemeClr val="lt1"/>
              </a:solidFill>
              <a:latin typeface="DM Sans"/>
              <a:ea typeface="DM Sans"/>
              <a:cs typeface="DM Sans"/>
              <a:sym typeface="DM Sans"/>
            </a:endParaRPr>
          </a:p>
          <a:p>
            <a:pPr indent="-314325" lvl="0" marL="457200" rtl="0" algn="l">
              <a:spcBef>
                <a:spcPts val="1000"/>
              </a:spcBef>
              <a:spcAft>
                <a:spcPts val="0"/>
              </a:spcAft>
              <a:buClr>
                <a:schemeClr val="accent6"/>
              </a:buClr>
              <a:buSzPts val="1350"/>
              <a:buFont typeface="DM Sans"/>
              <a:buChar char="✓"/>
            </a:pPr>
            <a:r>
              <a:rPr lang="es" sz="1350">
                <a:solidFill>
                  <a:schemeClr val="lt1"/>
                </a:solidFill>
                <a:latin typeface="DM Sans"/>
                <a:ea typeface="DM Sans"/>
                <a:cs typeface="DM Sans"/>
                <a:sym typeface="DM Sans"/>
              </a:rPr>
              <a:t>Rendering condicional</a:t>
            </a:r>
            <a:endParaRPr sz="1350">
              <a:solidFill>
                <a:schemeClr val="lt1"/>
              </a:solidFill>
              <a:latin typeface="DM Sans"/>
              <a:ea typeface="DM Sans"/>
              <a:cs typeface="DM Sans"/>
              <a:sym typeface="DM Sans"/>
            </a:endParaRPr>
          </a:p>
          <a:p>
            <a:pPr indent="-314325" lvl="0" marL="457200" rtl="0" algn="l">
              <a:spcBef>
                <a:spcPts val="1000"/>
              </a:spcBef>
              <a:spcAft>
                <a:spcPts val="1000"/>
              </a:spcAft>
              <a:buClr>
                <a:schemeClr val="accent6"/>
              </a:buClr>
              <a:buSzPts val="1350"/>
              <a:buFont typeface="DM Sans"/>
              <a:buChar char="✓"/>
            </a:pPr>
            <a:r>
              <a:rPr lang="es" sz="1350">
                <a:solidFill>
                  <a:schemeClr val="lt1"/>
                </a:solidFill>
                <a:latin typeface="DM Sans"/>
                <a:ea typeface="DM Sans"/>
                <a:cs typeface="DM Sans"/>
                <a:sym typeface="DM Sans"/>
              </a:rPr>
              <a:t>Memoization</a:t>
            </a:r>
            <a:endParaRPr sz="1350">
              <a:solidFill>
                <a:schemeClr val="lt1"/>
              </a:solidFill>
              <a:latin typeface="DM Sans"/>
              <a:ea typeface="DM Sans"/>
              <a:cs typeface="DM Sans"/>
              <a:sym typeface="DM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7"/>
          <p:cNvSpPr txBox="1"/>
          <p:nvPr/>
        </p:nvSpPr>
        <p:spPr>
          <a:xfrm>
            <a:off x="1461300" y="1925250"/>
            <a:ext cx="6221400" cy="1293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s" sz="4000">
                <a:solidFill>
                  <a:srgbClr val="EAFF6A"/>
                </a:solidFill>
                <a:latin typeface="DM Sans"/>
                <a:ea typeface="DM Sans"/>
                <a:cs typeface="DM Sans"/>
                <a:sym typeface="DM Sans"/>
              </a:rPr>
              <a:t>Opina y valora</a:t>
            </a:r>
            <a:r>
              <a:rPr b="1" lang="es" sz="4000">
                <a:solidFill>
                  <a:srgbClr val="DEFC52"/>
                </a:solidFill>
                <a:latin typeface="DM Sans"/>
                <a:ea typeface="DM Sans"/>
                <a:cs typeface="DM Sans"/>
                <a:sym typeface="DM Sans"/>
              </a:rPr>
              <a:t> </a:t>
            </a:r>
            <a:endParaRPr b="1" sz="4000">
              <a:solidFill>
                <a:srgbClr val="DEFC52"/>
              </a:solidFill>
              <a:latin typeface="DM Sans"/>
              <a:ea typeface="DM Sans"/>
              <a:cs typeface="DM Sans"/>
              <a:sym typeface="DM Sans"/>
            </a:endParaRPr>
          </a:p>
          <a:p>
            <a:pPr indent="0" lvl="0" marL="0" rtl="0" algn="ctr">
              <a:lnSpc>
                <a:spcPct val="90000"/>
              </a:lnSpc>
              <a:spcBef>
                <a:spcPts val="0"/>
              </a:spcBef>
              <a:spcAft>
                <a:spcPts val="0"/>
              </a:spcAft>
              <a:buNone/>
            </a:pPr>
            <a:r>
              <a:rPr b="1" lang="es" sz="4000">
                <a:solidFill>
                  <a:schemeClr val="lt1"/>
                </a:solidFill>
                <a:latin typeface="DM Sans"/>
                <a:ea typeface="DM Sans"/>
                <a:cs typeface="DM Sans"/>
                <a:sym typeface="DM Sans"/>
              </a:rPr>
              <a:t>esta clase</a:t>
            </a:r>
            <a:endParaRPr b="1" sz="4000">
              <a:solidFill>
                <a:schemeClr val="lt1"/>
              </a:solidFill>
              <a:latin typeface="DM Sans"/>
              <a:ea typeface="DM Sans"/>
              <a:cs typeface="DM Sans"/>
              <a:sym typeface="DM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8"/>
          <p:cNvSpPr txBox="1"/>
          <p:nvPr/>
        </p:nvSpPr>
        <p:spPr>
          <a:xfrm>
            <a:off x="2382900" y="2171550"/>
            <a:ext cx="43782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4000">
                <a:solidFill>
                  <a:srgbClr val="FFFFFF"/>
                </a:solidFill>
                <a:latin typeface="DM Sans"/>
                <a:ea typeface="DM Sans"/>
                <a:cs typeface="DM Sans"/>
                <a:sym typeface="DM Sans"/>
              </a:rPr>
              <a:t>Muchas gracias</a:t>
            </a:r>
            <a:r>
              <a:rPr b="1" lang="es" sz="4000">
                <a:solidFill>
                  <a:srgbClr val="EAFF6A"/>
                </a:solidFill>
                <a:latin typeface="DM Sans"/>
                <a:ea typeface="DM Sans"/>
                <a:cs typeface="DM Sans"/>
                <a:sym typeface="DM Sans"/>
              </a:rPr>
              <a:t>.</a:t>
            </a:r>
            <a:endParaRPr sz="4000">
              <a:solidFill>
                <a:srgbClr val="EAFF6A"/>
              </a:solidFill>
              <a:latin typeface="DM Sans"/>
              <a:ea typeface="DM Sans"/>
              <a:cs typeface="DM Sans"/>
              <a:sym typeface="DM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9"/>
          <p:cNvSpPr txBox="1"/>
          <p:nvPr/>
        </p:nvSpPr>
        <p:spPr>
          <a:xfrm>
            <a:off x="2033850" y="1863750"/>
            <a:ext cx="50763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4000">
                <a:solidFill>
                  <a:srgbClr val="FFFFFF"/>
                </a:solidFill>
                <a:latin typeface="DM Sans"/>
                <a:ea typeface="DM Sans"/>
                <a:cs typeface="DM Sans"/>
                <a:sym typeface="DM Sans"/>
              </a:rPr>
              <a:t>Educación digital</a:t>
            </a:r>
            <a:endParaRPr b="1" sz="4000">
              <a:solidFill>
                <a:srgbClr val="FFFFFF"/>
              </a:solidFill>
              <a:latin typeface="DM Sans"/>
              <a:ea typeface="DM Sans"/>
              <a:cs typeface="DM Sans"/>
              <a:sym typeface="DM Sans"/>
            </a:endParaRPr>
          </a:p>
          <a:p>
            <a:pPr indent="0" lvl="0" marL="0" rtl="0" algn="ctr">
              <a:spcBef>
                <a:spcPts val="0"/>
              </a:spcBef>
              <a:spcAft>
                <a:spcPts val="0"/>
              </a:spcAft>
              <a:buNone/>
            </a:pPr>
            <a:r>
              <a:rPr b="1" lang="es" sz="4000">
                <a:solidFill>
                  <a:srgbClr val="EAFF6A"/>
                </a:solidFill>
                <a:latin typeface="DM Sans"/>
                <a:ea typeface="DM Sans"/>
                <a:cs typeface="DM Sans"/>
                <a:sym typeface="DM Sans"/>
              </a:rPr>
              <a:t>para el mundo real</a:t>
            </a:r>
            <a:r>
              <a:rPr b="1" lang="es" sz="4000">
                <a:solidFill>
                  <a:srgbClr val="FFFFFF"/>
                </a:solidFill>
                <a:latin typeface="DM Sans"/>
                <a:ea typeface="DM Sans"/>
                <a:cs typeface="DM Sans"/>
                <a:sym typeface="DM Sans"/>
              </a:rPr>
              <a:t>.</a:t>
            </a:r>
            <a:endParaRPr b="1" sz="4000">
              <a:solidFill>
                <a:srgbClr val="FFFFFF"/>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