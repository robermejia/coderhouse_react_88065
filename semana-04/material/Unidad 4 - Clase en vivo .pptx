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Helvetica Neue"/>
      <p:regular r:id="rId44"/>
      <p:bold r:id="rId45"/>
      <p:italic r:id="rId46"/>
      <p:boldItalic r:id="rId47"/>
    </p:embeddedFont>
    <p:embeddedFont>
      <p:font typeface="Helvetica Neue Light"/>
      <p:regular r:id="rId48"/>
      <p:bold r:id="rId49"/>
      <p:italic r:id="rId50"/>
      <p:boldItalic r:id="rId51"/>
    </p:embeddedFont>
    <p:embeddedFont>
      <p:font typeface="DM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32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HelveticaNeue-regular.fntdata"/><Relationship Id="rId43" Type="http://schemas.openxmlformats.org/officeDocument/2006/relationships/slide" Target="slides/slide38.xml"/><Relationship Id="rId46" Type="http://schemas.openxmlformats.org/officeDocument/2006/relationships/font" Target="fonts/HelveticaNeue-italic.fntdata"/><Relationship Id="rId45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Light-regular.fntdata"/><Relationship Id="rId47" Type="http://schemas.openxmlformats.org/officeDocument/2006/relationships/font" Target="fonts/HelveticaNeue-boldItalic.fntdata"/><Relationship Id="rId49" Type="http://schemas.openxmlformats.org/officeDocument/2006/relationships/font" Target="fonts/HelveticaNeue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Light-boldItalic.fntdata"/><Relationship Id="rId50" Type="http://schemas.openxmlformats.org/officeDocument/2006/relationships/font" Target="fonts/HelveticaNeueLight-italic.fntdata"/><Relationship Id="rId53" Type="http://schemas.openxmlformats.org/officeDocument/2006/relationships/font" Target="fonts/DMSans-bold.fntdata"/><Relationship Id="rId52" Type="http://schemas.openxmlformats.org/officeDocument/2006/relationships/font" Target="fonts/DMSans-regular.fntdata"/><Relationship Id="rId11" Type="http://schemas.openxmlformats.org/officeDocument/2006/relationships/slide" Target="slides/slide6.xml"/><Relationship Id="rId55" Type="http://schemas.openxmlformats.org/officeDocument/2006/relationships/font" Target="fonts/DMSans-boldItalic.fntdata"/><Relationship Id="rId10" Type="http://schemas.openxmlformats.org/officeDocument/2006/relationships/slide" Target="slides/slide5.xml"/><Relationship Id="rId54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1635c457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21635c457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55a413f5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155a413f5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d8ab2ab7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d8ab2ab7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Redactar los objetivos en función de los conocimientos y habilidades a desarrollar en la clase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3250eb3e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3250eb3e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53250eb3e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53250eb3e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3250eb3e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53250eb3e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52ba13cb3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52ba13cb3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af370c4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5af370c4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2ba13cb37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2ba13cb37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123bcf16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1123bcf1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52ba13cb37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52ba13cb3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2ba13cb37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52ba13cb37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52ba13cb37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52ba13cb37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52ba13cb37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52ba13cb37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32aada7ff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32aada7ff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9fa3053d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59fa3053d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54fd9d46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54fd9d46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532aada7ff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532aada7ff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4fd9d46e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54fd9d46e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532aada7ff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532aada7ff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2ba13cb37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52ba13cb3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32aada7ff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532aada7ff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54fd9d46e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54fd9d46e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52ba13cb37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52ba13cb37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completo para profesor: https://stackblitz.com/edit/stackblitz-starters-cusq3i?file=src%2Fstyle.css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2ba13cb37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52ba13cb37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59fa3053d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59fa3053d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59fa3053d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59fa3053d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532aada7ff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532aada7ff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532aada7ff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532aada7ff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PARA PROFES/TUTORES: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esta actividad deben retomar lo trabajado en la actividad extra Clase 6 - actividad 2 de la guía de ejercicios complementarios para poder hacerlo en el tiempo establecido. No hacerlo desde cero.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532d6354c3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532d6354c3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3ad191e9b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3ad191e9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(Probar si se puede hacer con Kahoot y de lo contrario que hagan preguntas activando micrófono o por chat).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5aef3cde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25aef3cde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chemeClr val="dk1"/>
                </a:solidFill>
                <a:highlight>
                  <a:srgbClr val="E0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Para profes/tutores:</a:t>
            </a:r>
            <a:r>
              <a:rPr lang="es"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 bien las actividades recomendadas no son obligatorias ni reciben corrección, corresponden a ejercicios que aportan a la construcción de las pre entregas y Proyecto Final. En caso de que den los tiempos, les sugerimos que ingresen a la Guía y lean en conjunto las consignas.</a:t>
            </a:r>
            <a:endParaRPr sz="12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1635c457e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1635c457e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3bbc910f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3bbc910f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3bbc910f2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3bbc910f2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3bbc910f2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3bbc910f2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3bbc910f2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3bbc910f2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634e0db6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634e0db6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SECTION_HEADER_1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 1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" name="Google Shape;39;p1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hyperlink" Target="https://restcountries.com/" TargetMode="External"/><Relationship Id="rId6" Type="http://schemas.openxmlformats.org/officeDocument/2006/relationships/hyperlink" Target="http://drive.google.com/file/d/1HdcLqZ10aF-00rqSyG55Txq-r-50KD-1/view" TargetMode="External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hyperlink" Target="https://stackblitz.com/" TargetMode="External"/><Relationship Id="rId6" Type="http://schemas.openxmlformats.org/officeDocument/2006/relationships/hyperlink" Target="https://api.mercadolibre.com/sites/MLA/search" TargetMode="External"/><Relationship Id="rId7" Type="http://schemas.openxmlformats.org/officeDocument/2006/relationships/hyperlink" Target="https://pokeapi.co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stackblitz.com/edit/stackblitz-starters-skuyhx?file=src%2FApp.js" TargetMode="External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hyperlink" Target="https://stackblitz.com/edit/stackblitz-starters-immtib?file=src%2FasyncMock.js" TargetMode="External"/><Relationship Id="rId6" Type="http://schemas.openxmlformats.org/officeDocument/2006/relationships/image" Target="../media/image35.png"/><Relationship Id="rId7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ocs.google.com/presentation/d/1m0Pxdo6tR3VQeOwms0SIpvoQ_3HPwGyT/edit?usp=drive_link&amp;ouid=105756276059427898200&amp;rtpof=true&amp;sd=true" TargetMode="External"/><Relationship Id="rId4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5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" name="Google Shape;46;p15"/>
          <p:cNvSpPr txBox="1"/>
          <p:nvPr/>
        </p:nvSpPr>
        <p:spPr>
          <a:xfrm>
            <a:off x="3655975" y="2541075"/>
            <a:ext cx="240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" name="Google Shape;47;p15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" name="Google Shape;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/>
        </p:nvSpPr>
        <p:spPr>
          <a:xfrm>
            <a:off x="1245625" y="1600575"/>
            <a:ext cx="677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Intercambio de Datos y Requests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" name="Google Shape;54;p16"/>
          <p:cNvSpPr txBox="1"/>
          <p:nvPr/>
        </p:nvSpPr>
        <p:spPr>
          <a:xfrm>
            <a:off x="1521475" y="1138875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4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REACT JS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" name="Google Shape;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275" y="3142169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3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1" name="Google Shape;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438" y="15453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7"/>
          <p:cNvSpPr txBox="1"/>
          <p:nvPr/>
        </p:nvSpPr>
        <p:spPr>
          <a:xfrm>
            <a:off x="2690561" y="1451613"/>
            <a:ext cx="4281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Identificar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distintos paradigmas de intercambio de datos.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3" name="Google Shape;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1787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7"/>
          <p:cNvSpPr txBox="1"/>
          <p:nvPr/>
        </p:nvSpPr>
        <p:spPr>
          <a:xfrm>
            <a:off x="2690561" y="205473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Consumir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recursos vía llamados a API’s.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5" name="Google Shape;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83268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/>
        </p:nvSpPr>
        <p:spPr>
          <a:xfrm>
            <a:off x="2690561" y="2734963"/>
            <a:ext cx="4281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Profundizar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los conocimientos sobre hooks y children.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7" name="Google Shape;6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352333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/>
        </p:nvSpPr>
        <p:spPr>
          <a:xfrm>
            <a:off x="2690550" y="341518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distintos patrones de reutilización.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9" name="Google Shape;69;p17"/>
          <p:cNvCxnSpPr>
            <a:stCxn id="61" idx="2"/>
            <a:endCxn id="63" idx="0"/>
          </p:cNvCxnSpPr>
          <p:nvPr/>
        </p:nvCxnSpPr>
        <p:spPr>
          <a:xfrm flipH="1" rot="-5400000">
            <a:off x="2052975" y="1960237"/>
            <a:ext cx="4365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7"/>
          <p:cNvCxnSpPr>
            <a:stCxn id="63" idx="2"/>
            <a:endCxn id="65" idx="0"/>
          </p:cNvCxnSpPr>
          <p:nvPr/>
        </p:nvCxnSpPr>
        <p:spPr>
          <a:xfrm flipH="1" rot="-5400000">
            <a:off x="2042475" y="2603837"/>
            <a:ext cx="4569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7"/>
          <p:cNvCxnSpPr>
            <a:stCxn id="65" idx="2"/>
            <a:endCxn id="67" idx="0"/>
          </p:cNvCxnSpPr>
          <p:nvPr/>
        </p:nvCxnSpPr>
        <p:spPr>
          <a:xfrm flipH="1" rot="-5400000">
            <a:off x="2024025" y="3276262"/>
            <a:ext cx="4938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/>
        </p:nvSpPr>
        <p:spPr>
          <a:xfrm>
            <a:off x="475500" y="2515575"/>
            <a:ext cx="50886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Aprendimos sobre algunos paradigmas de </a:t>
            </a: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comunicación 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en la web: Modelo cliente-servidor, Push y Polling. En todos ellos hay dos protagonistas, un </a:t>
            </a: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Cliente (consumidor) y un Servidor (proveedor) 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que intercambian información a través del protocolo HTTP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" name="Google Shape;77;p18"/>
          <p:cNvSpPr txBox="1"/>
          <p:nvPr/>
        </p:nvSpPr>
        <p:spPr>
          <a:xfrm>
            <a:off x="475500" y="971050"/>
            <a:ext cx="484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Paradigmas de comunicación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8" name="Google Shape;7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Protocolo HTTP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/>
        </p:nvSpPr>
        <p:spPr>
          <a:xfrm>
            <a:off x="475500" y="2515575"/>
            <a:ext cx="50886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El protocolo HTTP nos permite transmitir información entre un cliente y un servidor. En un flujo de comunicación tradicional, un Cliente realiza una </a:t>
            </a: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Solicitud 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y recibe una </a:t>
            </a: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Respuesta 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de parte del Servidor. Una Request http se conforma por una URL, Verbo o método, Parámetros (vía query o segments), Headers (encabezados) y Body (contenido en un POST).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8" name="Google Shape;8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475500" y="2515575"/>
            <a:ext cx="50886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Profundizamos en la comunicación HTTP y hablamos sobre </a:t>
            </a:r>
            <a:r>
              <a:rPr b="1"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APIs </a:t>
            </a: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una interfaz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 simple de utilizar para 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comunicar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 servicios o aplicaciones. </a:t>
            </a:r>
            <a:br>
              <a:rPr lang="es" sz="1500">
                <a:latin typeface="DM Sans"/>
                <a:ea typeface="DM Sans"/>
                <a:cs typeface="DM Sans"/>
                <a:sym typeface="DM Sans"/>
              </a:rPr>
            </a:b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Fetch 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es un </a:t>
            </a: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API interna de JS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i="1" lang="es" sz="1500">
                <a:latin typeface="DM Sans"/>
                <a:ea typeface="DM Sans"/>
                <a:cs typeface="DM Sans"/>
                <a:sym typeface="DM Sans"/>
              </a:rPr>
              <a:t>no confundir con APIs web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) que nos permite hacer peticiones y recursos remotos, y recibir de forma asíncrona la respuesta con la respuesta del servidor.</a:t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Protocolo HTTP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1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05" name="Google Shape;105;p21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6" name="Google Shape;106;p21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" name="Google Shape;107;p21"/>
          <p:cNvSpPr txBox="1"/>
          <p:nvPr/>
        </p:nvSpPr>
        <p:spPr>
          <a:xfrm>
            <a:off x="1547025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Comunicándonos con APIs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0" name="Google Shape;110;p21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11" name="Google Shape;111;p21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" name="Google Shape;112;p21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/>
          <p:nvPr/>
        </p:nvSpPr>
        <p:spPr>
          <a:xfrm>
            <a:off x="475500" y="1694775"/>
            <a:ext cx="3845400" cy="21597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469200" y="1077850"/>
            <a:ext cx="7353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Comunicándonos con APIs</a:t>
            </a:r>
            <a:endParaRPr b="1"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675350" y="1839250"/>
            <a:ext cx="38454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Consigna</a:t>
            </a:r>
            <a:b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4412575" y="1694775"/>
            <a:ext cx="4255800" cy="21396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4685290" y="1839250"/>
            <a:ext cx="3873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Tips</a:t>
            </a:r>
            <a:endParaRPr sz="1200" u="sng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466723" y="2149850"/>
            <a:ext cx="4035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✓"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Accediendo al endpoint “/name/{name}” podrás obtener información de un país 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✓"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Puedes solicitar el listado de todos los países y buscar el acrónimo de tu país.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✓"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Puedes hacerlo en un code sandbox online, en tu entorno de React o incluso desde la consola de tu navegador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4" name="Google Shape;124;p2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25" name="Google Shape;125;p2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7" name="Google Shape;127;p22"/>
          <p:cNvGrpSpPr/>
          <p:nvPr/>
        </p:nvGrpSpPr>
        <p:grpSpPr>
          <a:xfrm>
            <a:off x="475509" y="435709"/>
            <a:ext cx="431100" cy="431100"/>
            <a:chOff x="475509" y="435709"/>
            <a:chExt cx="431100" cy="431100"/>
          </a:xfrm>
        </p:grpSpPr>
        <p:sp>
          <p:nvSpPr>
            <p:cNvPr id="128" name="Google Shape;128;p22"/>
            <p:cNvSpPr/>
            <p:nvPr/>
          </p:nvSpPr>
          <p:spPr>
            <a:xfrm>
              <a:off x="475509" y="435709"/>
              <a:ext cx="431100" cy="431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129" name="Google Shape;129;p22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9150" y="499350"/>
              <a:ext cx="303800" cy="303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22"/>
          <p:cNvSpPr txBox="1"/>
          <p:nvPr/>
        </p:nvSpPr>
        <p:spPr>
          <a:xfrm>
            <a:off x="675350" y="2160025"/>
            <a:ext cx="367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Lee la documentación de la API </a:t>
            </a:r>
            <a:r>
              <a:rPr b="1" lang="es" sz="1200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Rest Countries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 el método </a:t>
            </a:r>
            <a:r>
              <a:rPr b="1"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fetch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comunicarte con la API y recibir los datos de tu país.</a:t>
            </a:r>
            <a:r>
              <a:rPr b="1"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 luego el método </a:t>
            </a:r>
            <a:r>
              <a:rPr b="1"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.then()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recibir la respuesta, extrae los datos con el método </a:t>
            </a:r>
            <a:r>
              <a:rPr b="1"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.json()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muestra el resultado en la consola. 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1" name="Google Shape;131;p22" title="MD 0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97625" y="847450"/>
            <a:ext cx="707050" cy="7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 - MICRODESAFÍO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3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138" name="Google Shape;138;p23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23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141" name="Google Shape;141;p23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3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3" name="Google Shape;143;p23"/>
          <p:cNvCxnSpPr>
            <a:endCxn id="141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2690573" y="17314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Exploramos los diferentes </a:t>
            </a:r>
            <a:r>
              <a:rPr i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endpoints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la API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2690575" y="2334550"/>
            <a:ext cx="531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Hacemos una request utilizando Fetch a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restcountries.com/v3.1/name/{pais}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7" name="Google Shape;147;p23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148" name="Google Shape;148;p23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0" name="Google Shape;150;p23"/>
          <p:cNvCxnSpPr>
            <a:endCxn id="148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3"/>
          <p:cNvCxnSpPr>
            <a:endCxn id="152" idx="0"/>
          </p:cNvCxnSpPr>
          <p:nvPr/>
        </p:nvCxnSpPr>
        <p:spPr>
          <a:xfrm>
            <a:off x="2270650" y="32767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3"/>
          <p:cNvSpPr txBox="1"/>
          <p:nvPr/>
        </p:nvSpPr>
        <p:spPr>
          <a:xfrm>
            <a:off x="2690573" y="2984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Recibimos la respuesta de la Promise con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.then()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extraemos los datos con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.json()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4" name="Google Shape;154;p23"/>
          <p:cNvGrpSpPr/>
          <p:nvPr/>
        </p:nvGrpSpPr>
        <p:grpSpPr>
          <a:xfrm>
            <a:off x="2172100" y="3682650"/>
            <a:ext cx="197100" cy="197100"/>
            <a:chOff x="2172088" y="3661775"/>
            <a:chExt cx="197100" cy="197100"/>
          </a:xfrm>
        </p:grpSpPr>
        <p:sp>
          <p:nvSpPr>
            <p:cNvPr id="152" name="Google Shape;152;p23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3"/>
          <p:cNvSpPr txBox="1"/>
          <p:nvPr/>
        </p:nvSpPr>
        <p:spPr>
          <a:xfrm>
            <a:off x="2690586" y="358498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Mostramos el resultado en la consola.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075" y="447125"/>
            <a:ext cx="6113849" cy="42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>
            <a:off x="1905000" y="2202300"/>
            <a:ext cx="537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¡Buen trabajo!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😎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26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172" name="Google Shape;172;p2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3" name="Google Shape;173;p26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26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FETCH API-CALL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1064900" y="2947513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7" name="Google Shape;177;p2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78" name="Google Shape;178;p2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27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185" name="Google Shape;185;p2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6" name="Google Shape;186;p27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27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FETCH</a:t>
            </a: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API-CALL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 txBox="1"/>
          <p:nvPr/>
        </p:nvSpPr>
        <p:spPr>
          <a:xfrm>
            <a:off x="501450" y="2003025"/>
            <a:ext cx="69870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en </a:t>
            </a:r>
            <a:r>
              <a:rPr lang="es" sz="1350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Stackblitz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una app de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React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 al iniciar (utilizando un mount effect) utilice Fetch API para solicitar un listado de productos consumidos de la API de </a:t>
            </a:r>
            <a:r>
              <a:rPr lang="es" sz="1350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Mercadolibre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o Pokémons de la </a:t>
            </a:r>
            <a:r>
              <a:rPr lang="es" sz="1350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Poké API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Guarda los datos recibidos en un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estado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renderizar una lista utilizando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Map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mostrar los nombres de los primeros diez (¡si quieres mapear más datos hazlo!)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28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198" name="Google Shape;198;p2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9" name="Google Shape;199;p28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0" name="Google Shape;200;p28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 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/>
        </p:nvSpPr>
        <p:spPr>
          <a:xfrm>
            <a:off x="1404863" y="1941375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Patrones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/>
        </p:nvSpPr>
        <p:spPr>
          <a:xfrm>
            <a:off x="685625" y="1638450"/>
            <a:ext cx="71694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Hay formas de crear componentes que nos ayudan a reutilizar y mantener código.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Dos de ellas son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High Order Components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(HOC) y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Render Props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Ambas son técnicas avanzadas.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Veamos de qué se trata cada una. 🤓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1447300" y="537575"/>
            <a:ext cx="716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Patrones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3" name="Google Shape;213;p30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14" name="Google Shape;214;p30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5" name="Google Shape;215;p30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" name="Google Shape;216;p3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17" name="Google Shape;217;p3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/>
        </p:nvSpPr>
        <p:spPr>
          <a:xfrm>
            <a:off x="1404863" y="1941375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HOC:</a:t>
            </a: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 Higher Order Components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275" y="2613200"/>
            <a:ext cx="5752424" cy="2381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2"/>
          <p:cNvSpPr txBox="1"/>
          <p:nvPr/>
        </p:nvSpPr>
        <p:spPr>
          <a:xfrm>
            <a:off x="621675" y="1471200"/>
            <a:ext cx="71694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Este patrón permite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reutilizar una funcionalidad común entre componentes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Lo utilizamos como una función que toma un componente como argumento y devuelve un nuevo componente con una funcionalidad adicional.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ejemplo simple de High Order Component podría ser uno que agregue la funcionalidad de validación de formularios a cualquier formulario que lo necesite.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32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Higher Order Components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1" name="Google Shape;231;p32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32" name="Google Shape;232;p3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3" name="Google Shape;233;p32" title="ícono de ejemplo en vivo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3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35" name="Google Shape;235;p3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475500" y="1474850"/>
            <a:ext cx="7169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Creamos un HOC mediante una función </a:t>
            </a:r>
            <a:r>
              <a:rPr b="1" lang="es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withLogging, </a:t>
            </a:r>
            <a:r>
              <a:rPr lang="es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que toma un componente como parámetro. Esta función contendrá un componente </a:t>
            </a:r>
            <a:r>
              <a:rPr b="1" lang="es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ComponentWithLogging</a:t>
            </a:r>
            <a:r>
              <a:rPr lang="es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. Renderizamos el componente recibido como parametro dentro de ComponentWithLogging, e implementamos un efecto que muestre un mensaje por consola en el montaje del componente.</a:t>
            </a:r>
            <a:endParaRPr b="1"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3" name="Google Shape;243;p33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44" name="Google Shape;244;p33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5" name="Google Shape;245;p33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" name="Google Shape;246;p33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7" name="Google Shape;247;p3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48" name="Google Shape;248;p3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9" name="Google Shape;249;p3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34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255" name="Google Shape;255;p34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4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" name="Google Shape;257;p34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258" name="Google Shape;258;p34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4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0" name="Google Shape;260;p34"/>
          <p:cNvCxnSpPr>
            <a:endCxn id="258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3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2690575" y="1731425"/>
            <a:ext cx="470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una función</a:t>
            </a:r>
            <a:r>
              <a:rPr b="1"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withLogging </a:t>
            </a: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 toma un componente como parámetro.</a:t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34"/>
          <p:cNvSpPr txBox="1"/>
          <p:nvPr/>
        </p:nvSpPr>
        <p:spPr>
          <a:xfrm>
            <a:off x="2690575" y="2334550"/>
            <a:ext cx="470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Dentro de withLogging, define un componente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ComponentWithLogging 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4" name="Google Shape;264;p34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265" name="Google Shape;265;p34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4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7" name="Google Shape;267;p34"/>
          <p:cNvCxnSpPr>
            <a:endCxn id="265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8" name="Google Shape;268;p34"/>
          <p:cNvGrpSpPr/>
          <p:nvPr/>
        </p:nvGrpSpPr>
        <p:grpSpPr>
          <a:xfrm>
            <a:off x="2172088" y="3685475"/>
            <a:ext cx="197100" cy="197100"/>
            <a:chOff x="2172088" y="3661775"/>
            <a:chExt cx="197100" cy="197100"/>
          </a:xfrm>
        </p:grpSpPr>
        <p:sp>
          <p:nvSpPr>
            <p:cNvPr id="269" name="Google Shape;269;p34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71" name="Google Shape;271;p34"/>
          <p:cNvCxnSpPr>
            <a:endCxn id="269" idx="0"/>
          </p:cNvCxnSpPr>
          <p:nvPr/>
        </p:nvCxnSpPr>
        <p:spPr>
          <a:xfrm>
            <a:off x="2270638" y="3279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34"/>
          <p:cNvSpPr txBox="1"/>
          <p:nvPr/>
        </p:nvSpPr>
        <p:spPr>
          <a:xfrm>
            <a:off x="2690575" y="2984700"/>
            <a:ext cx="470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el componente, utiliza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useEffect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crear un efecto de montaje que imprima un mensaje en la consola.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34"/>
          <p:cNvSpPr txBox="1"/>
          <p:nvPr/>
        </p:nvSpPr>
        <p:spPr>
          <a:xfrm>
            <a:off x="2690575" y="3587825"/>
            <a:ext cx="470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Renderiza el componente recibido como parámetro dentro de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ComponentWithLogging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E8E7E3"/>
                </a:solidFill>
              </a:rPr>
              <a:t>☕</a:t>
            </a:r>
            <a:endParaRPr sz="5000">
              <a:solidFill>
                <a:srgbClr val="E8E7E3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9" name="Google Shape;279;p35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5/10 minutos volvemos!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/>
        </p:nvSpPr>
        <p:spPr>
          <a:xfrm>
            <a:off x="1404863" y="19413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Render props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/>
        </p:nvSpPr>
        <p:spPr>
          <a:xfrm>
            <a:off x="475500" y="1474850"/>
            <a:ext cx="7504500" cy="41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Este patrón implica pasar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función como una prop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al componente hijo con el propósito de permitir al componente hijo renderizar su contenido a través de la función.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otras palabras, un componente padre puede pasar una función como prop al componente hijo y el componente hijo puede llamar a esa función en su renderizado para obtener información o funcionalidad específica que necesita.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patrón de diseño Render Props puede ser útil en situaciones donde quieres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 componente reutilizable que puede ser personalizado con diferentes funciones o comportamientos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según las necesidades del usuario.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También es una alternativa al patrón de diseño HOC (Higher Order Component), que puede ser más complicado de entender y utilizar.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0" name="Google Shape;290;p37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Render Props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1" name="Google Shape;291;p37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92" name="Google Shape;292;p3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3" name="Google Shape;293;p37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3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95" name="Google Shape;295;p3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6" name="Google Shape;296;p3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475500" y="1474850"/>
            <a:ext cx="71694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Componenente Filter.</a:t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Crearemos un componente Filter que nos ayude a renderizar un listado de tareas utilizando el patrón Render Props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Código inicial</a:t>
            </a:r>
            <a:endParaRPr sz="2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03" name="Google Shape;303;p38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304" name="Google Shape;304;p3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5" name="Google Shape;305;p38" title="ícono de ejemplo en vivo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6" name="Google Shape;306;p38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07" name="Google Shape;307;p3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08" name="Google Shape;308;p3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9" name="Google Shape;309;p3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9"/>
          <p:cNvGrpSpPr/>
          <p:nvPr/>
        </p:nvGrpSpPr>
        <p:grpSpPr>
          <a:xfrm>
            <a:off x="2095888" y="1928850"/>
            <a:ext cx="197100" cy="197100"/>
            <a:chOff x="2172088" y="1852650"/>
            <a:chExt cx="197100" cy="197100"/>
          </a:xfrm>
        </p:grpSpPr>
        <p:sp>
          <p:nvSpPr>
            <p:cNvPr id="315" name="Google Shape;315;p39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9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" name="Google Shape;317;p39"/>
          <p:cNvGrpSpPr/>
          <p:nvPr/>
        </p:nvGrpSpPr>
        <p:grpSpPr>
          <a:xfrm>
            <a:off x="2095888" y="2531975"/>
            <a:ext cx="197100" cy="197100"/>
            <a:chOff x="2172088" y="2455775"/>
            <a:chExt cx="197100" cy="197100"/>
          </a:xfrm>
        </p:grpSpPr>
        <p:sp>
          <p:nvSpPr>
            <p:cNvPr id="318" name="Google Shape;318;p39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9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20" name="Google Shape;320;p39"/>
          <p:cNvCxnSpPr>
            <a:endCxn id="318" idx="0"/>
          </p:cNvCxnSpPr>
          <p:nvPr/>
        </p:nvCxnSpPr>
        <p:spPr>
          <a:xfrm>
            <a:off x="2194438" y="21260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3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2614373" y="18076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componente Filter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manejar el estado de tareas filtradas.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2614375" y="2410750"/>
            <a:ext cx="472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Este componente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retorna los childrens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llamados como función, enviando el estado y handler como parámetros.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24" name="Google Shape;324;p39"/>
          <p:cNvGrpSpPr/>
          <p:nvPr/>
        </p:nvGrpSpPr>
        <p:grpSpPr>
          <a:xfrm>
            <a:off x="2095888" y="3158550"/>
            <a:ext cx="197100" cy="197100"/>
            <a:chOff x="2172088" y="3058775"/>
            <a:chExt cx="197100" cy="197100"/>
          </a:xfrm>
        </p:grpSpPr>
        <p:sp>
          <p:nvSpPr>
            <p:cNvPr id="325" name="Google Shape;325;p39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9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27" name="Google Shape;327;p39"/>
          <p:cNvCxnSpPr>
            <a:endCxn id="325" idx="0"/>
          </p:cNvCxnSpPr>
          <p:nvPr/>
        </p:nvCxnSpPr>
        <p:spPr>
          <a:xfrm>
            <a:off x="2194438" y="27526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9"/>
          <p:cNvSpPr txBox="1"/>
          <p:nvPr/>
        </p:nvSpPr>
        <p:spPr>
          <a:xfrm>
            <a:off x="2614375" y="3060900"/>
            <a:ext cx="4487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Aplicamos el componente Filter como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wrapper/contenedor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del listado de tareas y resto de la interfaz.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/>
        </p:nvSpPr>
        <p:spPr>
          <a:xfrm>
            <a:off x="397150" y="468275"/>
            <a:ext cx="614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Diferencia entre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Render Props y HOC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397150" y="2212975"/>
            <a:ext cx="58767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Tanto los Render Props como los High Order Components (HOC) son técnicas avanzadas en React que nos permiten reutilizar lógica y abstraer comportamientos comunes en nuestros componentes.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principal diferencia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radica en que Render Props se basa en la idea de pasar una función de renderizado como una prop a un componente para que pueda renderizar información, mientras que los HOC son componentes de orden superior que envuelven otro componente y le agregan alguna funcionalidad.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/>
        </p:nvSpPr>
        <p:spPr>
          <a:xfrm>
            <a:off x="397150" y="9243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Conclusión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397150" y="1603375"/>
            <a:ext cx="4585200" cy="25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En pocas palabras, los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Render Props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nos permiten compartir la lógica de un componente a través de una función de renderizado, mientras que los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HOC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nos permiten compartir la lógica de un componente a través de la composición de componentes.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En cuanto a cuándo usar uno u otro,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depende del caso de uso específico.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Tanto los Render Props como los HOC son técnicas poderosas que nos permiten escribir componentes más reutilizables y mantenibles, por lo que es importante tenerlos en cuenta en nuestra caja de herramientas de React.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41" name="Google Shape;34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025" y="1988625"/>
            <a:ext cx="3489750" cy="116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42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347" name="Google Shape;347;p42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8" name="Google Shape;348;p42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9" name="Google Shape;349;p42"/>
          <p:cNvSpPr txBox="1"/>
          <p:nvPr/>
        </p:nvSpPr>
        <p:spPr>
          <a:xfrm>
            <a:off x="1538900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Filtrado de tareas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0" name="Google Shape;350;p42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20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1" name="Google Shape;351;p42"/>
          <p:cNvSpPr txBox="1"/>
          <p:nvPr/>
        </p:nvSpPr>
        <p:spPr>
          <a:xfrm>
            <a:off x="1064900" y="2947513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52" name="Google Shape;352;p4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53" name="Google Shape;353;p4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4" name="Google Shape;354;p4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43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360" name="Google Shape;360;p4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1" name="Google Shape;361;p43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2" name="Google Shape;362;p43"/>
          <p:cNvSpPr txBox="1"/>
          <p:nvPr/>
        </p:nvSpPr>
        <p:spPr>
          <a:xfrm>
            <a:off x="457350" y="971825"/>
            <a:ext cx="525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Filtrado de tareas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3" name="Google Shape;36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3"/>
          <p:cNvSpPr txBox="1"/>
          <p:nvPr/>
        </p:nvSpPr>
        <p:spPr>
          <a:xfrm>
            <a:off x="412775" y="2073838"/>
            <a:ext cx="49872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nuestra aplicación de listado de tareas le agregaremos la funcionalidad de filtrado de tareas por estado implementando el ejemplo visto en clases.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caso de no haber realizado la actividad extra de la Guía de ejercicios complementarios, puedes utilizar la siguiente aplicación para trabajar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Código inicial</a:t>
            </a:r>
            <a:endParaRPr b="1" sz="1350"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5" name="Google Shape;365;p43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6" name="Google Shape;366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6650" y="0"/>
            <a:ext cx="32973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3"/>
          <p:cNvSpPr txBox="1"/>
          <p:nvPr/>
        </p:nvSpPr>
        <p:spPr>
          <a:xfrm>
            <a:off x="6652806" y="2264828"/>
            <a:ext cx="1685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REEMPLAZAR </a:t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POR IMAGEN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8" name="Google Shape;36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6650" y="50"/>
            <a:ext cx="37318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44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376" name="Google Shape;376;p4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7" name="Google Shape;377;p44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8" name="Google Shape;378;p44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9" name="Google Shape;379;p44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5"/>
          <p:cNvSpPr txBox="1"/>
          <p:nvPr/>
        </p:nvSpPr>
        <p:spPr>
          <a:xfrm>
            <a:off x="1461300" y="17867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5" name="Google Shape;385;p45"/>
          <p:cNvSpPr txBox="1"/>
          <p:nvPr/>
        </p:nvSpPr>
        <p:spPr>
          <a:xfrm>
            <a:off x="2998200" y="2556375"/>
            <a:ext cx="314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dejar tu pregunta a través del</a:t>
            </a:r>
            <a:r>
              <a:rPr lang="es" sz="20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chat.</a:t>
            </a:r>
            <a:endParaRPr b="0" i="0" sz="2000" u="sng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35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#Coderalert</a:t>
            </a:r>
            <a:endParaRPr b="1" i="0" sz="35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1" name="Google Shape;391;p46"/>
          <p:cNvSpPr txBox="1"/>
          <p:nvPr/>
        </p:nvSpPr>
        <p:spPr>
          <a:xfrm>
            <a:off x="1212250" y="149005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Ingresa a la </a:t>
            </a:r>
            <a:r>
              <a:rPr b="1" lang="es" sz="25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Guía de actividades hacia el Proyecto Final</a:t>
            </a:r>
            <a:r>
              <a:rPr b="1"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 y realiza las actividades “Detalle del producto”. </a:t>
            </a:r>
            <a:endParaRPr sz="2500">
              <a:solidFill>
                <a:srgbClr val="9E9E9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500">
              <a:solidFill>
                <a:srgbClr val="9E9E9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Ten en cuenta que el desarrollo de la misma será importante para la resolución del Proyecto Final.</a:t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92" name="Google Shape;392;p46"/>
          <p:cNvGrpSpPr/>
          <p:nvPr/>
        </p:nvGrpSpPr>
        <p:grpSpPr>
          <a:xfrm>
            <a:off x="543106" y="716450"/>
            <a:ext cx="669148" cy="614370"/>
            <a:chOff x="5855025" y="2172613"/>
            <a:chExt cx="1088400" cy="1057800"/>
          </a:xfrm>
        </p:grpSpPr>
        <p:sp>
          <p:nvSpPr>
            <p:cNvPr id="393" name="Google Shape;393;p46"/>
            <p:cNvSpPr/>
            <p:nvPr/>
          </p:nvSpPr>
          <p:spPr>
            <a:xfrm>
              <a:off x="5855025" y="2172613"/>
              <a:ext cx="1088400" cy="10578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94" name="Google Shape;394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73225" y="2327338"/>
              <a:ext cx="748350" cy="748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/>
          <p:nvPr/>
        </p:nvSpPr>
        <p:spPr>
          <a:xfrm>
            <a:off x="1461300" y="2216950"/>
            <a:ext cx="6221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compartimos los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siguientes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350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 b="1" sz="35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00" name="Google Shape;400;p47"/>
          <p:cNvGrpSpPr/>
          <p:nvPr/>
        </p:nvGrpSpPr>
        <p:grpSpPr>
          <a:xfrm>
            <a:off x="4202550" y="1322535"/>
            <a:ext cx="738900" cy="738900"/>
            <a:chOff x="4202550" y="994173"/>
            <a:chExt cx="738900" cy="738900"/>
          </a:xfrm>
        </p:grpSpPr>
        <p:sp>
          <p:nvSpPr>
            <p:cNvPr id="401" name="Google Shape;401;p47"/>
            <p:cNvSpPr/>
            <p:nvPr/>
          </p:nvSpPr>
          <p:spPr>
            <a:xfrm>
              <a:off x="4202550" y="994173"/>
              <a:ext cx="738900" cy="738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402" name="Google Shape;402;p47" title="ícono de codertip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46700" y="1138325"/>
              <a:ext cx="450600" cy="450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8"/>
          <p:cNvSpPr txBox="1"/>
          <p:nvPr/>
        </p:nvSpPr>
        <p:spPr>
          <a:xfrm>
            <a:off x="501450" y="899375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recomendamos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8" name="Google Shape;408;p48"/>
          <p:cNvSpPr/>
          <p:nvPr/>
        </p:nvSpPr>
        <p:spPr>
          <a:xfrm>
            <a:off x="457358" y="468285"/>
            <a:ext cx="431074" cy="43107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09" name="Google Shape;409;p48" title="ícono de codertip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55" y="552384"/>
            <a:ext cx="262880" cy="26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8"/>
          <p:cNvSpPr txBox="1"/>
          <p:nvPr/>
        </p:nvSpPr>
        <p:spPr>
          <a:xfrm>
            <a:off x="930550" y="468275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1" name="Google Shape;411;p48"/>
          <p:cNvSpPr txBox="1"/>
          <p:nvPr/>
        </p:nvSpPr>
        <p:spPr>
          <a:xfrm>
            <a:off x="4583775" y="1682450"/>
            <a:ext cx="3705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URL segments serán muy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útiles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la próxima clase para implementar navegación en nuestra aplicación.</a:t>
            </a:r>
            <a:b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patrones que vimos hoy quizá parezcan un poco complejos al principio. Si bien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 son necesarios para el desarrollo del proyecto final, te serán muy útiles en el desarrollo de aplicaciones más complejas.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2" name="Google Shape;412;p48"/>
          <p:cNvSpPr txBox="1"/>
          <p:nvPr/>
        </p:nvSpPr>
        <p:spPr>
          <a:xfrm>
            <a:off x="457350" y="1682450"/>
            <a:ext cx="39975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Comprender el funcionamiento del protocolo HTTP es de vital importancia para todo desarrollador web.</a:t>
            </a:r>
            <a:b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 invocar fetch() estaremos recibiendo una Promise, recuerda lo que aprendimos la semana pasada.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Valida si la respuesta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proveniente del fetch de una API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fue “resuelta” o “rechazada” para mostrar al usuario el contenido adecuado y no generar errores.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8" name="Google Shape;418;p49"/>
          <p:cNvSpPr txBox="1"/>
          <p:nvPr/>
        </p:nvSpPr>
        <p:spPr>
          <a:xfrm>
            <a:off x="2109143" y="2325013"/>
            <a:ext cx="49257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Paradigmas de comunicación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HTTP / REST / Fetch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CORS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Custom Hooks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Children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High Order Components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Render Props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0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1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"/>
          <p:cNvSpPr txBox="1"/>
          <p:nvPr/>
        </p:nvSpPr>
        <p:spPr>
          <a:xfrm>
            <a:off x="1851750" y="1863750"/>
            <a:ext cx="5440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Educación digital</a:t>
            </a:r>
            <a:b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el mundo real</a:t>
            </a: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