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Roboto"/>
      <p:regular r:id="rId47"/>
      <p:bold r:id="rId48"/>
      <p:italic r:id="rId49"/>
      <p:boldItalic r:id="rId50"/>
    </p:embeddedFont>
    <p:embeddedFont>
      <p:font typeface="Helvetica Neue"/>
      <p:regular r:id="rId51"/>
      <p:bold r:id="rId52"/>
      <p:italic r:id="rId53"/>
      <p:boldItalic r:id="rId54"/>
    </p:embeddedFont>
    <p:embeddedFont>
      <p:font typeface="Helvetica Neue Light"/>
      <p:regular r:id="rId55"/>
      <p:bold r:id="rId56"/>
      <p:italic r:id="rId57"/>
      <p:boldItalic r:id="rId58"/>
    </p:embeddedFont>
    <p:embeddedFont>
      <p:font typeface="DM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60">
          <p15:clr>
            <a:srgbClr val="A4A3A4"/>
          </p15:clr>
        </p15:guide>
        <p15:guide id="3" pos="300">
          <p15:clr>
            <a:srgbClr val="9AA0A6"/>
          </p15:clr>
        </p15:guide>
        <p15:guide id="4" orient="horz" pos="32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60"/>
        <p:guide pos="300"/>
        <p:guide pos="324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DMSans-boldItalic.fntdata"/><Relationship Id="rId61" Type="http://schemas.openxmlformats.org/officeDocument/2006/relationships/font" Target="fonts/DMSa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DM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regular.fntdata"/><Relationship Id="rId50" Type="http://schemas.openxmlformats.org/officeDocument/2006/relationships/font" Target="fonts/Roboto-boldItalic.fntdata"/><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6.xml"/><Relationship Id="rId55" Type="http://schemas.openxmlformats.org/officeDocument/2006/relationships/font" Target="fonts/HelveticaNeueLight-regular.fntdata"/><Relationship Id="rId10" Type="http://schemas.openxmlformats.org/officeDocument/2006/relationships/slide" Target="slides/slide5.xml"/><Relationship Id="rId54" Type="http://schemas.openxmlformats.org/officeDocument/2006/relationships/font" Target="fonts/HelveticaNeue-boldItalic.fntdata"/><Relationship Id="rId13" Type="http://schemas.openxmlformats.org/officeDocument/2006/relationships/slide" Target="slides/slide8.xml"/><Relationship Id="rId57" Type="http://schemas.openxmlformats.org/officeDocument/2006/relationships/font" Target="fonts/HelveticaNeueLight-italic.fntdata"/><Relationship Id="rId12" Type="http://schemas.openxmlformats.org/officeDocument/2006/relationships/slide" Target="slides/slide7.xml"/><Relationship Id="rId56" Type="http://schemas.openxmlformats.org/officeDocument/2006/relationships/font" Target="fonts/HelveticaNeueLight-bold.fntdata"/><Relationship Id="rId15" Type="http://schemas.openxmlformats.org/officeDocument/2006/relationships/slide" Target="slides/slide10.xml"/><Relationship Id="rId59" Type="http://schemas.openxmlformats.org/officeDocument/2006/relationships/font" Target="fonts/DMSans-regular.fntdata"/><Relationship Id="rId14" Type="http://schemas.openxmlformats.org/officeDocument/2006/relationships/slide" Target="slides/slide9.xml"/><Relationship Id="rId58" Type="http://schemas.openxmlformats.org/officeDocument/2006/relationships/font" Target="fonts/HelveticaNeueLigh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21635c457e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21635c457e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258329f16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g258329f164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150">
                <a:solidFill>
                  <a:srgbClr val="1D1C1D"/>
                </a:solidFill>
                <a:highlight>
                  <a:srgbClr val="F8F8F8"/>
                </a:highlight>
              </a:rPr>
              <a:t>React Js - tiene trayecto nivelatorio y autoevaluación. Se encuentra en la plataforma, como material complementario. Esta slide sirve para redirigir a los estudiantes que lo necesiten al recurso.</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8329f164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258329f164a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150">
                <a:solidFill>
                  <a:srgbClr val="1D1C1D"/>
                </a:solidFill>
                <a:highlight>
                  <a:srgbClr val="F8F8F8"/>
                </a:highlight>
              </a:rPr>
              <a:t>Para profes/ tutores: reforzar la importancia de la práctica en programación.</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55a413f5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55a413f5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d8ab2ab78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d8ab2ab78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Redactar los objetivos en función de los conocimientos y habilidades a desarrollar en la clase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53250eb3e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53250eb3e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53250eb3e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53250eb3e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53250eb3e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53250eb3e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53250eb3e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53250eb3e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53250eb3e8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53250eb3e8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53250eb3e8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53250eb3e8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52ba13cb3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52ba13cb3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DEFC52"/>
                </a:highlight>
                <a:latin typeface="DM Sans"/>
                <a:ea typeface="DM Sans"/>
                <a:cs typeface="DM Sans"/>
                <a:sym typeface="DM Sans"/>
              </a:rPr>
              <a:t>(OPCIÓN DASH)</a:t>
            </a:r>
            <a:endParaRPr>
              <a:highlight>
                <a:srgbClr val="DEFC52"/>
              </a:highlight>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56d669cbe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56d669cbe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050">
                <a:solidFill>
                  <a:schemeClr val="dk1"/>
                </a:solidFill>
                <a:highlight>
                  <a:srgbClr val="FFFFFF"/>
                </a:highlight>
                <a:latin typeface="Roboto"/>
                <a:ea typeface="Roboto"/>
                <a:cs typeface="Roboto"/>
                <a:sym typeface="Roboto"/>
              </a:rPr>
              <a:t>Esta slide es para microdesafíos a partir de consignas abiertas (modelo breve)</a:t>
            </a: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52ba13cb3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52ba13cb3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5117cf3c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d5117cf3c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Posible solución</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52ba13cb3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52ba13cb3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53250eb3e8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53250eb3e8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52ba13cb37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52ba13cb37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DM Sans"/>
                <a:ea typeface="DM Sans"/>
                <a:cs typeface="DM Sans"/>
                <a:sym typeface="DM Sans"/>
              </a:rPr>
              <a:t>Recomendación: Dinamic Props, Destructuring, Asignación con operador ternario, etc</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53e99977f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53e99977f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3e99977f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53e99977f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DM Sans"/>
                <a:ea typeface="DM Sans"/>
                <a:cs typeface="DM Sans"/>
                <a:sym typeface="DM Sans"/>
              </a:rPr>
              <a:t>Recomendación: Dinamic Props, Destructuring, Asignación con operador ternario, etc</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52ba13cb37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52ba13cb37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3250eb3e8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53250eb3e8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53250eb3e8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53250eb3e8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imagen completa.</a:t>
            </a: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53e99977f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53e99977f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53250eb3e8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53250eb3e8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slides en caso de que se requiera hacer foco en algún contenido en particular. </a:t>
            </a:r>
            <a:r>
              <a:rPr b="1" lang="es">
                <a:solidFill>
                  <a:schemeClr val="dk1"/>
                </a:solidFill>
                <a:latin typeface="DM Sans"/>
                <a:ea typeface="DM Sans"/>
                <a:cs typeface="DM Sans"/>
                <a:sym typeface="DM Sans"/>
              </a:rPr>
              <a:t>Señalar en “Notas al orador” la duración (en minutos) que se sugiere para el momento de exposición teniendo en cuenta que el foco de las clases la práctica. </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53250eb3e8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53250eb3e8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slides en caso de que se requiera hacer foco en algún contenido en particular. </a:t>
            </a:r>
            <a:r>
              <a:rPr b="1" lang="es">
                <a:solidFill>
                  <a:schemeClr val="dk1"/>
                </a:solidFill>
                <a:latin typeface="DM Sans"/>
                <a:ea typeface="DM Sans"/>
                <a:cs typeface="DM Sans"/>
                <a:sym typeface="DM Sans"/>
              </a:rPr>
              <a:t>Señalar en “Notas al orador” la duración (en minutos) que se sugiere para el momento de exposición teniendo en cuenta que el foco de las clases la práctica. </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2ba13cb37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2ba13cb37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52ba13cb37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52ba13cb37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53250eb3e8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53250eb3e8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579af079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579af079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579af079b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579af079b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579af079b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579af079b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DM Sans"/>
                <a:ea typeface="DM Sans"/>
                <a:cs typeface="DM Sans"/>
                <a:sym typeface="DM Sans"/>
              </a:rPr>
              <a:t>Para profes/tutores: hacer solamente si dan los tiempos, ya que es muy similar al ejemplo anterior</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53250eb3e8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53250eb3e8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highlight>
                <a:schemeClr val="accent4"/>
              </a:highlight>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56d669cbe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56d669cbe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300">
                <a:highlight>
                  <a:srgbClr val="EAFF6A"/>
                </a:highlight>
                <a:latin typeface="DM Sans"/>
                <a:ea typeface="DM Sans"/>
                <a:cs typeface="DM Sans"/>
                <a:sym typeface="DM Sans"/>
              </a:rPr>
              <a:t>Para profes/tutores</a:t>
            </a:r>
            <a:r>
              <a:rPr lang="es" sz="1300">
                <a:latin typeface="DM Sans"/>
                <a:ea typeface="DM Sans"/>
                <a:cs typeface="DM Sans"/>
                <a:sym typeface="DM Sans"/>
              </a:rPr>
              <a:t>: abrir la consigna completa, leerla en detalle y responder dudas que puedan surgir.</a:t>
            </a:r>
            <a:endParaRPr sz="1300">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3ad191e9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3ad191e9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EA90FF"/>
                </a:highlight>
                <a:latin typeface="DM Sans"/>
                <a:ea typeface="DM Sans"/>
                <a:cs typeface="DM Sans"/>
                <a:sym typeface="DM Sans"/>
              </a:rPr>
              <a:t>(Probar si se puede hacer con Kahoot y de lo contrario que hagan preguntas activando micrófono o por chat).</a:t>
            </a:r>
            <a:endParaRPr>
              <a:highlight>
                <a:srgbClr val="EA90FF"/>
              </a:highlight>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1635c457e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1635c457e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3bbc910f27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3bbc910f27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Colocar el link de los recursos en el nombre de cada uno.</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que los estudiantes puedan explorar en sus casas los recursos vistos en clase: libros, artículos, herramientas, websites, videos (ajenos a Coder).</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accent1"/>
              </a:solidFill>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3bbc910f2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3bbc910f2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 Completar el resumen con palabras claves de lo visto. En caso de cerrar con el “mapa de conceptos” se puede sacar. </a:t>
            </a: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3bbc910f2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3bbc910f2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3bbc910f2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3bbc910f2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1635c457e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1635c457e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Font typeface="DM Sans"/>
              <a:buNone/>
              <a:defRPr b="1" sz="4000">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7" name="Google Shape;17;p4"/>
          <p:cNvSpPr/>
          <p:nvPr/>
        </p:nvSpPr>
        <p:spPr>
          <a:xfrm>
            <a:off x="1089900" y="995400"/>
            <a:ext cx="6964200" cy="3152700"/>
          </a:xfrm>
          <a:prstGeom prst="rect">
            <a:avLst/>
          </a:prstGeom>
          <a:solidFill>
            <a:srgbClr val="B5B5B5">
              <a:alpha val="1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1">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7"/>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 name="Google Shape;24;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25" name="Shape 25"/>
        <p:cNvGrpSpPr/>
        <p:nvPr/>
      </p:nvGrpSpPr>
      <p:grpSpPr>
        <a:xfrm>
          <a:off x="0" y="0"/>
          <a:ext cx="0" cy="0"/>
          <a:chOff x="0" y="0"/>
          <a:chExt cx="0" cy="0"/>
        </a:xfrm>
      </p:grpSpPr>
      <p:pic>
        <p:nvPicPr>
          <p:cNvPr id="26" name="Google Shape;26;p8"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id="28" name="Google Shape;28;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29" name="Shape 29"/>
        <p:cNvGrpSpPr/>
        <p:nvPr/>
      </p:nvGrpSpPr>
      <p:grpSpPr>
        <a:xfrm>
          <a:off x="0" y="0"/>
          <a:ext cx="0" cy="0"/>
          <a:chOff x="0" y="0"/>
          <a:chExt cx="0" cy="0"/>
        </a:xfrm>
      </p:grpSpPr>
      <p:pic>
        <p:nvPicPr>
          <p:cNvPr id="30" name="Google Shape;30;p10"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31" name="Shape 31"/>
        <p:cNvGrpSpPr/>
        <p:nvPr/>
      </p:nvGrpSpPr>
      <p:grpSpPr>
        <a:xfrm>
          <a:off x="0" y="0"/>
          <a:ext cx="0" cy="0"/>
          <a:chOff x="0" y="0"/>
          <a:chExt cx="0" cy="0"/>
        </a:xfrm>
      </p:grpSpPr>
      <p:pic>
        <p:nvPicPr>
          <p:cNvPr id="32" name="Google Shape;32;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2">
    <p:spTree>
      <p:nvGrpSpPr>
        <p:cNvPr id="33" name="Shape 33"/>
        <p:cNvGrpSpPr/>
        <p:nvPr/>
      </p:nvGrpSpPr>
      <p:grpSpPr>
        <a:xfrm>
          <a:off x="0" y="0"/>
          <a:ext cx="0" cy="0"/>
          <a:chOff x="0" y="0"/>
          <a:chExt cx="0" cy="0"/>
        </a:xfrm>
      </p:grpSpPr>
      <p:pic>
        <p:nvPicPr>
          <p:cNvPr id="34" name="Google Shape;34;p12" title="logo coderhouse"/>
          <p:cNvPicPr preferRelativeResize="0"/>
          <p:nvPr/>
        </p:nvPicPr>
        <p:blipFill>
          <a:blip r:embed="rId2">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1">
  <p:cSld name="SECTION_HEADER_1_1_1_1_1_1_1_1_1_3">
    <p:bg>
      <p:bgPr>
        <a:blipFill>
          <a:blip r:embed="rId2">
            <a:alphaModFix/>
          </a:blip>
          <a:stretch>
            <a:fillRect/>
          </a:stretch>
        </a:blipFill>
      </p:bgPr>
    </p:bg>
    <p:spTree>
      <p:nvGrpSpPr>
        <p:cNvPr id="35" name="Shape 35"/>
        <p:cNvGrpSpPr/>
        <p:nvPr/>
      </p:nvGrpSpPr>
      <p:grpSpPr>
        <a:xfrm>
          <a:off x="0" y="0"/>
          <a:ext cx="0" cy="0"/>
          <a:chOff x="0" y="0"/>
          <a:chExt cx="0" cy="0"/>
        </a:xfrm>
      </p:grpSpPr>
      <p:pic>
        <p:nvPicPr>
          <p:cNvPr id="36" name="Google Shape;36;p1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hyperlink" Target="https://view.genial.ly/649881b0f011a5001940483d/presentation-nivelacion-react-js-or-flex" TargetMode="External"/><Relationship Id="rId5" Type="http://schemas.openxmlformats.org/officeDocument/2006/relationships/hyperlink" Target="https://view.genial.ly/6498c3873397b900127bfbf2/interactive-content-basic-digital-quiz" TargetMode="External"/><Relationship Id="rId6" Type="http://schemas.openxmlformats.org/officeDocument/2006/relationships/hyperlink" Target="https://drive.google.com/file/d/1NSTjslPAUfme7e63iLaEPHtV4pgtlj-X/view?usp=drive_lin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hyperlink" Target="https://docs.google.com/presentation/d/1m0Pxdo6tR3VQeOwms0SIpvoQ_3HPwGyT/edit?usp=drive_link&amp;ouid=105756276059427898200&amp;rtpof=true&amp;sd=true" TargetMode="External"/><Relationship Id="rId5" Type="http://schemas.openxmlformats.org/officeDocument/2006/relationships/hyperlink" Target="https://docs.google.com/presentation/d/1zdYi_mdz9K5QRqQYDHFYWrPrp2AAi-QS/edit?usp=drive_link&amp;ouid=105756276059427898200&amp;rtpof=true&amp;sd=true" TargetMode="External"/><Relationship Id="rId6" Type="http://schemas.openxmlformats.org/officeDocument/2006/relationships/hyperlink" Target="https://docs.google.com/presentation/d/1kRm9pxtYP6ou5SxNq1xTumYWBg_RIjEA/edit?usp=drive_link&amp;ouid=105756276059427898200&amp;rtpof=true&amp;sd=tru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hyperlink" Target="http://drive.google.com/file/d/1Gpib8NNJ8CcbCR0xQIiKh1hJ8DhLPkoc/view" TargetMode="External"/><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hyperlink" Target="https://github.com/zloirock/core-j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2.png"/><Relationship Id="rId4" Type="http://schemas.openxmlformats.org/officeDocument/2006/relationships/image" Target="../media/image7.png"/><Relationship Id="rId5" Type="http://schemas.openxmlformats.org/officeDocument/2006/relationships/image" Target="../media/image22.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27.png"/><Relationship Id="rId5" Type="http://schemas.openxmlformats.org/officeDocument/2006/relationships/image" Target="../media/image40.png"/><Relationship Id="rId6" Type="http://schemas.openxmlformats.org/officeDocument/2006/relationships/image" Target="../media/image25.png"/><Relationship Id="rId7"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41.png"/><Relationship Id="rId5"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2.png"/><Relationship Id="rId4" Type="http://schemas.openxmlformats.org/officeDocument/2006/relationships/image" Target="../media/image7.png"/><Relationship Id="rId5" Type="http://schemas.openxmlformats.org/officeDocument/2006/relationships/hyperlink" Target="https://docs.google.com/presentation/d/1iEywZxfvbX_UwMGzzORlk8mXQ_yhCB3F/edit?usp=drive_link&amp;ouid=105756276059427898200&amp;rtpof=true&amp;sd=tru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9.png"/><Relationship Id="rId4" Type="http://schemas.openxmlformats.org/officeDocument/2006/relationships/hyperlink" Target="https://caniuse.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4"/>
          <p:cNvSpPr/>
          <p:nvPr/>
        </p:nvSpPr>
        <p:spPr>
          <a:xfrm>
            <a:off x="3080700" y="2547525"/>
            <a:ext cx="2982600" cy="793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4"/>
          <p:cNvSpPr txBox="1"/>
          <p:nvPr/>
        </p:nvSpPr>
        <p:spPr>
          <a:xfrm>
            <a:off x="1461300" y="1802163"/>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 va a ser</a:t>
            </a:r>
            <a:endParaRPr b="1" sz="4000">
              <a:solidFill>
                <a:srgbClr val="DEFC52"/>
              </a:solidFill>
              <a:latin typeface="DM Sans"/>
              <a:ea typeface="DM Sans"/>
              <a:cs typeface="DM Sans"/>
              <a:sym typeface="DM Sans"/>
            </a:endParaRPr>
          </a:p>
        </p:txBody>
      </p:sp>
      <p:sp>
        <p:nvSpPr>
          <p:cNvPr id="43" name="Google Shape;43;p14"/>
          <p:cNvSpPr txBox="1"/>
          <p:nvPr/>
        </p:nvSpPr>
        <p:spPr>
          <a:xfrm>
            <a:off x="3655975" y="2541075"/>
            <a:ext cx="24072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grabada</a:t>
            </a:r>
            <a:endParaRPr b="1" sz="4000">
              <a:solidFill>
                <a:srgbClr val="EAFF6A"/>
              </a:solidFill>
              <a:latin typeface="DM Sans"/>
              <a:ea typeface="DM Sans"/>
              <a:cs typeface="DM Sans"/>
              <a:sym typeface="DM Sans"/>
            </a:endParaRPr>
          </a:p>
        </p:txBody>
      </p:sp>
      <p:sp>
        <p:nvSpPr>
          <p:cNvPr id="44" name="Google Shape;44;p14"/>
          <p:cNvSpPr/>
          <p:nvPr/>
        </p:nvSpPr>
        <p:spPr>
          <a:xfrm>
            <a:off x="3293875" y="2844525"/>
            <a:ext cx="199800" cy="199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 name="Google Shape;45;p14"/>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grpSp>
        <p:nvGrpSpPr>
          <p:cNvPr id="50" name="Google Shape;50;p15"/>
          <p:cNvGrpSpPr/>
          <p:nvPr/>
        </p:nvGrpSpPr>
        <p:grpSpPr>
          <a:xfrm>
            <a:off x="457338" y="468286"/>
            <a:ext cx="431100" cy="431100"/>
            <a:chOff x="4616400" y="1950761"/>
            <a:chExt cx="431100" cy="431100"/>
          </a:xfrm>
        </p:grpSpPr>
        <p:sp>
          <p:nvSpPr>
            <p:cNvPr id="51" name="Google Shape;51;p15"/>
            <p:cNvSpPr/>
            <p:nvPr/>
          </p:nvSpPr>
          <p:spPr>
            <a:xfrm>
              <a:off x="4616400" y="1950761"/>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 name="Google Shape;52;p15" title="ícono para recordar"/>
            <p:cNvPicPr preferRelativeResize="0"/>
            <p:nvPr/>
          </p:nvPicPr>
          <p:blipFill rotWithShape="1">
            <a:blip r:embed="rId3">
              <a:alphaModFix/>
            </a:blip>
            <a:srcRect b="0" l="0" r="0" t="0"/>
            <a:stretch/>
          </p:blipFill>
          <p:spPr>
            <a:xfrm>
              <a:off x="4699911" y="2034249"/>
              <a:ext cx="264076" cy="264076"/>
            </a:xfrm>
            <a:prstGeom prst="rect">
              <a:avLst/>
            </a:prstGeom>
            <a:noFill/>
            <a:ln>
              <a:noFill/>
            </a:ln>
          </p:spPr>
        </p:pic>
      </p:grpSp>
      <p:sp>
        <p:nvSpPr>
          <p:cNvPr id="53" name="Google Shape;53;p15"/>
          <p:cNvSpPr txBox="1"/>
          <p:nvPr/>
        </p:nvSpPr>
        <p:spPr>
          <a:xfrm>
            <a:off x="457350" y="1574475"/>
            <a:ext cx="8537700" cy="260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200">
                <a:solidFill>
                  <a:schemeClr val="lt1"/>
                </a:solidFill>
                <a:latin typeface="DM Sans"/>
                <a:ea typeface="DM Sans"/>
                <a:cs typeface="DM Sans"/>
                <a:sym typeface="DM Sans"/>
              </a:rPr>
              <a:t>Este curso cuenta con:</a:t>
            </a:r>
            <a:endParaRPr sz="2200">
              <a:solidFill>
                <a:schemeClr val="lt1"/>
              </a:solidFill>
              <a:latin typeface="DM Sans"/>
              <a:ea typeface="DM Sans"/>
              <a:cs typeface="DM Sans"/>
              <a:sym typeface="DM Sans"/>
            </a:endParaRPr>
          </a:p>
          <a:p>
            <a:pPr indent="-368300" lvl="0" marL="457200" rtl="0" algn="l">
              <a:spcBef>
                <a:spcPts val="0"/>
              </a:spcBef>
              <a:spcAft>
                <a:spcPts val="0"/>
              </a:spcAft>
              <a:buClr>
                <a:srgbClr val="EAFF6A"/>
              </a:buClr>
              <a:buSzPts val="2200"/>
              <a:buFont typeface="DM Sans"/>
              <a:buChar char="●"/>
            </a:pPr>
            <a:r>
              <a:rPr lang="es" sz="2200">
                <a:solidFill>
                  <a:schemeClr val="lt1"/>
                </a:solidFill>
                <a:latin typeface="DM Sans"/>
                <a:ea typeface="DM Sans"/>
                <a:cs typeface="DM Sans"/>
                <a:sym typeface="DM Sans"/>
              </a:rPr>
              <a:t> Una </a:t>
            </a:r>
            <a:r>
              <a:rPr b="1" lang="es" sz="2200" u="sng">
                <a:solidFill>
                  <a:schemeClr val="hlink"/>
                </a:solidFill>
                <a:latin typeface="DM Sans"/>
                <a:ea typeface="DM Sans"/>
                <a:cs typeface="DM Sans"/>
                <a:sym typeface="DM Sans"/>
                <a:hlinkClick r:id="rId4"/>
              </a:rPr>
              <a:t>valija de recursos nivelatorios</a:t>
            </a:r>
            <a:r>
              <a:rPr b="1" lang="es" sz="2200">
                <a:solidFill>
                  <a:schemeClr val="lt1"/>
                </a:solidFill>
                <a:latin typeface="DM Sans"/>
                <a:ea typeface="DM Sans"/>
                <a:cs typeface="DM Sans"/>
                <a:sym typeface="DM Sans"/>
              </a:rPr>
              <a:t>. </a:t>
            </a:r>
            <a:r>
              <a:rPr lang="es" sz="2200">
                <a:solidFill>
                  <a:schemeClr val="lt1"/>
                </a:solidFill>
                <a:latin typeface="DM Sans"/>
                <a:ea typeface="DM Sans"/>
                <a:cs typeface="DM Sans"/>
                <a:sym typeface="DM Sans"/>
              </a:rPr>
              <a:t>Podrás encontrar tutoriales y una </a:t>
            </a:r>
            <a:r>
              <a:rPr b="1" lang="es" sz="2200" u="sng">
                <a:solidFill>
                  <a:schemeClr val="hlink"/>
                </a:solidFill>
                <a:latin typeface="DM Sans"/>
                <a:ea typeface="DM Sans"/>
                <a:cs typeface="DM Sans"/>
                <a:sym typeface="DM Sans"/>
                <a:hlinkClick r:id="rId5"/>
              </a:rPr>
              <a:t>autoevaluación</a:t>
            </a:r>
            <a:r>
              <a:rPr lang="es" sz="2200">
                <a:solidFill>
                  <a:schemeClr val="lt1"/>
                </a:solidFill>
                <a:latin typeface="DM Sans"/>
                <a:ea typeface="DM Sans"/>
                <a:cs typeface="DM Sans"/>
                <a:sym typeface="DM Sans"/>
              </a:rPr>
              <a:t>.</a:t>
            </a:r>
            <a:endParaRPr sz="2200">
              <a:solidFill>
                <a:schemeClr val="lt1"/>
              </a:solidFill>
              <a:latin typeface="DM Sans"/>
              <a:ea typeface="DM Sans"/>
              <a:cs typeface="DM Sans"/>
              <a:sym typeface="DM Sans"/>
            </a:endParaRPr>
          </a:p>
          <a:p>
            <a:pPr indent="-368300" lvl="0" marL="457200" rtl="0" algn="l">
              <a:spcBef>
                <a:spcPts val="0"/>
              </a:spcBef>
              <a:spcAft>
                <a:spcPts val="0"/>
              </a:spcAft>
              <a:buClr>
                <a:srgbClr val="EAFF6A"/>
              </a:buClr>
              <a:buSzPts val="2200"/>
              <a:buFont typeface="DM Sans"/>
              <a:buChar char="●"/>
            </a:pPr>
            <a:r>
              <a:rPr lang="es" sz="2200">
                <a:solidFill>
                  <a:schemeClr val="lt1"/>
                </a:solidFill>
                <a:latin typeface="DM Sans"/>
                <a:ea typeface="DM Sans"/>
                <a:cs typeface="DM Sans"/>
                <a:sym typeface="DM Sans"/>
              </a:rPr>
              <a:t> Un </a:t>
            </a:r>
            <a:r>
              <a:rPr b="1" lang="es" sz="2200" u="sng">
                <a:solidFill>
                  <a:schemeClr val="hlink"/>
                </a:solidFill>
                <a:latin typeface="DM Sans"/>
                <a:ea typeface="DM Sans"/>
                <a:cs typeface="DM Sans"/>
                <a:sym typeface="DM Sans"/>
                <a:hlinkClick r:id="rId6"/>
              </a:rPr>
              <a:t>glosario</a:t>
            </a:r>
            <a:r>
              <a:rPr lang="es" sz="2200">
                <a:solidFill>
                  <a:schemeClr val="lt1"/>
                </a:solidFill>
                <a:latin typeface="DM Sans"/>
                <a:ea typeface="DM Sans"/>
                <a:cs typeface="DM Sans"/>
                <a:sym typeface="DM Sans"/>
              </a:rPr>
              <a:t> para que puedas consultar definiciones.</a:t>
            </a:r>
            <a:endParaRPr sz="2200">
              <a:solidFill>
                <a:schemeClr val="lt1"/>
              </a:solidFill>
              <a:latin typeface="DM Sans"/>
              <a:ea typeface="DM Sans"/>
              <a:cs typeface="DM Sans"/>
              <a:sym typeface="DM Sans"/>
            </a:endParaRPr>
          </a:p>
          <a:p>
            <a:pPr indent="0" lvl="0" marL="0" rtl="0" algn="l">
              <a:spcBef>
                <a:spcPts val="0"/>
              </a:spcBef>
              <a:spcAft>
                <a:spcPts val="0"/>
              </a:spcAft>
              <a:buNone/>
            </a:pPr>
            <a:r>
              <a:t/>
            </a:r>
            <a:endParaRPr sz="2200">
              <a:solidFill>
                <a:schemeClr val="lt1"/>
              </a:solidFill>
              <a:latin typeface="DM Sans"/>
              <a:ea typeface="DM Sans"/>
              <a:cs typeface="DM Sans"/>
              <a:sym typeface="DM Sans"/>
            </a:endParaRPr>
          </a:p>
          <a:p>
            <a:pPr indent="0" lvl="0" marL="0" rtl="0" algn="l">
              <a:spcBef>
                <a:spcPts val="0"/>
              </a:spcBef>
              <a:spcAft>
                <a:spcPts val="0"/>
              </a:spcAft>
              <a:buNone/>
            </a:pPr>
            <a:r>
              <a:t/>
            </a:r>
            <a:endParaRPr sz="2200">
              <a:solidFill>
                <a:schemeClr val="lt1"/>
              </a:solidFill>
              <a:latin typeface="DM Sans"/>
              <a:ea typeface="DM Sans"/>
              <a:cs typeface="DM Sans"/>
              <a:sym typeface="DM Sans"/>
            </a:endParaRPr>
          </a:p>
          <a:p>
            <a:pPr indent="0" lvl="0" marL="0" rtl="0" algn="l">
              <a:spcBef>
                <a:spcPts val="0"/>
              </a:spcBef>
              <a:spcAft>
                <a:spcPts val="0"/>
              </a:spcAft>
              <a:buNone/>
            </a:pPr>
            <a:r>
              <a:rPr b="1" lang="es" sz="2500">
                <a:solidFill>
                  <a:schemeClr val="accent6"/>
                </a:solidFill>
                <a:latin typeface="DM Sans"/>
                <a:ea typeface="DM Sans"/>
                <a:cs typeface="DM Sans"/>
                <a:sym typeface="DM Sans"/>
              </a:rPr>
              <a:t>¡Anímate a descubrirlos!</a:t>
            </a:r>
            <a:endParaRPr b="1" sz="2500">
              <a:solidFill>
                <a:srgbClr val="EAFF6A"/>
              </a:solidFill>
              <a:latin typeface="DM Sans"/>
              <a:ea typeface="DM Sans"/>
              <a:cs typeface="DM Sans"/>
              <a:sym typeface="DM Sans"/>
            </a:endParaRPr>
          </a:p>
        </p:txBody>
      </p:sp>
      <p:sp>
        <p:nvSpPr>
          <p:cNvPr id="54" name="Google Shape;54;p15"/>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 sz="4000">
                <a:solidFill>
                  <a:srgbClr val="EAFF6A"/>
                </a:solidFill>
                <a:latin typeface="DM Sans"/>
                <a:ea typeface="DM Sans"/>
                <a:cs typeface="DM Sans"/>
                <a:sym typeface="DM Sans"/>
              </a:rPr>
              <a:t>A tener en cuenta</a:t>
            </a:r>
            <a:endParaRPr b="1" i="0" sz="4000" u="none" cap="none" strike="noStrike">
              <a:solidFill>
                <a:srgbClr val="EAFF6A"/>
              </a:solidFill>
              <a:latin typeface="DM Sans"/>
              <a:ea typeface="DM Sans"/>
              <a:cs typeface="DM Sans"/>
              <a:sym typeface="DM Sans"/>
            </a:endParaRPr>
          </a:p>
        </p:txBody>
      </p:sp>
      <p:sp>
        <p:nvSpPr>
          <p:cNvPr id="55" name="Google Shape;55;p15"/>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lt1"/>
                </a:solidFill>
                <a:latin typeface="DM Sans"/>
                <a:ea typeface="DM Sans"/>
                <a:cs typeface="DM Sans"/>
                <a:sym typeface="DM Sans"/>
              </a:rPr>
              <a:t>PARA RECORDAR</a:t>
            </a:r>
            <a:endParaRPr b="0" i="0" sz="1400" u="none" cap="none" strike="noStrike">
              <a:solidFill>
                <a:schemeClr val="lt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6"/>
          <p:cNvGrpSpPr/>
          <p:nvPr/>
        </p:nvGrpSpPr>
        <p:grpSpPr>
          <a:xfrm>
            <a:off x="457338" y="468286"/>
            <a:ext cx="431100" cy="431100"/>
            <a:chOff x="4616400" y="1950761"/>
            <a:chExt cx="431100" cy="431100"/>
          </a:xfrm>
        </p:grpSpPr>
        <p:sp>
          <p:nvSpPr>
            <p:cNvPr id="61" name="Google Shape;61;p16"/>
            <p:cNvSpPr/>
            <p:nvPr/>
          </p:nvSpPr>
          <p:spPr>
            <a:xfrm>
              <a:off x="4616400" y="1950761"/>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 name="Google Shape;62;p16" title="ícono para recordar"/>
            <p:cNvPicPr preferRelativeResize="0"/>
            <p:nvPr/>
          </p:nvPicPr>
          <p:blipFill rotWithShape="1">
            <a:blip r:embed="rId3">
              <a:alphaModFix/>
            </a:blip>
            <a:srcRect b="0" l="0" r="0" t="0"/>
            <a:stretch/>
          </p:blipFill>
          <p:spPr>
            <a:xfrm>
              <a:off x="4699911" y="2034249"/>
              <a:ext cx="264076" cy="264076"/>
            </a:xfrm>
            <a:prstGeom prst="rect">
              <a:avLst/>
            </a:prstGeom>
            <a:noFill/>
            <a:ln>
              <a:noFill/>
            </a:ln>
          </p:spPr>
        </p:pic>
      </p:grpSp>
      <p:sp>
        <p:nvSpPr>
          <p:cNvPr id="63" name="Google Shape;63;p16"/>
          <p:cNvSpPr txBox="1"/>
          <p:nvPr/>
        </p:nvSpPr>
        <p:spPr>
          <a:xfrm>
            <a:off x="457350" y="1695600"/>
            <a:ext cx="83295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000">
                <a:solidFill>
                  <a:schemeClr val="lt1"/>
                </a:solidFill>
                <a:latin typeface="DM Sans"/>
                <a:ea typeface="DM Sans"/>
                <a:cs typeface="DM Sans"/>
                <a:sym typeface="DM Sans"/>
              </a:rPr>
              <a:t>También contarás con:</a:t>
            </a:r>
            <a:endParaRPr sz="2000">
              <a:solidFill>
                <a:schemeClr val="lt1"/>
              </a:solidFill>
              <a:latin typeface="DM Sans"/>
              <a:ea typeface="DM Sans"/>
              <a:cs typeface="DM Sans"/>
              <a:sym typeface="DM Sans"/>
            </a:endParaRPr>
          </a:p>
          <a:p>
            <a:pPr indent="-355600" lvl="0" marL="457200" rtl="0" algn="l">
              <a:spcBef>
                <a:spcPts val="0"/>
              </a:spcBef>
              <a:spcAft>
                <a:spcPts val="0"/>
              </a:spcAft>
              <a:buClr>
                <a:srgbClr val="EAFF6A"/>
              </a:buClr>
              <a:buSzPts val="2000"/>
              <a:buFont typeface="DM Sans"/>
              <a:buChar char="●"/>
            </a:pPr>
            <a:r>
              <a:rPr lang="es" sz="2000">
                <a:solidFill>
                  <a:schemeClr val="lt1"/>
                </a:solidFill>
                <a:latin typeface="DM Sans"/>
                <a:ea typeface="DM Sans"/>
                <a:cs typeface="DM Sans"/>
                <a:sym typeface="DM Sans"/>
              </a:rPr>
              <a:t> Una </a:t>
            </a:r>
            <a:r>
              <a:rPr b="1" lang="es" sz="2000" u="sng">
                <a:solidFill>
                  <a:schemeClr val="hlink"/>
                </a:solidFill>
                <a:latin typeface="DM Sans"/>
                <a:ea typeface="DM Sans"/>
                <a:cs typeface="DM Sans"/>
                <a:sym typeface="DM Sans"/>
                <a:hlinkClick r:id="rId4"/>
              </a:rPr>
              <a:t>guía de actividades hacia el Proyecto final</a:t>
            </a:r>
            <a:r>
              <a:rPr b="1" lang="es" sz="2000">
                <a:solidFill>
                  <a:schemeClr val="lt1"/>
                </a:solidFill>
                <a:latin typeface="DM Sans"/>
                <a:ea typeface="DM Sans"/>
                <a:cs typeface="DM Sans"/>
                <a:sym typeface="DM Sans"/>
              </a:rPr>
              <a:t>*, </a:t>
            </a:r>
            <a:r>
              <a:rPr lang="es" sz="2000">
                <a:solidFill>
                  <a:schemeClr val="lt1"/>
                </a:solidFill>
                <a:latin typeface="DM Sans"/>
                <a:ea typeface="DM Sans"/>
                <a:cs typeface="DM Sans"/>
                <a:sym typeface="DM Sans"/>
              </a:rPr>
              <a:t>donde encontrarás propuestas prácticas que te ayudarán a construir tu proyecto.</a:t>
            </a:r>
            <a:endParaRPr sz="2000">
              <a:solidFill>
                <a:schemeClr val="lt1"/>
              </a:solidFill>
              <a:latin typeface="DM Sans"/>
              <a:ea typeface="DM Sans"/>
              <a:cs typeface="DM Sans"/>
              <a:sym typeface="DM Sans"/>
            </a:endParaRPr>
          </a:p>
          <a:p>
            <a:pPr indent="-355600" lvl="0" marL="457200" rtl="0" algn="l">
              <a:spcBef>
                <a:spcPts val="0"/>
              </a:spcBef>
              <a:spcAft>
                <a:spcPts val="0"/>
              </a:spcAft>
              <a:buClr>
                <a:srgbClr val="EAFF6A"/>
              </a:buClr>
              <a:buSzPts val="2000"/>
              <a:buFont typeface="DM Sans"/>
              <a:buChar char="●"/>
            </a:pPr>
            <a:r>
              <a:rPr lang="es" sz="2000">
                <a:solidFill>
                  <a:schemeClr val="lt1"/>
                </a:solidFill>
                <a:latin typeface="DM Sans"/>
                <a:ea typeface="DM Sans"/>
                <a:cs typeface="DM Sans"/>
                <a:sym typeface="DM Sans"/>
              </a:rPr>
              <a:t>Una </a:t>
            </a:r>
            <a:r>
              <a:rPr b="1" lang="es" sz="2000" u="sng">
                <a:solidFill>
                  <a:schemeClr val="hlink"/>
                </a:solidFill>
                <a:latin typeface="DM Sans"/>
                <a:ea typeface="DM Sans"/>
                <a:cs typeface="DM Sans"/>
                <a:sym typeface="DM Sans"/>
                <a:hlinkClick r:id="rId5"/>
              </a:rPr>
              <a:t>guía de ejercicios complementarios</a:t>
            </a:r>
            <a:r>
              <a:rPr b="1" lang="es" sz="2000">
                <a:solidFill>
                  <a:schemeClr val="lt1"/>
                </a:solidFill>
                <a:latin typeface="DM Sans"/>
                <a:ea typeface="DM Sans"/>
                <a:cs typeface="DM Sans"/>
                <a:sym typeface="DM Sans"/>
              </a:rPr>
              <a:t>*</a:t>
            </a:r>
            <a:r>
              <a:rPr lang="es" sz="2000">
                <a:solidFill>
                  <a:schemeClr val="lt1"/>
                </a:solidFill>
                <a:latin typeface="DM Sans"/>
                <a:ea typeface="DM Sans"/>
                <a:cs typeface="DM Sans"/>
                <a:sym typeface="DM Sans"/>
              </a:rPr>
              <a:t>, para que puedas seguir practicando.</a:t>
            </a:r>
            <a:endParaRPr sz="2000">
              <a:solidFill>
                <a:schemeClr val="lt1"/>
              </a:solidFill>
              <a:latin typeface="DM Sans"/>
              <a:ea typeface="DM Sans"/>
              <a:cs typeface="DM Sans"/>
              <a:sym typeface="DM Sans"/>
            </a:endParaRPr>
          </a:p>
          <a:p>
            <a:pPr indent="-355600" lvl="0" marL="457200" rtl="0" algn="l">
              <a:spcBef>
                <a:spcPts val="0"/>
              </a:spcBef>
              <a:spcAft>
                <a:spcPts val="0"/>
              </a:spcAft>
              <a:buClr>
                <a:srgbClr val="EAFF6A"/>
              </a:buClr>
              <a:buSzPts val="2000"/>
              <a:buFont typeface="DM Sans"/>
              <a:buChar char="●"/>
            </a:pPr>
            <a:r>
              <a:rPr b="1" lang="es" sz="2000" u="sng">
                <a:solidFill>
                  <a:schemeClr val="hlink"/>
                </a:solidFill>
                <a:latin typeface="DM Sans"/>
                <a:ea typeface="DM Sans"/>
                <a:cs typeface="DM Sans"/>
                <a:sym typeface="DM Sans"/>
                <a:hlinkClick r:id="rId6"/>
              </a:rPr>
              <a:t>Errores frecuentes</a:t>
            </a:r>
            <a:r>
              <a:rPr lang="es" sz="2000">
                <a:solidFill>
                  <a:schemeClr val="lt1"/>
                </a:solidFill>
                <a:latin typeface="DM Sans"/>
                <a:ea typeface="DM Sans"/>
                <a:cs typeface="DM Sans"/>
                <a:sym typeface="DM Sans"/>
              </a:rPr>
              <a:t>, para que puedas evitarlos en tu Proyecto final.</a:t>
            </a:r>
            <a:endParaRPr sz="2200">
              <a:solidFill>
                <a:schemeClr val="lt1"/>
              </a:solidFill>
              <a:latin typeface="DM Sans"/>
              <a:ea typeface="DM Sans"/>
              <a:cs typeface="DM Sans"/>
              <a:sym typeface="DM Sans"/>
            </a:endParaRPr>
          </a:p>
          <a:p>
            <a:pPr indent="0" lvl="0" marL="0" rtl="0" algn="l">
              <a:spcBef>
                <a:spcPts val="0"/>
              </a:spcBef>
              <a:spcAft>
                <a:spcPts val="0"/>
              </a:spcAft>
              <a:buNone/>
            </a:pPr>
            <a:r>
              <a:rPr lang="es" sz="1600">
                <a:solidFill>
                  <a:schemeClr val="lt1"/>
                </a:solidFill>
                <a:latin typeface="DM Sans"/>
                <a:ea typeface="DM Sans"/>
                <a:cs typeface="DM Sans"/>
                <a:sym typeface="DM Sans"/>
              </a:rPr>
              <a:t>*La resolución de ambas guías es optativa, pero te sugerimos que realices las actividades para fortalecer tus conocimientos.</a:t>
            </a:r>
            <a:endParaRPr sz="1600">
              <a:solidFill>
                <a:schemeClr val="lt1"/>
              </a:solidFill>
              <a:latin typeface="DM Sans"/>
              <a:ea typeface="DM Sans"/>
              <a:cs typeface="DM Sans"/>
              <a:sym typeface="DM Sans"/>
            </a:endParaRPr>
          </a:p>
        </p:txBody>
      </p:sp>
      <p:sp>
        <p:nvSpPr>
          <p:cNvPr id="64" name="Google Shape;64;p16"/>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1" lang="es" sz="4000">
                <a:solidFill>
                  <a:srgbClr val="EAFF6A"/>
                </a:solidFill>
                <a:latin typeface="DM Sans"/>
                <a:ea typeface="DM Sans"/>
                <a:cs typeface="DM Sans"/>
                <a:sym typeface="DM Sans"/>
              </a:rPr>
              <a:t>A tener en cuenta</a:t>
            </a:r>
            <a:endParaRPr b="1" i="0" sz="4000" u="none" cap="none" strike="noStrike">
              <a:solidFill>
                <a:srgbClr val="EAFF6A"/>
              </a:solidFill>
              <a:latin typeface="DM Sans"/>
              <a:ea typeface="DM Sans"/>
              <a:cs typeface="DM Sans"/>
              <a:sym typeface="DM Sans"/>
            </a:endParaRPr>
          </a:p>
        </p:txBody>
      </p:sp>
      <p:sp>
        <p:nvSpPr>
          <p:cNvPr id="65" name="Google Shape;65;p16"/>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lt1"/>
                </a:solidFill>
                <a:latin typeface="DM Sans"/>
                <a:ea typeface="DM Sans"/>
                <a:cs typeface="DM Sans"/>
                <a:sym typeface="DM Sans"/>
              </a:rPr>
              <a:t>PARA RECORDAR</a:t>
            </a:r>
            <a:endParaRPr b="0" i="0" sz="1400" u="none" cap="none" strike="noStrike">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7"/>
          <p:cNvSpPr txBox="1"/>
          <p:nvPr/>
        </p:nvSpPr>
        <p:spPr>
          <a:xfrm>
            <a:off x="1461300" y="2252975"/>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JSX transpiling y Componentes</a:t>
            </a:r>
            <a:endParaRPr b="1" sz="4000">
              <a:solidFill>
                <a:srgbClr val="EAFF6A"/>
              </a:solidFill>
              <a:latin typeface="DM Sans"/>
              <a:ea typeface="DM Sans"/>
              <a:cs typeface="DM Sans"/>
              <a:sym typeface="DM Sans"/>
            </a:endParaRPr>
          </a:p>
        </p:txBody>
      </p:sp>
      <p:sp>
        <p:nvSpPr>
          <p:cNvPr id="71" name="Google Shape;71;p17"/>
          <p:cNvSpPr txBox="1"/>
          <p:nvPr/>
        </p:nvSpPr>
        <p:spPr>
          <a:xfrm>
            <a:off x="1461300" y="1665250"/>
            <a:ext cx="622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chemeClr val="lt1"/>
                </a:solidFill>
                <a:latin typeface="DM Sans"/>
                <a:ea typeface="DM Sans"/>
                <a:cs typeface="DM Sans"/>
                <a:sym typeface="DM Sans"/>
              </a:rPr>
              <a:t>Unidad 2</a:t>
            </a:r>
            <a:r>
              <a:rPr b="1" lang="es" sz="1800">
                <a:solidFill>
                  <a:schemeClr val="lt1"/>
                </a:solidFill>
                <a:latin typeface="DM Sans"/>
                <a:ea typeface="DM Sans"/>
                <a:cs typeface="DM Sans"/>
                <a:sym typeface="DM Sans"/>
              </a:rPr>
              <a:t>.</a:t>
            </a:r>
            <a:r>
              <a:rPr lang="es" sz="1800">
                <a:solidFill>
                  <a:schemeClr val="lt1"/>
                </a:solidFill>
                <a:latin typeface="DM Sans"/>
                <a:ea typeface="DM Sans"/>
                <a:cs typeface="DM Sans"/>
                <a:sym typeface="DM Sans"/>
              </a:rPr>
              <a:t> REACT JS</a:t>
            </a:r>
            <a:endParaRPr sz="1600">
              <a:solidFill>
                <a:schemeClr val="lt1"/>
              </a:solidFill>
              <a:latin typeface="DM Sans"/>
              <a:ea typeface="DM Sans"/>
              <a:cs typeface="DM Sans"/>
              <a:sym typeface="DM Sans"/>
            </a:endParaRPr>
          </a:p>
        </p:txBody>
      </p:sp>
      <p:pic>
        <p:nvPicPr>
          <p:cNvPr id="72" name="Google Shape;72;p17"/>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8"/>
          <p:cNvSpPr txBox="1"/>
          <p:nvPr/>
        </p:nvSpPr>
        <p:spPr>
          <a:xfrm>
            <a:off x="501450" y="468275"/>
            <a:ext cx="81411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000">
                <a:solidFill>
                  <a:srgbClr val="EAFF6A"/>
                </a:solidFill>
                <a:latin typeface="DM Sans"/>
                <a:ea typeface="DM Sans"/>
                <a:cs typeface="DM Sans"/>
                <a:sym typeface="DM Sans"/>
              </a:rPr>
              <a:t>Objetivos de la clase</a:t>
            </a:r>
            <a:r>
              <a:rPr b="1" lang="es" sz="3000">
                <a:solidFill>
                  <a:srgbClr val="EAFF6A"/>
                </a:solidFill>
                <a:latin typeface="DM Sans"/>
                <a:ea typeface="DM Sans"/>
                <a:cs typeface="DM Sans"/>
                <a:sym typeface="DM Sans"/>
              </a:rPr>
              <a:t> </a:t>
            </a:r>
            <a:endParaRPr b="1" sz="3000">
              <a:solidFill>
                <a:srgbClr val="EAFF6A"/>
              </a:solidFill>
              <a:latin typeface="DM Sans"/>
              <a:ea typeface="DM Sans"/>
              <a:cs typeface="DM Sans"/>
              <a:sym typeface="DM Sans"/>
            </a:endParaRPr>
          </a:p>
        </p:txBody>
      </p:sp>
      <p:pic>
        <p:nvPicPr>
          <p:cNvPr id="78" name="Google Shape;78;p18"/>
          <p:cNvPicPr preferRelativeResize="0"/>
          <p:nvPr/>
        </p:nvPicPr>
        <p:blipFill>
          <a:blip r:embed="rId3">
            <a:alphaModFix/>
          </a:blip>
          <a:stretch>
            <a:fillRect/>
          </a:stretch>
        </p:blipFill>
        <p:spPr>
          <a:xfrm>
            <a:off x="2172438" y="1545313"/>
            <a:ext cx="196975" cy="196975"/>
          </a:xfrm>
          <a:prstGeom prst="rect">
            <a:avLst/>
          </a:prstGeom>
          <a:noFill/>
          <a:ln>
            <a:noFill/>
          </a:ln>
        </p:spPr>
      </p:pic>
      <p:sp>
        <p:nvSpPr>
          <p:cNvPr id="79" name="Google Shape;79;p18"/>
          <p:cNvSpPr txBox="1"/>
          <p:nvPr/>
        </p:nvSpPr>
        <p:spPr>
          <a:xfrm>
            <a:off x="2690561" y="145161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lt1"/>
                </a:solidFill>
                <a:latin typeface="DM Sans"/>
                <a:ea typeface="DM Sans"/>
                <a:cs typeface="DM Sans"/>
                <a:sym typeface="DM Sans"/>
              </a:rPr>
              <a:t>Entender </a:t>
            </a:r>
            <a:r>
              <a:rPr lang="es" sz="1350">
                <a:solidFill>
                  <a:schemeClr val="lt1"/>
                </a:solidFill>
                <a:latin typeface="DM Sans"/>
                <a:ea typeface="DM Sans"/>
                <a:cs typeface="DM Sans"/>
                <a:sym typeface="DM Sans"/>
              </a:rPr>
              <a:t>las aristas del sugar syntax como proceso evolutivo de los lenguajes.</a:t>
            </a:r>
            <a:endParaRPr sz="1350">
              <a:solidFill>
                <a:schemeClr val="lt1"/>
              </a:solidFill>
              <a:latin typeface="DM Sans"/>
              <a:ea typeface="DM Sans"/>
              <a:cs typeface="DM Sans"/>
              <a:sym typeface="DM Sans"/>
            </a:endParaRPr>
          </a:p>
        </p:txBody>
      </p:sp>
      <p:pic>
        <p:nvPicPr>
          <p:cNvPr id="80" name="Google Shape;80;p18"/>
          <p:cNvPicPr preferRelativeResize="0"/>
          <p:nvPr/>
        </p:nvPicPr>
        <p:blipFill>
          <a:blip r:embed="rId3">
            <a:alphaModFix/>
          </a:blip>
          <a:stretch>
            <a:fillRect/>
          </a:stretch>
        </p:blipFill>
        <p:spPr>
          <a:xfrm>
            <a:off x="2172138" y="2178713"/>
            <a:ext cx="196975" cy="196975"/>
          </a:xfrm>
          <a:prstGeom prst="rect">
            <a:avLst/>
          </a:prstGeom>
          <a:noFill/>
          <a:ln>
            <a:noFill/>
          </a:ln>
        </p:spPr>
      </p:pic>
      <p:sp>
        <p:nvSpPr>
          <p:cNvPr id="81" name="Google Shape;81;p18"/>
          <p:cNvSpPr txBox="1"/>
          <p:nvPr/>
        </p:nvSpPr>
        <p:spPr>
          <a:xfrm>
            <a:off x="2690561" y="205473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Desarrollar </a:t>
            </a:r>
            <a:r>
              <a:rPr lang="es" sz="1350">
                <a:solidFill>
                  <a:schemeClr val="lt1"/>
                </a:solidFill>
                <a:latin typeface="DM Sans"/>
                <a:ea typeface="DM Sans"/>
                <a:cs typeface="DM Sans"/>
                <a:sym typeface="DM Sans"/>
              </a:rPr>
              <a:t>código en JSX.</a:t>
            </a:r>
            <a:endParaRPr sz="1350">
              <a:solidFill>
                <a:schemeClr val="lt1"/>
              </a:solidFill>
              <a:latin typeface="DM Sans"/>
              <a:ea typeface="DM Sans"/>
              <a:cs typeface="DM Sans"/>
              <a:sym typeface="DM Sans"/>
            </a:endParaRPr>
          </a:p>
        </p:txBody>
      </p:sp>
      <p:pic>
        <p:nvPicPr>
          <p:cNvPr id="82" name="Google Shape;82;p18"/>
          <p:cNvPicPr preferRelativeResize="0"/>
          <p:nvPr/>
        </p:nvPicPr>
        <p:blipFill>
          <a:blip r:embed="rId3">
            <a:alphaModFix/>
          </a:blip>
          <a:stretch>
            <a:fillRect/>
          </a:stretch>
        </p:blipFill>
        <p:spPr>
          <a:xfrm>
            <a:off x="2172138" y="2832688"/>
            <a:ext cx="196975" cy="196975"/>
          </a:xfrm>
          <a:prstGeom prst="rect">
            <a:avLst/>
          </a:prstGeom>
          <a:noFill/>
          <a:ln>
            <a:noFill/>
          </a:ln>
        </p:spPr>
      </p:pic>
      <p:sp>
        <p:nvSpPr>
          <p:cNvPr id="83" name="Google Shape;83;p18"/>
          <p:cNvSpPr txBox="1"/>
          <p:nvPr/>
        </p:nvSpPr>
        <p:spPr>
          <a:xfrm>
            <a:off x="2690561" y="273496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Comprender qué son los componentes y qué problemas resuelven.</a:t>
            </a:r>
            <a:endParaRPr b="1" sz="1350">
              <a:solidFill>
                <a:schemeClr val="lt1"/>
              </a:solidFill>
              <a:latin typeface="DM Sans"/>
              <a:ea typeface="DM Sans"/>
              <a:cs typeface="DM Sans"/>
              <a:sym typeface="DM Sans"/>
            </a:endParaRPr>
          </a:p>
        </p:txBody>
      </p:sp>
      <p:pic>
        <p:nvPicPr>
          <p:cNvPr id="84" name="Google Shape;84;p18"/>
          <p:cNvPicPr preferRelativeResize="0"/>
          <p:nvPr/>
        </p:nvPicPr>
        <p:blipFill>
          <a:blip r:embed="rId3">
            <a:alphaModFix/>
          </a:blip>
          <a:stretch>
            <a:fillRect/>
          </a:stretch>
        </p:blipFill>
        <p:spPr>
          <a:xfrm>
            <a:off x="2172138" y="3523338"/>
            <a:ext cx="196975" cy="196975"/>
          </a:xfrm>
          <a:prstGeom prst="rect">
            <a:avLst/>
          </a:prstGeom>
          <a:noFill/>
          <a:ln>
            <a:noFill/>
          </a:ln>
        </p:spPr>
      </p:pic>
      <p:sp>
        <p:nvSpPr>
          <p:cNvPr id="85" name="Google Shape;85;p18"/>
          <p:cNvSpPr txBox="1"/>
          <p:nvPr/>
        </p:nvSpPr>
        <p:spPr>
          <a:xfrm>
            <a:off x="2690550" y="341518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 Implementar los componentes vistos.</a:t>
            </a:r>
            <a:endParaRPr b="1" sz="1350">
              <a:solidFill>
                <a:schemeClr val="lt1"/>
              </a:solidFill>
              <a:latin typeface="DM Sans"/>
              <a:ea typeface="DM Sans"/>
              <a:cs typeface="DM Sans"/>
              <a:sym typeface="DM Sans"/>
            </a:endParaRPr>
          </a:p>
        </p:txBody>
      </p:sp>
      <p:cxnSp>
        <p:nvCxnSpPr>
          <p:cNvPr id="86" name="Google Shape;86;p18"/>
          <p:cNvCxnSpPr>
            <a:stCxn id="78" idx="2"/>
            <a:endCxn id="80" idx="0"/>
          </p:cNvCxnSpPr>
          <p:nvPr/>
        </p:nvCxnSpPr>
        <p:spPr>
          <a:xfrm flipH="1" rot="-5400000">
            <a:off x="2052975" y="1960237"/>
            <a:ext cx="436500" cy="600"/>
          </a:xfrm>
          <a:prstGeom prst="bentConnector3">
            <a:avLst>
              <a:gd fmla="val 49991" name="adj1"/>
            </a:avLst>
          </a:prstGeom>
          <a:noFill/>
          <a:ln cap="flat" cmpd="sng" w="9525">
            <a:solidFill>
              <a:srgbClr val="EAFF6A"/>
            </a:solidFill>
            <a:prstDash val="solid"/>
            <a:round/>
            <a:headEnd len="med" w="med" type="none"/>
            <a:tailEnd len="med" w="med" type="none"/>
          </a:ln>
        </p:spPr>
      </p:cxnSp>
      <p:cxnSp>
        <p:nvCxnSpPr>
          <p:cNvPr id="87" name="Google Shape;87;p18"/>
          <p:cNvCxnSpPr>
            <a:stCxn id="80" idx="2"/>
            <a:endCxn id="82" idx="0"/>
          </p:cNvCxnSpPr>
          <p:nvPr/>
        </p:nvCxnSpPr>
        <p:spPr>
          <a:xfrm flipH="1" rot="-5400000">
            <a:off x="2042475" y="2603837"/>
            <a:ext cx="456900" cy="600"/>
          </a:xfrm>
          <a:prstGeom prst="bentConnector3">
            <a:avLst>
              <a:gd fmla="val 50011" name="adj1"/>
            </a:avLst>
          </a:prstGeom>
          <a:noFill/>
          <a:ln cap="flat" cmpd="sng" w="9525">
            <a:solidFill>
              <a:srgbClr val="EAFF6A"/>
            </a:solidFill>
            <a:prstDash val="solid"/>
            <a:round/>
            <a:headEnd len="med" w="med" type="none"/>
            <a:tailEnd len="med" w="med" type="none"/>
          </a:ln>
        </p:spPr>
      </p:cxnSp>
      <p:cxnSp>
        <p:nvCxnSpPr>
          <p:cNvPr id="88" name="Google Shape;88;p18"/>
          <p:cNvCxnSpPr>
            <a:stCxn id="82" idx="2"/>
            <a:endCxn id="84" idx="0"/>
          </p:cNvCxnSpPr>
          <p:nvPr/>
        </p:nvCxnSpPr>
        <p:spPr>
          <a:xfrm flipH="1" rot="-5400000">
            <a:off x="2024025" y="3276262"/>
            <a:ext cx="493800" cy="600"/>
          </a:xfrm>
          <a:prstGeom prst="bentConnector3">
            <a:avLst>
              <a:gd fmla="val 49987" name="adj1"/>
            </a:avLst>
          </a:prstGeom>
          <a:noFill/>
          <a:ln cap="flat" cmpd="sng" w="9525">
            <a:solidFill>
              <a:srgbClr val="EAFF6A"/>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94" name="Google Shape;94;p19"/>
          <p:cNvSpPr txBox="1"/>
          <p:nvPr/>
        </p:nvSpPr>
        <p:spPr>
          <a:xfrm>
            <a:off x="475500" y="2335725"/>
            <a:ext cx="4214700" cy="18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latin typeface="DM Sans"/>
                <a:ea typeface="DM Sans"/>
                <a:cs typeface="DM Sans"/>
                <a:sym typeface="DM Sans"/>
              </a:rPr>
              <a:t>Sugar Syntax</a:t>
            </a:r>
            <a:r>
              <a:rPr lang="es" sz="1350">
                <a:latin typeface="DM Sans"/>
                <a:ea typeface="DM Sans"/>
                <a:cs typeface="DM Sans"/>
                <a:sym typeface="DM Sans"/>
              </a:rPr>
              <a:t> se refiere a la adición de sintaxis en los lenguajes de programación para facilitar su uso. El Sugar Syntax permite expresiones más concisas, como reemplazar "i = i + 1" por "i++".</a:t>
            </a:r>
            <a:endParaRPr sz="1350">
              <a:latin typeface="DM Sans"/>
              <a:ea typeface="DM Sans"/>
              <a:cs typeface="DM Sans"/>
              <a:sym typeface="DM Sans"/>
            </a:endParaRPr>
          </a:p>
          <a:p>
            <a:pPr indent="0" lvl="0" marL="0" rtl="0" algn="l">
              <a:lnSpc>
                <a:spcPct val="115000"/>
              </a:lnSpc>
              <a:spcBef>
                <a:spcPts val="0"/>
              </a:spcBef>
              <a:spcAft>
                <a:spcPts val="0"/>
              </a:spcAft>
              <a:buNone/>
            </a:pPr>
            <a:r>
              <a:rPr lang="es" sz="1350">
                <a:latin typeface="DM Sans"/>
                <a:ea typeface="DM Sans"/>
                <a:cs typeface="DM Sans"/>
                <a:sym typeface="DM Sans"/>
              </a:rPr>
              <a:t>Al utilizar los patrones y sugars adecuados, podemos mejorar la legibilidad y pragmatismo de nuestro código.</a:t>
            </a:r>
            <a:endParaRPr b="1" sz="1350">
              <a:latin typeface="DM Sans"/>
              <a:ea typeface="DM Sans"/>
              <a:cs typeface="DM Sans"/>
              <a:sym typeface="DM Sans"/>
            </a:endParaRPr>
          </a:p>
        </p:txBody>
      </p:sp>
      <p:pic>
        <p:nvPicPr>
          <p:cNvPr id="95" name="Google Shape;95;p19"/>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96" name="Google Shape;96;p19"/>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97" name="Google Shape;97;p19"/>
          <p:cNvSpPr txBox="1"/>
          <p:nvPr/>
        </p:nvSpPr>
        <p:spPr>
          <a:xfrm>
            <a:off x="475500" y="9710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Sugar Syntax </a:t>
            </a:r>
            <a:endParaRPr b="1" sz="40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nvSpPr>
        <p:spPr>
          <a:xfrm>
            <a:off x="236400" y="971050"/>
            <a:ext cx="5327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Retrocompatibilidad </a:t>
            </a:r>
            <a:endParaRPr b="1" sz="4000">
              <a:solidFill>
                <a:schemeClr val="dk1"/>
              </a:solidFill>
              <a:latin typeface="DM Sans"/>
              <a:ea typeface="DM Sans"/>
              <a:cs typeface="DM Sans"/>
              <a:sym typeface="DM Sans"/>
            </a:endParaRPr>
          </a:p>
        </p:txBody>
      </p:sp>
      <p:pic>
        <p:nvPicPr>
          <p:cNvPr id="103" name="Google Shape;103;p20"/>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04" name="Google Shape;104;p20"/>
          <p:cNvSpPr txBox="1"/>
          <p:nvPr/>
        </p:nvSpPr>
        <p:spPr>
          <a:xfrm>
            <a:off x="475500" y="2515575"/>
            <a:ext cx="5088600" cy="158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La </a:t>
            </a:r>
            <a:r>
              <a:rPr b="1" lang="es" sz="1350">
                <a:latin typeface="DM Sans"/>
                <a:ea typeface="DM Sans"/>
                <a:cs typeface="DM Sans"/>
                <a:sym typeface="DM Sans"/>
              </a:rPr>
              <a:t>retrocompatibilidad </a:t>
            </a:r>
            <a:r>
              <a:rPr lang="es" sz="1350">
                <a:latin typeface="DM Sans"/>
                <a:ea typeface="DM Sans"/>
                <a:cs typeface="DM Sans"/>
                <a:sym typeface="DM Sans"/>
              </a:rPr>
              <a:t>es importante para que las aplicaciones web funcionen en versiones anteriores de navegadores. El uso de polyfills permite que las aplicaciones sean compatibles con navegadores antiguos, funcionando como "parches" de código que se ejecutan cuando el navegador no admite una funcionalidad de forma nativa.</a:t>
            </a:r>
            <a:endParaRPr b="1" sz="1350">
              <a:latin typeface="DM Sans"/>
              <a:ea typeface="DM Sans"/>
              <a:cs typeface="DM Sans"/>
              <a:sym typeface="DM Sans"/>
            </a:endParaRPr>
          </a:p>
        </p:txBody>
      </p:sp>
      <p:pic>
        <p:nvPicPr>
          <p:cNvPr id="105" name="Google Shape;105;p20"/>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06" name="Google Shape;106;p20"/>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nvSpPr>
        <p:spPr>
          <a:xfrm>
            <a:off x="475500" y="9710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Webpack </a:t>
            </a:r>
            <a:endParaRPr b="1" sz="4000">
              <a:solidFill>
                <a:schemeClr val="dk1"/>
              </a:solidFill>
              <a:latin typeface="DM Sans"/>
              <a:ea typeface="DM Sans"/>
              <a:cs typeface="DM Sans"/>
              <a:sym typeface="DM Sans"/>
            </a:endParaRPr>
          </a:p>
        </p:txBody>
      </p:sp>
      <p:pic>
        <p:nvPicPr>
          <p:cNvPr id="112" name="Google Shape;112;p21"/>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13" name="Google Shape;113;p21"/>
          <p:cNvSpPr txBox="1"/>
          <p:nvPr/>
        </p:nvSpPr>
        <p:spPr>
          <a:xfrm>
            <a:off x="475500" y="2515575"/>
            <a:ext cx="5088600" cy="243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a:latin typeface="DM Sans"/>
                <a:ea typeface="DM Sans"/>
                <a:cs typeface="DM Sans"/>
                <a:sym typeface="DM Sans"/>
              </a:rPr>
              <a:t>Webpack </a:t>
            </a:r>
            <a:r>
              <a:rPr lang="es">
                <a:latin typeface="DM Sans"/>
                <a:ea typeface="DM Sans"/>
                <a:cs typeface="DM Sans"/>
                <a:sym typeface="DM Sans"/>
              </a:rPr>
              <a:t>es un </a:t>
            </a:r>
            <a:r>
              <a:rPr b="1" lang="es">
                <a:latin typeface="DM Sans"/>
                <a:ea typeface="DM Sans"/>
                <a:cs typeface="DM Sans"/>
                <a:sym typeface="DM Sans"/>
              </a:rPr>
              <a:t>empaquetador de módulos</a:t>
            </a:r>
            <a:r>
              <a:rPr lang="es">
                <a:latin typeface="DM Sans"/>
                <a:ea typeface="DM Sans"/>
                <a:cs typeface="DM Sans"/>
                <a:sym typeface="DM Sans"/>
              </a:rPr>
              <a:t> que funciona recopilando y transformando archivos JS, imágenes y CSS en assets comprensibles por el navegador. </a:t>
            </a:r>
            <a:endParaRPr>
              <a:latin typeface="DM Sans"/>
              <a:ea typeface="DM Sans"/>
              <a:cs typeface="DM Sans"/>
              <a:sym typeface="DM Sans"/>
            </a:endParaRPr>
          </a:p>
          <a:p>
            <a:pPr indent="0" lvl="0" marL="0" rtl="0" algn="l">
              <a:spcBef>
                <a:spcPts val="0"/>
              </a:spcBef>
              <a:spcAft>
                <a:spcPts val="0"/>
              </a:spcAft>
              <a:buNone/>
            </a:pPr>
            <a:r>
              <a:rPr b="1" lang="es">
                <a:solidFill>
                  <a:schemeClr val="dk1"/>
                </a:solidFill>
                <a:latin typeface="DM Sans"/>
                <a:ea typeface="DM Sans"/>
                <a:cs typeface="DM Sans"/>
                <a:sym typeface="DM Sans"/>
              </a:rPr>
              <a:t>Transpiling </a:t>
            </a:r>
            <a:r>
              <a:rPr lang="es">
                <a:solidFill>
                  <a:schemeClr val="dk1"/>
                </a:solidFill>
                <a:latin typeface="DM Sans"/>
                <a:ea typeface="DM Sans"/>
                <a:cs typeface="DM Sans"/>
                <a:sym typeface="DM Sans"/>
              </a:rPr>
              <a:t>es el</a:t>
            </a:r>
            <a:r>
              <a:rPr b="1" lang="es">
                <a:solidFill>
                  <a:schemeClr val="dk1"/>
                </a:solidFill>
                <a:latin typeface="DM Sans"/>
                <a:ea typeface="DM Sans"/>
                <a:cs typeface="DM Sans"/>
                <a:sym typeface="DM Sans"/>
              </a:rPr>
              <a:t> </a:t>
            </a:r>
            <a:r>
              <a:rPr lang="es">
                <a:solidFill>
                  <a:schemeClr val="dk1"/>
                </a:solidFill>
                <a:latin typeface="DM Sans"/>
                <a:ea typeface="DM Sans"/>
                <a:cs typeface="DM Sans"/>
                <a:sym typeface="DM Sans"/>
              </a:rPr>
              <a:t>proceso de </a:t>
            </a:r>
            <a:r>
              <a:rPr b="1" lang="es">
                <a:solidFill>
                  <a:schemeClr val="dk1"/>
                </a:solidFill>
                <a:latin typeface="DM Sans"/>
                <a:ea typeface="DM Sans"/>
                <a:cs typeface="DM Sans"/>
                <a:sym typeface="DM Sans"/>
              </a:rPr>
              <a:t>convertir código</a:t>
            </a:r>
            <a:r>
              <a:rPr lang="es">
                <a:solidFill>
                  <a:schemeClr val="dk1"/>
                </a:solidFill>
                <a:latin typeface="DM Sans"/>
                <a:ea typeface="DM Sans"/>
                <a:cs typeface="DM Sans"/>
                <a:sym typeface="DM Sans"/>
              </a:rPr>
              <a:t> escrito en un lenguaje, a su representación en otro lenguaje.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JSX </a:t>
            </a:r>
            <a:r>
              <a:rPr lang="es">
                <a:solidFill>
                  <a:schemeClr val="dk1"/>
                </a:solidFill>
                <a:latin typeface="DM Sans"/>
                <a:ea typeface="DM Sans"/>
                <a:cs typeface="DM Sans"/>
                <a:sym typeface="DM Sans"/>
              </a:rPr>
              <a:t>es la sintaxis que utilizamos en React para representar de forma simple la interfaz de nuestros componentes, combinando la sintaxis familiar de HTML con las ventajas de JavaScript.</a:t>
            </a:r>
            <a:endParaRPr>
              <a:latin typeface="DM Sans"/>
              <a:ea typeface="DM Sans"/>
              <a:cs typeface="DM Sans"/>
              <a:sym typeface="DM Sans"/>
            </a:endParaRPr>
          </a:p>
          <a:p>
            <a:pPr indent="0" lvl="0" marL="0" rtl="0" algn="l">
              <a:lnSpc>
                <a:spcPct val="115000"/>
              </a:lnSpc>
              <a:spcBef>
                <a:spcPts val="0"/>
              </a:spcBef>
              <a:spcAft>
                <a:spcPts val="0"/>
              </a:spcAft>
              <a:buNone/>
            </a:pPr>
            <a:r>
              <a:t/>
            </a:r>
            <a:endParaRPr>
              <a:latin typeface="DM Sans"/>
              <a:ea typeface="DM Sans"/>
              <a:cs typeface="DM Sans"/>
              <a:sym typeface="DM Sans"/>
            </a:endParaRPr>
          </a:p>
        </p:txBody>
      </p:sp>
      <p:pic>
        <p:nvPicPr>
          <p:cNvPr id="114" name="Google Shape;114;p21"/>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15" name="Google Shape;115;p21"/>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nvSpPr>
        <p:spPr>
          <a:xfrm>
            <a:off x="475500" y="9710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Componentes</a:t>
            </a:r>
            <a:endParaRPr b="1" sz="4000">
              <a:solidFill>
                <a:schemeClr val="dk1"/>
              </a:solidFill>
              <a:latin typeface="DM Sans"/>
              <a:ea typeface="DM Sans"/>
              <a:cs typeface="DM Sans"/>
              <a:sym typeface="DM Sans"/>
            </a:endParaRPr>
          </a:p>
        </p:txBody>
      </p:sp>
      <p:pic>
        <p:nvPicPr>
          <p:cNvPr id="121" name="Google Shape;121;p22"/>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22" name="Google Shape;122;p22"/>
          <p:cNvSpPr txBox="1"/>
          <p:nvPr/>
        </p:nvSpPr>
        <p:spPr>
          <a:xfrm>
            <a:off x="475500" y="2515575"/>
            <a:ext cx="5088600" cy="158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Un </a:t>
            </a:r>
            <a:r>
              <a:rPr b="1" lang="es" sz="1350">
                <a:latin typeface="DM Sans"/>
                <a:ea typeface="DM Sans"/>
                <a:cs typeface="DM Sans"/>
                <a:sym typeface="DM Sans"/>
              </a:rPr>
              <a:t>componente </a:t>
            </a:r>
            <a:r>
              <a:rPr lang="es" sz="1350">
                <a:latin typeface="DM Sans"/>
                <a:ea typeface="DM Sans"/>
                <a:cs typeface="DM Sans"/>
                <a:sym typeface="DM Sans"/>
              </a:rPr>
              <a:t>en React es una pieza de la interfaz de usuario. En concreto, serán funciones que retornan código JSX/HTML a mostrar en el DOM. Las </a:t>
            </a:r>
            <a:r>
              <a:rPr b="1" lang="es" sz="1350">
                <a:latin typeface="DM Sans"/>
                <a:ea typeface="DM Sans"/>
                <a:cs typeface="DM Sans"/>
                <a:sym typeface="DM Sans"/>
              </a:rPr>
              <a:t>props </a:t>
            </a:r>
            <a:r>
              <a:rPr lang="es" sz="1350">
                <a:latin typeface="DM Sans"/>
                <a:ea typeface="DM Sans"/>
                <a:cs typeface="DM Sans"/>
                <a:sym typeface="DM Sans"/>
              </a:rPr>
              <a:t>se utilizan para pasar datos de un componente padre a un hijo, permitiendo la reutilización y personalización de los componentes en diferentes partes de la aplicación.</a:t>
            </a:r>
            <a:endParaRPr b="1" sz="1350">
              <a:latin typeface="DM Sans"/>
              <a:ea typeface="DM Sans"/>
              <a:cs typeface="DM Sans"/>
              <a:sym typeface="DM Sans"/>
            </a:endParaRPr>
          </a:p>
        </p:txBody>
      </p:sp>
      <p:pic>
        <p:nvPicPr>
          <p:cNvPr id="123" name="Google Shape;123;p22"/>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24" name="Google Shape;124;p22"/>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nvSpPr>
        <p:spPr>
          <a:xfrm>
            <a:off x="475500" y="11078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Hook</a:t>
            </a:r>
            <a:endParaRPr b="1" sz="4000">
              <a:solidFill>
                <a:schemeClr val="dk1"/>
              </a:solidFill>
              <a:latin typeface="DM Sans"/>
              <a:ea typeface="DM Sans"/>
              <a:cs typeface="DM Sans"/>
              <a:sym typeface="DM Sans"/>
            </a:endParaRPr>
          </a:p>
        </p:txBody>
      </p:sp>
      <p:pic>
        <p:nvPicPr>
          <p:cNvPr id="130" name="Google Shape;130;p23"/>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31" name="Google Shape;131;p23"/>
          <p:cNvSpPr txBox="1"/>
          <p:nvPr/>
        </p:nvSpPr>
        <p:spPr>
          <a:xfrm>
            <a:off x="475500" y="2515575"/>
            <a:ext cx="5088600" cy="110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Un </a:t>
            </a:r>
            <a:r>
              <a:rPr b="1" lang="es" sz="1350">
                <a:latin typeface="DM Sans"/>
                <a:ea typeface="DM Sans"/>
                <a:cs typeface="DM Sans"/>
                <a:sym typeface="DM Sans"/>
              </a:rPr>
              <a:t>hook </a:t>
            </a:r>
            <a:r>
              <a:rPr lang="es" sz="1350">
                <a:latin typeface="DM Sans"/>
                <a:ea typeface="DM Sans"/>
                <a:cs typeface="DM Sans"/>
                <a:sym typeface="DM Sans"/>
              </a:rPr>
              <a:t>en React es una función especial que permite agregar características y funcionalidades a los componentes de función, como el manejo de estados, efectos y contexto, simplificando el desarrollo y reutilización del código.</a:t>
            </a:r>
            <a:endParaRPr b="1" sz="1350">
              <a:latin typeface="DM Sans"/>
              <a:ea typeface="DM Sans"/>
              <a:cs typeface="DM Sans"/>
              <a:sym typeface="DM Sans"/>
            </a:endParaRPr>
          </a:p>
        </p:txBody>
      </p:sp>
      <p:pic>
        <p:nvPicPr>
          <p:cNvPr id="132" name="Google Shape;132;p23"/>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33" name="Google Shape;133;p23"/>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nvSpPr>
        <p:spPr>
          <a:xfrm>
            <a:off x="475500" y="971050"/>
            <a:ext cx="48495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Recuperamos el tema visto</a:t>
            </a:r>
            <a:endParaRPr b="1" sz="4000">
              <a:solidFill>
                <a:schemeClr val="dk1"/>
              </a:solidFill>
              <a:latin typeface="DM Sans"/>
              <a:ea typeface="DM Sans"/>
              <a:cs typeface="DM Sans"/>
              <a:sym typeface="DM Sans"/>
            </a:endParaRPr>
          </a:p>
        </p:txBody>
      </p:sp>
      <p:pic>
        <p:nvPicPr>
          <p:cNvPr id="139" name="Google Shape;139;p24"/>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40" name="Google Shape;140;p24"/>
          <p:cNvSpPr txBox="1"/>
          <p:nvPr/>
        </p:nvSpPr>
        <p:spPr>
          <a:xfrm>
            <a:off x="475500" y="2481750"/>
            <a:ext cx="5088600" cy="18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latin typeface="DM Sans"/>
                <a:ea typeface="DM Sans"/>
                <a:cs typeface="DM Sans"/>
                <a:sym typeface="DM Sans"/>
              </a:rPr>
              <a:t>Presentation/Container components</a:t>
            </a:r>
            <a:r>
              <a:rPr lang="es" sz="1350">
                <a:latin typeface="DM Sans"/>
                <a:ea typeface="DM Sans"/>
                <a:cs typeface="DM Sans"/>
                <a:sym typeface="DM Sans"/>
              </a:rPr>
              <a:t> es un patrón simple y muy útil en el desarrollo de aplicaciones React. En pocas palabras, los componentes </a:t>
            </a:r>
            <a:r>
              <a:rPr b="1" lang="es" sz="1350">
                <a:latin typeface="DM Sans"/>
                <a:ea typeface="DM Sans"/>
                <a:cs typeface="DM Sans"/>
                <a:sym typeface="DM Sans"/>
              </a:rPr>
              <a:t>contenedores </a:t>
            </a:r>
            <a:r>
              <a:rPr lang="es" sz="1350">
                <a:latin typeface="DM Sans"/>
                <a:ea typeface="DM Sans"/>
                <a:cs typeface="DM Sans"/>
                <a:sym typeface="DM Sans"/>
              </a:rPr>
              <a:t>se </a:t>
            </a:r>
            <a:r>
              <a:rPr lang="es" sz="1350">
                <a:latin typeface="DM Sans"/>
                <a:ea typeface="DM Sans"/>
                <a:cs typeface="DM Sans"/>
                <a:sym typeface="DM Sans"/>
              </a:rPr>
              <a:t>encargarán</a:t>
            </a:r>
            <a:r>
              <a:rPr lang="es" sz="1350">
                <a:latin typeface="DM Sans"/>
                <a:ea typeface="DM Sans"/>
                <a:cs typeface="DM Sans"/>
                <a:sym typeface="DM Sans"/>
              </a:rPr>
              <a:t> de la lógica más “pesada” y de almacenar datos en su estado, mientras que los de  </a:t>
            </a:r>
            <a:r>
              <a:rPr b="1" lang="es" sz="1350">
                <a:latin typeface="DM Sans"/>
                <a:ea typeface="DM Sans"/>
                <a:cs typeface="DM Sans"/>
                <a:sym typeface="DM Sans"/>
              </a:rPr>
              <a:t>presentación </a:t>
            </a:r>
            <a:r>
              <a:rPr lang="es" sz="1350">
                <a:latin typeface="DM Sans"/>
                <a:ea typeface="DM Sans"/>
                <a:cs typeface="DM Sans"/>
                <a:sym typeface="DM Sans"/>
              </a:rPr>
              <a:t>se ocuparán de cómo mostrar visualmente estos datos (estructura HTML, estilos, etc.)</a:t>
            </a:r>
            <a:endParaRPr b="1" sz="1350">
              <a:latin typeface="DM Sans"/>
              <a:ea typeface="DM Sans"/>
              <a:cs typeface="DM Sans"/>
              <a:sym typeface="DM Sans"/>
            </a:endParaRPr>
          </a:p>
        </p:txBody>
      </p:sp>
      <p:pic>
        <p:nvPicPr>
          <p:cNvPr id="141" name="Google Shape;141;p24"/>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42" name="Google Shape;142;p24"/>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25"/>
          <p:cNvGrpSpPr/>
          <p:nvPr/>
        </p:nvGrpSpPr>
        <p:grpSpPr>
          <a:xfrm>
            <a:off x="4202551" y="1088764"/>
            <a:ext cx="738900" cy="738974"/>
            <a:chOff x="974706" y="2467173"/>
            <a:chExt cx="738900" cy="738900"/>
          </a:xfrm>
        </p:grpSpPr>
        <p:sp>
          <p:nvSpPr>
            <p:cNvPr id="148" name="Google Shape;148;p25"/>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 name="Google Shape;149;p25"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150" name="Google Shape;150;p25"/>
          <p:cNvSpPr txBox="1"/>
          <p:nvPr/>
        </p:nvSpPr>
        <p:spPr>
          <a:xfrm>
            <a:off x="1547025" y="1925250"/>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Botón Multiuso</a:t>
            </a:r>
            <a:endParaRPr b="1" sz="4000">
              <a:solidFill>
                <a:schemeClr val="dk1"/>
              </a:solidFill>
              <a:highlight>
                <a:srgbClr val="EAFF6A"/>
              </a:highlight>
              <a:latin typeface="DM Sans"/>
              <a:ea typeface="DM Sans"/>
              <a:cs typeface="DM Sans"/>
              <a:sym typeface="DM Sans"/>
            </a:endParaRPr>
          </a:p>
        </p:txBody>
      </p:sp>
      <p:sp>
        <p:nvSpPr>
          <p:cNvPr id="151" name="Google Shape;151;p25"/>
          <p:cNvSpPr txBox="1"/>
          <p:nvPr/>
        </p:nvSpPr>
        <p:spPr>
          <a:xfrm>
            <a:off x="987300" y="32873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recuperar lo trabajado durante la semana! </a:t>
            </a:r>
            <a:endParaRPr sz="2000">
              <a:solidFill>
                <a:srgbClr val="999999"/>
              </a:solidFill>
              <a:latin typeface="DM Sans"/>
              <a:ea typeface="DM Sans"/>
              <a:cs typeface="DM Sans"/>
              <a:sym typeface="DM Sans"/>
            </a:endParaRPr>
          </a:p>
        </p:txBody>
      </p:sp>
      <p:sp>
        <p:nvSpPr>
          <p:cNvPr id="152" name="Google Shape;152;p25"/>
          <p:cNvSpPr txBox="1"/>
          <p:nvPr/>
        </p:nvSpPr>
        <p:spPr>
          <a:xfrm>
            <a:off x="987300" y="3849138"/>
            <a:ext cx="716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800">
                <a:solidFill>
                  <a:srgbClr val="83AEFB"/>
                </a:solidFill>
                <a:latin typeface="DM Sans"/>
                <a:ea typeface="DM Sans"/>
                <a:cs typeface="DM Sans"/>
                <a:sym typeface="DM Sans"/>
              </a:rPr>
              <a:t>Duración: </a:t>
            </a:r>
            <a:r>
              <a:rPr b="1" lang="es" sz="1800">
                <a:solidFill>
                  <a:srgbClr val="83AEFB"/>
                </a:solidFill>
                <a:latin typeface="DM Sans"/>
                <a:ea typeface="DM Sans"/>
                <a:cs typeface="DM Sans"/>
                <a:sym typeface="DM Sans"/>
              </a:rPr>
              <a:t>15</a:t>
            </a:r>
            <a:r>
              <a:rPr b="1" lang="es" sz="1800">
                <a:solidFill>
                  <a:srgbClr val="83AEFB"/>
                </a:solidFill>
                <a:latin typeface="DM Sans"/>
                <a:ea typeface="DM Sans"/>
                <a:cs typeface="DM Sans"/>
                <a:sym typeface="DM Sans"/>
              </a:rPr>
              <a:t> </a:t>
            </a:r>
            <a:r>
              <a:rPr b="1" lang="es" sz="1800">
                <a:solidFill>
                  <a:srgbClr val="83AEFB"/>
                </a:solidFill>
                <a:latin typeface="DM Sans"/>
                <a:ea typeface="DM Sans"/>
                <a:cs typeface="DM Sans"/>
                <a:sym typeface="DM Sans"/>
              </a:rPr>
              <a:t>minutos</a:t>
            </a:r>
            <a:r>
              <a:rPr lang="es" sz="1800">
                <a:solidFill>
                  <a:srgbClr val="83AEFB"/>
                </a:solidFill>
                <a:latin typeface="DM Sans"/>
                <a:ea typeface="DM Sans"/>
                <a:cs typeface="DM Sans"/>
                <a:sym typeface="DM Sans"/>
              </a:rPr>
              <a:t>.</a:t>
            </a:r>
            <a:endParaRPr sz="1800">
              <a:solidFill>
                <a:srgbClr val="83AEFB"/>
              </a:solidFill>
              <a:latin typeface="DM Sans"/>
              <a:ea typeface="DM Sans"/>
              <a:cs typeface="DM Sans"/>
              <a:sym typeface="DM Sans"/>
            </a:endParaRPr>
          </a:p>
        </p:txBody>
      </p:sp>
      <p:grpSp>
        <p:nvGrpSpPr>
          <p:cNvPr id="153" name="Google Shape;153;p25"/>
          <p:cNvGrpSpPr/>
          <p:nvPr/>
        </p:nvGrpSpPr>
        <p:grpSpPr>
          <a:xfrm>
            <a:off x="0" y="-7400"/>
            <a:ext cx="9143925" cy="44400"/>
            <a:chOff x="0" y="-7400"/>
            <a:chExt cx="9143925" cy="44400"/>
          </a:xfrm>
        </p:grpSpPr>
        <p:sp>
          <p:nvSpPr>
            <p:cNvPr id="154" name="Google Shape;154;p25"/>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155" name="Google Shape;155;p25"/>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26"/>
          <p:cNvSpPr/>
          <p:nvPr/>
        </p:nvSpPr>
        <p:spPr>
          <a:xfrm>
            <a:off x="539625" y="1965175"/>
            <a:ext cx="4045200" cy="19251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1" name="Google Shape;161;p26"/>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62" name="Google Shape;162;p26"/>
          <p:cNvSpPr txBox="1"/>
          <p:nvPr/>
        </p:nvSpPr>
        <p:spPr>
          <a:xfrm>
            <a:off x="469200" y="1077850"/>
            <a:ext cx="73533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500">
                <a:solidFill>
                  <a:schemeClr val="dk1"/>
                </a:solidFill>
                <a:latin typeface="DM Sans"/>
                <a:ea typeface="DM Sans"/>
                <a:cs typeface="DM Sans"/>
                <a:sym typeface="DM Sans"/>
              </a:rPr>
              <a:t>Botón Multiuso</a:t>
            </a:r>
            <a:endParaRPr b="1" sz="2500">
              <a:solidFill>
                <a:schemeClr val="dk1"/>
              </a:solidFill>
              <a:latin typeface="DM Sans"/>
              <a:ea typeface="DM Sans"/>
              <a:cs typeface="DM Sans"/>
              <a:sym typeface="DM Sans"/>
            </a:endParaRPr>
          </a:p>
        </p:txBody>
      </p:sp>
      <p:sp>
        <p:nvSpPr>
          <p:cNvPr id="163" name="Google Shape;163;p26"/>
          <p:cNvSpPr txBox="1"/>
          <p:nvPr/>
        </p:nvSpPr>
        <p:spPr>
          <a:xfrm>
            <a:off x="739475" y="2109650"/>
            <a:ext cx="3845400" cy="1563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Consigna</a:t>
            </a:r>
            <a:endParaRPr b="1" sz="1350">
              <a:latin typeface="DM Sans"/>
              <a:ea typeface="DM Sans"/>
              <a:cs typeface="DM Sans"/>
              <a:sym typeface="DM Sans"/>
            </a:endParaRPr>
          </a:p>
          <a:p>
            <a:pPr indent="0" lvl="0" marL="0" rtl="0" algn="l">
              <a:lnSpc>
                <a:spcPct val="30000"/>
              </a:lnSpc>
              <a:spcBef>
                <a:spcPts val="0"/>
              </a:spcBef>
              <a:spcAft>
                <a:spcPts val="0"/>
              </a:spcAft>
              <a:buNone/>
            </a:pPr>
            <a:r>
              <a:t/>
            </a:r>
            <a:endParaRPr b="1"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00">
                <a:solidFill>
                  <a:schemeClr val="dk1"/>
                </a:solidFill>
                <a:latin typeface="DM Sans"/>
                <a:ea typeface="DM Sans"/>
                <a:cs typeface="DM Sans"/>
                <a:sym typeface="DM Sans"/>
              </a:rPr>
              <a:t>Implementa un componente </a:t>
            </a:r>
            <a:r>
              <a:rPr b="1" lang="es" sz="1200">
                <a:solidFill>
                  <a:schemeClr val="dk1"/>
                </a:solidFill>
                <a:latin typeface="DM Sans"/>
                <a:ea typeface="DM Sans"/>
                <a:cs typeface="DM Sans"/>
                <a:sym typeface="DM Sans"/>
              </a:rPr>
              <a:t>Button </a:t>
            </a:r>
            <a:r>
              <a:rPr lang="es" sz="1200">
                <a:solidFill>
                  <a:schemeClr val="dk1"/>
                </a:solidFill>
                <a:latin typeface="DM Sans"/>
                <a:ea typeface="DM Sans"/>
                <a:cs typeface="DM Sans"/>
                <a:sym typeface="DM Sans"/>
              </a:rPr>
              <a:t>que reciba por </a:t>
            </a:r>
            <a:r>
              <a:rPr b="1" lang="es" sz="1200">
                <a:solidFill>
                  <a:schemeClr val="dk1"/>
                </a:solidFill>
                <a:latin typeface="DM Sans"/>
                <a:ea typeface="DM Sans"/>
                <a:cs typeface="DM Sans"/>
                <a:sym typeface="DM Sans"/>
              </a:rPr>
              <a:t>props </a:t>
            </a:r>
            <a:r>
              <a:rPr lang="es" sz="1200">
                <a:solidFill>
                  <a:schemeClr val="dk1"/>
                </a:solidFill>
                <a:latin typeface="DM Sans"/>
                <a:ea typeface="DM Sans"/>
                <a:cs typeface="DM Sans"/>
                <a:sym typeface="DM Sans"/>
              </a:rPr>
              <a:t>un </a:t>
            </a:r>
            <a:r>
              <a:rPr b="1" lang="es" sz="1200">
                <a:solidFill>
                  <a:schemeClr val="dk1"/>
                </a:solidFill>
                <a:latin typeface="DM Sans"/>
                <a:ea typeface="DM Sans"/>
                <a:cs typeface="DM Sans"/>
                <a:sym typeface="DM Sans"/>
              </a:rPr>
              <a:t>color, un label y una función de callback</a:t>
            </a:r>
            <a:r>
              <a:rPr lang="es" sz="1200">
                <a:solidFill>
                  <a:schemeClr val="dk1"/>
                </a:solidFill>
                <a:latin typeface="DM Sans"/>
                <a:ea typeface="DM Sans"/>
                <a:cs typeface="DM Sans"/>
                <a:sym typeface="DM Sans"/>
              </a:rPr>
              <a:t> a ejecutar en el evento onClick.</a:t>
            </a:r>
            <a:endParaRPr sz="1200">
              <a:solidFill>
                <a:schemeClr val="dk1"/>
              </a:solidFill>
              <a:latin typeface="DM Sans"/>
              <a:ea typeface="DM Sans"/>
              <a:cs typeface="DM Sans"/>
              <a:sym typeface="DM Sans"/>
            </a:endParaRPr>
          </a:p>
          <a:p>
            <a:pPr indent="0" lvl="0" marL="0" rtl="0" algn="l">
              <a:spcBef>
                <a:spcPts val="0"/>
              </a:spcBef>
              <a:spcAft>
                <a:spcPts val="0"/>
              </a:spcAft>
              <a:buNone/>
            </a:pPr>
            <a:r>
              <a:rPr lang="es" sz="1200">
                <a:solidFill>
                  <a:schemeClr val="dk1"/>
                </a:solidFill>
                <a:latin typeface="DM Sans"/>
                <a:ea typeface="DM Sans"/>
                <a:cs typeface="DM Sans"/>
                <a:sym typeface="DM Sans"/>
              </a:rPr>
              <a:t>Este botón debe mantener los estilos cada vez que se lo utilice, con la opción de cambiar su color de fondo a través de props.</a:t>
            </a:r>
            <a:endParaRPr sz="1200">
              <a:solidFill>
                <a:schemeClr val="dk1"/>
              </a:solidFill>
              <a:latin typeface="DM Sans"/>
              <a:ea typeface="DM Sans"/>
              <a:cs typeface="DM Sans"/>
              <a:sym typeface="DM Sans"/>
            </a:endParaRPr>
          </a:p>
        </p:txBody>
      </p:sp>
      <p:sp>
        <p:nvSpPr>
          <p:cNvPr id="164" name="Google Shape;164;p26"/>
          <p:cNvSpPr txBox="1"/>
          <p:nvPr/>
        </p:nvSpPr>
        <p:spPr>
          <a:xfrm>
            <a:off x="900300" y="455050"/>
            <a:ext cx="30000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EJERCICIO</a:t>
            </a:r>
            <a:endParaRPr/>
          </a:p>
        </p:txBody>
      </p:sp>
      <p:sp>
        <p:nvSpPr>
          <p:cNvPr id="165" name="Google Shape;165;p26"/>
          <p:cNvSpPr/>
          <p:nvPr/>
        </p:nvSpPr>
        <p:spPr>
          <a:xfrm>
            <a:off x="4712750" y="1965175"/>
            <a:ext cx="4045200" cy="19251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txBox="1"/>
          <p:nvPr/>
        </p:nvSpPr>
        <p:spPr>
          <a:xfrm>
            <a:off x="4977366" y="2109650"/>
            <a:ext cx="36270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Tips</a:t>
            </a:r>
            <a:endParaRPr sz="1200" u="sng">
              <a:solidFill>
                <a:srgbClr val="83AEFB"/>
              </a:solidFill>
              <a:latin typeface="DM Sans"/>
              <a:ea typeface="DM Sans"/>
              <a:cs typeface="DM Sans"/>
              <a:sym typeface="DM Sans"/>
            </a:endParaRPr>
          </a:p>
        </p:txBody>
      </p:sp>
      <p:sp>
        <p:nvSpPr>
          <p:cNvPr id="167" name="Google Shape;167;p26"/>
          <p:cNvSpPr txBox="1"/>
          <p:nvPr/>
        </p:nvSpPr>
        <p:spPr>
          <a:xfrm>
            <a:off x="4772676" y="2379650"/>
            <a:ext cx="3779100" cy="12930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2"/>
              </a:buClr>
              <a:buSzPts val="1200"/>
              <a:buFont typeface="DM Sans"/>
              <a:buChar char="✓"/>
            </a:pPr>
            <a:r>
              <a:rPr lang="es" sz="1200">
                <a:solidFill>
                  <a:schemeClr val="dk1"/>
                </a:solidFill>
                <a:latin typeface="DM Sans"/>
                <a:ea typeface="DM Sans"/>
                <a:cs typeface="DM Sans"/>
                <a:sym typeface="DM Sans"/>
              </a:rPr>
              <a:t>Puedes asignar </a:t>
            </a:r>
            <a:r>
              <a:rPr b="1" lang="es" sz="1200">
                <a:solidFill>
                  <a:schemeClr val="dk1"/>
                </a:solidFill>
                <a:latin typeface="DM Sans"/>
                <a:ea typeface="DM Sans"/>
                <a:cs typeface="DM Sans"/>
                <a:sym typeface="DM Sans"/>
              </a:rPr>
              <a:t>más props</a:t>
            </a:r>
            <a:r>
              <a:rPr lang="es" sz="1200">
                <a:solidFill>
                  <a:schemeClr val="dk1"/>
                </a:solidFill>
                <a:latin typeface="DM Sans"/>
                <a:ea typeface="DM Sans"/>
                <a:cs typeface="DM Sans"/>
                <a:sym typeface="DM Sans"/>
              </a:rPr>
              <a:t> si quieres, por ejemplo para deshabilitar el botón o modificar su aspecto (tamaño, bordes, etc).</a:t>
            </a:r>
            <a:endParaRPr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s" sz="1200">
                <a:solidFill>
                  <a:schemeClr val="dk1"/>
                </a:solidFill>
                <a:latin typeface="DM Sans"/>
                <a:ea typeface="DM Sans"/>
                <a:cs typeface="DM Sans"/>
                <a:sym typeface="DM Sans"/>
              </a:rPr>
              <a:t>Pasar la etiqueta del botón como si fuese un atributo no es demasiado cómodo: intenta aplicar la prop </a:t>
            </a:r>
            <a:r>
              <a:rPr b="1" lang="es" sz="1200">
                <a:solidFill>
                  <a:schemeClr val="dk1"/>
                </a:solidFill>
                <a:latin typeface="DM Sans"/>
                <a:ea typeface="DM Sans"/>
                <a:cs typeface="DM Sans"/>
                <a:sym typeface="DM Sans"/>
              </a:rPr>
              <a:t>children </a:t>
            </a:r>
            <a:r>
              <a:rPr lang="es" sz="1200">
                <a:solidFill>
                  <a:schemeClr val="dk1"/>
                </a:solidFill>
                <a:latin typeface="DM Sans"/>
                <a:ea typeface="DM Sans"/>
                <a:cs typeface="DM Sans"/>
                <a:sym typeface="DM Sans"/>
              </a:rPr>
              <a:t>para resolverlo.</a:t>
            </a:r>
            <a:endParaRPr sz="1200">
              <a:solidFill>
                <a:schemeClr val="dk1"/>
              </a:solidFill>
              <a:latin typeface="DM Sans"/>
              <a:ea typeface="DM Sans"/>
              <a:cs typeface="DM Sans"/>
              <a:sym typeface="DM Sans"/>
            </a:endParaRPr>
          </a:p>
        </p:txBody>
      </p:sp>
      <p:grpSp>
        <p:nvGrpSpPr>
          <p:cNvPr id="168" name="Google Shape;168;p26"/>
          <p:cNvGrpSpPr/>
          <p:nvPr/>
        </p:nvGrpSpPr>
        <p:grpSpPr>
          <a:xfrm>
            <a:off x="0" y="-7400"/>
            <a:ext cx="9143925" cy="44400"/>
            <a:chOff x="0" y="-7400"/>
            <a:chExt cx="9143925" cy="44400"/>
          </a:xfrm>
        </p:grpSpPr>
        <p:sp>
          <p:nvSpPr>
            <p:cNvPr id="169" name="Google Shape;169;p26"/>
            <p:cNvSpPr/>
            <p:nvPr/>
          </p:nvSpPr>
          <p:spPr>
            <a:xfrm>
              <a:off x="5846625" y="-7400"/>
              <a:ext cx="3297300" cy="444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DM Sans"/>
                <a:ea typeface="DM Sans"/>
                <a:cs typeface="DM Sans"/>
                <a:sym typeface="DM Sans"/>
              </a:endParaRPr>
            </a:p>
          </p:txBody>
        </p:sp>
        <p:sp>
          <p:nvSpPr>
            <p:cNvPr id="170" name="Google Shape;170;p26"/>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grpSp>
        <p:nvGrpSpPr>
          <p:cNvPr id="171" name="Google Shape;171;p26"/>
          <p:cNvGrpSpPr/>
          <p:nvPr/>
        </p:nvGrpSpPr>
        <p:grpSpPr>
          <a:xfrm>
            <a:off x="475509" y="435709"/>
            <a:ext cx="431100" cy="431100"/>
            <a:chOff x="475509" y="435709"/>
            <a:chExt cx="431100" cy="431100"/>
          </a:xfrm>
        </p:grpSpPr>
        <p:sp>
          <p:nvSpPr>
            <p:cNvPr id="172" name="Google Shape;172;p26"/>
            <p:cNvSpPr/>
            <p:nvPr/>
          </p:nvSpPr>
          <p:spPr>
            <a:xfrm>
              <a:off x="475509" y="435709"/>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latin typeface="DM Sans"/>
                <a:ea typeface="DM Sans"/>
                <a:cs typeface="DM Sans"/>
                <a:sym typeface="DM Sans"/>
              </a:endParaRPr>
            </a:p>
          </p:txBody>
        </p:sp>
        <p:pic>
          <p:nvPicPr>
            <p:cNvPr id="173" name="Google Shape;173;p26" title="ícono de actividad en clase"/>
            <p:cNvPicPr preferRelativeResize="0"/>
            <p:nvPr/>
          </p:nvPicPr>
          <p:blipFill>
            <a:blip r:embed="rId4">
              <a:alphaModFix/>
            </a:blip>
            <a:stretch>
              <a:fillRect/>
            </a:stretch>
          </p:blipFill>
          <p:spPr>
            <a:xfrm>
              <a:off x="539150" y="499350"/>
              <a:ext cx="303800" cy="303800"/>
            </a:xfrm>
            <a:prstGeom prst="rect">
              <a:avLst/>
            </a:prstGeom>
            <a:noFill/>
            <a:ln>
              <a:noFill/>
            </a:ln>
          </p:spPr>
        </p:pic>
      </p:grpSp>
      <p:pic>
        <p:nvPicPr>
          <p:cNvPr id="174" name="Google Shape;174;p26" title="MD 02">
            <a:hlinkClick r:id="rId5"/>
          </p:cNvPr>
          <p:cNvPicPr preferRelativeResize="0"/>
          <p:nvPr/>
        </p:nvPicPr>
        <p:blipFill>
          <a:blip r:embed="rId6">
            <a:alphaModFix/>
          </a:blip>
          <a:stretch>
            <a:fillRect/>
          </a:stretch>
        </p:blipFill>
        <p:spPr>
          <a:xfrm>
            <a:off x="2924475" y="847450"/>
            <a:ext cx="792950" cy="792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p27"/>
          <p:cNvGrpSpPr/>
          <p:nvPr/>
        </p:nvGrpSpPr>
        <p:grpSpPr>
          <a:xfrm>
            <a:off x="2172088" y="1852650"/>
            <a:ext cx="197100" cy="197100"/>
            <a:chOff x="2172088" y="1852650"/>
            <a:chExt cx="197100" cy="197100"/>
          </a:xfrm>
        </p:grpSpPr>
        <p:sp>
          <p:nvSpPr>
            <p:cNvPr id="180" name="Google Shape;180;p27"/>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7"/>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 name="Google Shape;182;p27"/>
          <p:cNvGrpSpPr/>
          <p:nvPr/>
        </p:nvGrpSpPr>
        <p:grpSpPr>
          <a:xfrm>
            <a:off x="2172088" y="2455775"/>
            <a:ext cx="197100" cy="197100"/>
            <a:chOff x="2172088" y="2455775"/>
            <a:chExt cx="197100" cy="197100"/>
          </a:xfrm>
        </p:grpSpPr>
        <p:sp>
          <p:nvSpPr>
            <p:cNvPr id="183" name="Google Shape;183;p27"/>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5" name="Google Shape;185;p27"/>
          <p:cNvCxnSpPr>
            <a:endCxn id="183"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186" name="Google Shape;186;p27"/>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187" name="Google Shape;187;p27"/>
          <p:cNvSpPr txBox="1"/>
          <p:nvPr/>
        </p:nvSpPr>
        <p:spPr>
          <a:xfrm>
            <a:off x="2690575" y="1731425"/>
            <a:ext cx="50517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el archivo </a:t>
            </a:r>
            <a:r>
              <a:rPr b="1" lang="es" sz="1350">
                <a:solidFill>
                  <a:schemeClr val="dk1"/>
                </a:solidFill>
                <a:latin typeface="DM Sans"/>
                <a:ea typeface="DM Sans"/>
                <a:cs typeface="DM Sans"/>
                <a:sym typeface="DM Sans"/>
              </a:rPr>
              <a:t>Button.jsx</a:t>
            </a:r>
            <a:r>
              <a:rPr lang="es" sz="1350">
                <a:solidFill>
                  <a:schemeClr val="dk1"/>
                </a:solidFill>
                <a:latin typeface="DM Sans"/>
                <a:ea typeface="DM Sans"/>
                <a:cs typeface="DM Sans"/>
                <a:sym typeface="DM Sans"/>
              </a:rPr>
              <a:t> en “</a:t>
            </a:r>
            <a:r>
              <a:rPr i="1" lang="es" sz="1350">
                <a:solidFill>
                  <a:schemeClr val="dk1"/>
                </a:solidFill>
                <a:latin typeface="DM Sans"/>
                <a:ea typeface="DM Sans"/>
                <a:cs typeface="DM Sans"/>
                <a:sym typeface="DM Sans"/>
              </a:rPr>
              <a:t>/src/components/Button”.</a:t>
            </a:r>
            <a:endParaRPr i="1" sz="1350">
              <a:solidFill>
                <a:schemeClr val="dk1"/>
              </a:solidFill>
              <a:latin typeface="DM Sans"/>
              <a:ea typeface="DM Sans"/>
              <a:cs typeface="DM Sans"/>
              <a:sym typeface="DM Sans"/>
            </a:endParaRPr>
          </a:p>
        </p:txBody>
      </p:sp>
      <p:sp>
        <p:nvSpPr>
          <p:cNvPr id="188" name="Google Shape;188;p27"/>
          <p:cNvSpPr txBox="1"/>
          <p:nvPr/>
        </p:nvSpPr>
        <p:spPr>
          <a:xfrm>
            <a:off x="2690573" y="233453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el </a:t>
            </a:r>
            <a:r>
              <a:rPr b="1" lang="es" sz="1350">
                <a:solidFill>
                  <a:schemeClr val="dk1"/>
                </a:solidFill>
                <a:latin typeface="DM Sans"/>
                <a:ea typeface="DM Sans"/>
                <a:cs typeface="DM Sans"/>
                <a:sym typeface="DM Sans"/>
              </a:rPr>
              <a:t>componente</a:t>
            </a:r>
            <a:r>
              <a:rPr lang="es" sz="1350">
                <a:solidFill>
                  <a:schemeClr val="dk1"/>
                </a:solidFill>
                <a:latin typeface="DM Sans"/>
                <a:ea typeface="DM Sans"/>
                <a:cs typeface="DM Sans"/>
                <a:sym typeface="DM Sans"/>
              </a:rPr>
              <a:t>, le damos una interfaz simple y lo exportamos.</a:t>
            </a:r>
            <a:endParaRPr sz="1350">
              <a:solidFill>
                <a:schemeClr val="dk1"/>
              </a:solidFill>
              <a:latin typeface="DM Sans"/>
              <a:ea typeface="DM Sans"/>
              <a:cs typeface="DM Sans"/>
              <a:sym typeface="DM Sans"/>
            </a:endParaRPr>
          </a:p>
        </p:txBody>
      </p:sp>
      <p:grpSp>
        <p:nvGrpSpPr>
          <p:cNvPr id="189" name="Google Shape;189;p27"/>
          <p:cNvGrpSpPr/>
          <p:nvPr/>
        </p:nvGrpSpPr>
        <p:grpSpPr>
          <a:xfrm>
            <a:off x="2172088" y="3082350"/>
            <a:ext cx="197100" cy="197100"/>
            <a:chOff x="2172088" y="3058775"/>
            <a:chExt cx="197100" cy="197100"/>
          </a:xfrm>
        </p:grpSpPr>
        <p:sp>
          <p:nvSpPr>
            <p:cNvPr id="190" name="Google Shape;190;p27"/>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2" name="Google Shape;192;p27"/>
          <p:cNvCxnSpPr>
            <a:endCxn id="190"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193" name="Google Shape;193;p27"/>
          <p:cNvGrpSpPr/>
          <p:nvPr/>
        </p:nvGrpSpPr>
        <p:grpSpPr>
          <a:xfrm>
            <a:off x="2172088" y="3685475"/>
            <a:ext cx="197100" cy="197100"/>
            <a:chOff x="2172088" y="3661775"/>
            <a:chExt cx="197100" cy="197100"/>
          </a:xfrm>
        </p:grpSpPr>
        <p:sp>
          <p:nvSpPr>
            <p:cNvPr id="194" name="Google Shape;194;p27"/>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6" name="Google Shape;196;p27"/>
          <p:cNvCxnSpPr>
            <a:endCxn id="194"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197" name="Google Shape;197;p27"/>
          <p:cNvSpPr txBox="1"/>
          <p:nvPr/>
        </p:nvSpPr>
        <p:spPr>
          <a:xfrm>
            <a:off x="2690575" y="2984700"/>
            <a:ext cx="47676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solidFill>
                  <a:schemeClr val="dk1"/>
                </a:solidFill>
                <a:latin typeface="DM Sans"/>
                <a:ea typeface="DM Sans"/>
                <a:cs typeface="DM Sans"/>
                <a:sym typeface="DM Sans"/>
              </a:rPr>
              <a:t>Importamos </a:t>
            </a:r>
            <a:r>
              <a:rPr lang="es" sz="1350">
                <a:solidFill>
                  <a:schemeClr val="dk1"/>
                </a:solidFill>
                <a:latin typeface="DM Sans"/>
                <a:ea typeface="DM Sans"/>
                <a:cs typeface="DM Sans"/>
                <a:sym typeface="DM Sans"/>
              </a:rPr>
              <a:t>el componente en App y lo renderizamos.</a:t>
            </a:r>
            <a:endParaRPr sz="1350">
              <a:solidFill>
                <a:schemeClr val="dk1"/>
              </a:solidFill>
              <a:latin typeface="DM Sans"/>
              <a:ea typeface="DM Sans"/>
              <a:cs typeface="DM Sans"/>
              <a:sym typeface="DM Sans"/>
            </a:endParaRPr>
          </a:p>
        </p:txBody>
      </p:sp>
      <p:sp>
        <p:nvSpPr>
          <p:cNvPr id="198" name="Google Shape;198;p27"/>
          <p:cNvSpPr txBox="1"/>
          <p:nvPr/>
        </p:nvSpPr>
        <p:spPr>
          <a:xfrm>
            <a:off x="2690575" y="3587825"/>
            <a:ext cx="46377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Agregamos</a:t>
            </a:r>
            <a:r>
              <a:rPr b="1" lang="es" sz="1350">
                <a:solidFill>
                  <a:schemeClr val="dk1"/>
                </a:solidFill>
                <a:latin typeface="DM Sans"/>
                <a:ea typeface="DM Sans"/>
                <a:cs typeface="DM Sans"/>
                <a:sym typeface="DM Sans"/>
              </a:rPr>
              <a:t> props</a:t>
            </a:r>
            <a:r>
              <a:rPr lang="es" sz="1350">
                <a:solidFill>
                  <a:schemeClr val="dk1"/>
                </a:solidFill>
                <a:latin typeface="DM Sans"/>
                <a:ea typeface="DM Sans"/>
                <a:cs typeface="DM Sans"/>
                <a:sym typeface="DM Sans"/>
              </a:rPr>
              <a:t> para que el botón sea reutilizable.</a:t>
            </a:r>
            <a:endParaRPr sz="1350">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 name="Shape 202"/>
        <p:cNvGrpSpPr/>
        <p:nvPr/>
      </p:nvGrpSpPr>
      <p:grpSpPr>
        <a:xfrm>
          <a:off x="0" y="0"/>
          <a:ext cx="0" cy="0"/>
          <a:chOff x="0" y="0"/>
          <a:chExt cx="0" cy="0"/>
        </a:xfrm>
      </p:grpSpPr>
      <p:pic>
        <p:nvPicPr>
          <p:cNvPr id="203" name="Google Shape;203;p28"/>
          <p:cNvPicPr preferRelativeResize="0"/>
          <p:nvPr/>
        </p:nvPicPr>
        <p:blipFill>
          <a:blip r:embed="rId3">
            <a:alphaModFix/>
          </a:blip>
          <a:stretch>
            <a:fillRect/>
          </a:stretch>
        </p:blipFill>
        <p:spPr>
          <a:xfrm>
            <a:off x="2341100" y="97675"/>
            <a:ext cx="4668589"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nvSpPr>
        <p:spPr>
          <a:xfrm>
            <a:off x="1905000" y="2202300"/>
            <a:ext cx="5372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¡Buen trabajo! </a:t>
            </a:r>
            <a:r>
              <a:rPr b="1" lang="es" sz="3500">
                <a:solidFill>
                  <a:schemeClr val="dk1"/>
                </a:solidFill>
                <a:latin typeface="DM Sans"/>
                <a:ea typeface="DM Sans"/>
                <a:cs typeface="DM Sans"/>
                <a:sym typeface="DM Sans"/>
              </a:rPr>
              <a:t>😎</a:t>
            </a:r>
            <a:endParaRPr sz="30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nvSpPr>
        <p:spPr>
          <a:xfrm>
            <a:off x="473350" y="619525"/>
            <a:ext cx="81411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400">
                <a:solidFill>
                  <a:schemeClr val="dk1"/>
                </a:solidFill>
                <a:latin typeface="DM Sans"/>
                <a:ea typeface="DM Sans"/>
                <a:cs typeface="DM Sans"/>
                <a:sym typeface="DM Sans"/>
              </a:rPr>
              <a:t>Sugar-Syntax: Algunos ejemplos</a:t>
            </a:r>
            <a:endParaRPr b="1" sz="3400">
              <a:solidFill>
                <a:schemeClr val="dk1"/>
              </a:solidFill>
              <a:latin typeface="DM Sans"/>
              <a:ea typeface="DM Sans"/>
              <a:cs typeface="DM Sans"/>
              <a:sym typeface="DM Sans"/>
            </a:endParaRPr>
          </a:p>
        </p:txBody>
      </p:sp>
      <p:sp>
        <p:nvSpPr>
          <p:cNvPr id="214" name="Google Shape;214;p30"/>
          <p:cNvSpPr txBox="1"/>
          <p:nvPr/>
        </p:nvSpPr>
        <p:spPr>
          <a:xfrm>
            <a:off x="473350" y="1811725"/>
            <a:ext cx="3779700" cy="26781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rgbClr val="EAFF6A"/>
              </a:buClr>
              <a:buSzPts val="1350"/>
              <a:buFont typeface="DM Sans"/>
              <a:buChar char="✓"/>
            </a:pPr>
            <a:r>
              <a:rPr lang="es" sz="1350">
                <a:solidFill>
                  <a:schemeClr val="dk1"/>
                </a:solidFill>
                <a:latin typeface="DM Sans"/>
                <a:ea typeface="DM Sans"/>
                <a:cs typeface="DM Sans"/>
                <a:sym typeface="DM Sans"/>
              </a:rPr>
              <a:t>Spread operator</a:t>
            </a:r>
            <a:endParaRPr sz="1350">
              <a:solidFill>
                <a:schemeClr val="dk1"/>
              </a:solidFill>
              <a:latin typeface="DM Sans"/>
              <a:ea typeface="DM Sans"/>
              <a:cs typeface="DM Sans"/>
              <a:sym typeface="DM Sans"/>
            </a:endParaRPr>
          </a:p>
          <a:p>
            <a:pPr indent="457200" lvl="0" marL="457200" rtl="0" algn="l">
              <a:spcBef>
                <a:spcPts val="0"/>
              </a:spcBef>
              <a:spcAft>
                <a:spcPts val="0"/>
              </a:spcAft>
              <a:buNone/>
            </a:pPr>
            <a:r>
              <a:rPr lang="es" sz="1350">
                <a:solidFill>
                  <a:schemeClr val="dk1"/>
                </a:solidFill>
                <a:latin typeface="DM Sans"/>
                <a:ea typeface="DM Sans"/>
                <a:cs typeface="DM Sans"/>
                <a:sym typeface="DM Sans"/>
              </a:rPr>
              <a:t> </a:t>
            </a:r>
            <a:r>
              <a:rPr b="1" lang="es" sz="1350">
                <a:solidFill>
                  <a:schemeClr val="dk1"/>
                </a:solidFill>
                <a:highlight>
                  <a:schemeClr val="accent6"/>
                </a:highlight>
                <a:latin typeface="DM Sans"/>
                <a:ea typeface="DM Sans"/>
                <a:cs typeface="DM Sans"/>
                <a:sym typeface="DM Sans"/>
              </a:rPr>
              <a:t>[a, ...arr]</a:t>
            </a:r>
            <a:endParaRPr b="1" sz="1350">
              <a:solidFill>
                <a:schemeClr val="dk1"/>
              </a:solidFill>
              <a:highlight>
                <a:schemeClr val="accent6"/>
              </a:highlight>
              <a:latin typeface="DM Sans"/>
              <a:ea typeface="DM Sans"/>
              <a:cs typeface="DM Sans"/>
              <a:sym typeface="DM Sans"/>
            </a:endParaRPr>
          </a:p>
          <a:p>
            <a:pPr indent="457200" lvl="0" marL="457200" rtl="0" algn="l">
              <a:spcBef>
                <a:spcPts val="0"/>
              </a:spcBef>
              <a:spcAft>
                <a:spcPts val="0"/>
              </a:spcAft>
              <a:buNone/>
            </a:pPr>
            <a:r>
              <a:t/>
            </a:r>
            <a:endParaRPr b="1" sz="1350">
              <a:solidFill>
                <a:schemeClr val="dk1"/>
              </a:solidFill>
              <a:highlight>
                <a:schemeClr val="accent6"/>
              </a:highlight>
              <a:latin typeface="DM Sans"/>
              <a:ea typeface="DM Sans"/>
              <a:cs typeface="DM Sans"/>
              <a:sym typeface="DM Sans"/>
            </a:endParaRPr>
          </a:p>
          <a:p>
            <a:pPr indent="-314325" lvl="0" marL="457200" rtl="0" algn="l">
              <a:spcBef>
                <a:spcPts val="0"/>
              </a:spcBef>
              <a:spcAft>
                <a:spcPts val="0"/>
              </a:spcAft>
              <a:buClr>
                <a:srgbClr val="EAFF6A"/>
              </a:buClr>
              <a:buSzPts val="1350"/>
              <a:buFont typeface="DM Sans"/>
              <a:buChar char="✓"/>
            </a:pPr>
            <a:r>
              <a:rPr lang="es" sz="1350">
                <a:solidFill>
                  <a:schemeClr val="dk1"/>
                </a:solidFill>
                <a:latin typeface="DM Sans"/>
                <a:ea typeface="DM Sans"/>
                <a:cs typeface="DM Sans"/>
                <a:sym typeface="DM Sans"/>
              </a:rPr>
              <a:t>Propiedades dinámicas</a:t>
            </a:r>
            <a:endParaRPr sz="1350">
              <a:solidFill>
                <a:schemeClr val="dk1"/>
              </a:solidFill>
              <a:latin typeface="DM Sans"/>
              <a:ea typeface="DM Sans"/>
              <a:cs typeface="DM Sans"/>
              <a:sym typeface="DM Sans"/>
            </a:endParaRPr>
          </a:p>
          <a:p>
            <a:pPr indent="457200" lvl="0" marL="457200" rtl="0" algn="l">
              <a:spcBef>
                <a:spcPts val="0"/>
              </a:spcBef>
              <a:spcAft>
                <a:spcPts val="0"/>
              </a:spcAft>
              <a:buNone/>
            </a:pPr>
            <a:r>
              <a:rPr b="1" lang="es" sz="1350">
                <a:solidFill>
                  <a:schemeClr val="dk1"/>
                </a:solidFill>
                <a:highlight>
                  <a:schemeClr val="accent6"/>
                </a:highlight>
                <a:latin typeface="DM Sans"/>
                <a:ea typeface="DM Sans"/>
                <a:cs typeface="DM Sans"/>
                <a:sym typeface="DM Sans"/>
              </a:rPr>
              <a:t>{ foo: "bar", [ "baz" + id ]: 42 }</a:t>
            </a:r>
            <a:endParaRPr b="1" sz="1350">
              <a:solidFill>
                <a:schemeClr val="dk1"/>
              </a:solidFill>
              <a:highlight>
                <a:schemeClr val="accent6"/>
              </a:highlight>
              <a:latin typeface="DM Sans"/>
              <a:ea typeface="DM Sans"/>
              <a:cs typeface="DM Sans"/>
              <a:sym typeface="DM Sans"/>
            </a:endParaRPr>
          </a:p>
          <a:p>
            <a:pPr indent="457200" lvl="0" marL="457200" rtl="0" algn="l">
              <a:spcBef>
                <a:spcPts val="0"/>
              </a:spcBef>
              <a:spcAft>
                <a:spcPts val="0"/>
              </a:spcAft>
              <a:buNone/>
            </a:pPr>
            <a:r>
              <a:t/>
            </a:r>
            <a:endParaRPr b="1" sz="1350">
              <a:solidFill>
                <a:schemeClr val="dk1"/>
              </a:solidFill>
              <a:highlight>
                <a:schemeClr val="accent6"/>
              </a:highlight>
              <a:latin typeface="DM Sans"/>
              <a:ea typeface="DM Sans"/>
              <a:cs typeface="DM Sans"/>
              <a:sym typeface="DM Sans"/>
            </a:endParaRPr>
          </a:p>
          <a:p>
            <a:pPr indent="-314325" lvl="0" marL="457200" rtl="0" algn="l">
              <a:spcBef>
                <a:spcPts val="0"/>
              </a:spcBef>
              <a:spcAft>
                <a:spcPts val="0"/>
              </a:spcAft>
              <a:buClr>
                <a:srgbClr val="EAFF6A"/>
              </a:buClr>
              <a:buSzPts val="1350"/>
              <a:buFont typeface="DM Sans"/>
              <a:buChar char="✓"/>
            </a:pPr>
            <a:r>
              <a:rPr lang="es" sz="1350">
                <a:solidFill>
                  <a:schemeClr val="dk1"/>
                </a:solidFill>
                <a:latin typeface="DM Sans"/>
                <a:ea typeface="DM Sans"/>
                <a:cs typeface="DM Sans"/>
                <a:sym typeface="DM Sans"/>
              </a:rPr>
              <a:t>Deep matching</a:t>
            </a:r>
            <a:endParaRPr sz="1350">
              <a:solidFill>
                <a:schemeClr val="dk1"/>
              </a:solidFill>
              <a:latin typeface="DM Sans"/>
              <a:ea typeface="DM Sans"/>
              <a:cs typeface="DM Sans"/>
              <a:sym typeface="DM Sans"/>
            </a:endParaRPr>
          </a:p>
          <a:p>
            <a:pPr indent="457200" lvl="0" marL="457200" rtl="0" algn="l">
              <a:spcBef>
                <a:spcPts val="0"/>
              </a:spcBef>
              <a:spcAft>
                <a:spcPts val="0"/>
              </a:spcAft>
              <a:buNone/>
            </a:pPr>
            <a:r>
              <a:rPr b="1" lang="es" sz="1350">
                <a:solidFill>
                  <a:schemeClr val="dk1"/>
                </a:solidFill>
                <a:highlight>
                  <a:schemeClr val="accent6"/>
                </a:highlight>
                <a:latin typeface="DM Sans"/>
                <a:ea typeface="DM Sans"/>
                <a:cs typeface="DM Sans"/>
                <a:sym typeface="DM Sans"/>
              </a:rPr>
              <a:t>var { a: val } = { a : 2 }</a:t>
            </a:r>
            <a:endParaRPr b="1" sz="1350">
              <a:solidFill>
                <a:schemeClr val="dk1"/>
              </a:solidFill>
              <a:highlight>
                <a:schemeClr val="accent6"/>
              </a:highlight>
              <a:latin typeface="DM Sans"/>
              <a:ea typeface="DM Sans"/>
              <a:cs typeface="DM Sans"/>
              <a:sym typeface="DM Sans"/>
            </a:endParaRPr>
          </a:p>
          <a:p>
            <a:pPr indent="457200" lvl="0" marL="457200" rtl="0" algn="l">
              <a:spcBef>
                <a:spcPts val="0"/>
              </a:spcBef>
              <a:spcAft>
                <a:spcPts val="0"/>
              </a:spcAft>
              <a:buNone/>
            </a:pPr>
            <a:r>
              <a:t/>
            </a:r>
            <a:endParaRPr b="1" sz="1350">
              <a:solidFill>
                <a:schemeClr val="dk1"/>
              </a:solidFill>
              <a:highlight>
                <a:schemeClr val="accent6"/>
              </a:highlight>
              <a:latin typeface="DM Sans"/>
              <a:ea typeface="DM Sans"/>
              <a:cs typeface="DM Sans"/>
              <a:sym typeface="DM Sans"/>
            </a:endParaRPr>
          </a:p>
          <a:p>
            <a:pPr indent="-314325" lvl="0" marL="457200" rtl="0" algn="l">
              <a:spcBef>
                <a:spcPts val="0"/>
              </a:spcBef>
              <a:spcAft>
                <a:spcPts val="0"/>
              </a:spcAft>
              <a:buClr>
                <a:srgbClr val="EAFF6A"/>
              </a:buClr>
              <a:buSzPts val="1350"/>
              <a:buFont typeface="DM Sans"/>
              <a:buChar char="✓"/>
            </a:pPr>
            <a:r>
              <a:rPr lang="es" sz="1350">
                <a:solidFill>
                  <a:schemeClr val="dk1"/>
                </a:solidFill>
                <a:latin typeface="DM Sans"/>
                <a:ea typeface="DM Sans"/>
                <a:cs typeface="DM Sans"/>
                <a:sym typeface="DM Sans"/>
              </a:rPr>
              <a:t>Asignación en desestructuración</a:t>
            </a:r>
            <a:endParaRPr sz="1350">
              <a:solidFill>
                <a:schemeClr val="dk1"/>
              </a:solidFill>
              <a:latin typeface="DM Sans"/>
              <a:ea typeface="DM Sans"/>
              <a:cs typeface="DM Sans"/>
              <a:sym typeface="DM Sans"/>
            </a:endParaRPr>
          </a:p>
          <a:p>
            <a:pPr indent="457200" lvl="0" marL="457200" rtl="0" algn="l">
              <a:spcBef>
                <a:spcPts val="0"/>
              </a:spcBef>
              <a:spcAft>
                <a:spcPts val="0"/>
              </a:spcAft>
              <a:buNone/>
            </a:pPr>
            <a:r>
              <a:rPr b="1" lang="es" sz="1350">
                <a:solidFill>
                  <a:schemeClr val="dk1"/>
                </a:solidFill>
                <a:highlight>
                  <a:schemeClr val="accent6"/>
                </a:highlight>
                <a:latin typeface="DM Sans"/>
                <a:ea typeface="DM Sans"/>
                <a:cs typeface="DM Sans"/>
                <a:sym typeface="DM Sans"/>
              </a:rPr>
              <a:t>var [ a = 1, b = 2, c = 3, d ] = [ 4, 5 ]</a:t>
            </a:r>
            <a:endParaRPr b="1" sz="1350">
              <a:solidFill>
                <a:schemeClr val="dk1"/>
              </a:solidFill>
              <a:highlight>
                <a:schemeClr val="accent6"/>
              </a:highlight>
              <a:latin typeface="DM Sans"/>
              <a:ea typeface="DM Sans"/>
              <a:cs typeface="DM Sans"/>
              <a:sym typeface="DM Sans"/>
            </a:endParaRPr>
          </a:p>
          <a:p>
            <a:pPr indent="0" lvl="0" marL="457200" rtl="0" algn="l">
              <a:spcBef>
                <a:spcPts val="0"/>
              </a:spcBef>
              <a:spcAft>
                <a:spcPts val="0"/>
              </a:spcAft>
              <a:buNone/>
            </a:pPr>
            <a:r>
              <a:t/>
            </a:r>
            <a:endParaRPr sz="135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220" name="Google Shape;220;p31"/>
          <p:cNvSpPr txBox="1"/>
          <p:nvPr/>
        </p:nvSpPr>
        <p:spPr>
          <a:xfrm>
            <a:off x="475500" y="1474850"/>
            <a:ext cx="7169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Ponemos en práctica algunos breves ejemplos para aplicar Sugar Syntax</a:t>
            </a:r>
            <a:endParaRPr b="1" sz="25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221" name="Google Shape;221;p31"/>
          <p:cNvGrpSpPr/>
          <p:nvPr/>
        </p:nvGrpSpPr>
        <p:grpSpPr>
          <a:xfrm>
            <a:off x="475501" y="468273"/>
            <a:ext cx="738900" cy="738900"/>
            <a:chOff x="473351" y="619523"/>
            <a:chExt cx="738900" cy="738900"/>
          </a:xfrm>
        </p:grpSpPr>
        <p:sp>
          <p:nvSpPr>
            <p:cNvPr id="222" name="Google Shape;222;p31"/>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3" name="Google Shape;223;p31"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224" name="Google Shape;224;p31"/>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10/15 minutos</a:t>
            </a:r>
            <a:endParaRPr b="1" sz="2000">
              <a:solidFill>
                <a:schemeClr val="dk2"/>
              </a:solidFill>
              <a:latin typeface="DM Sans"/>
              <a:ea typeface="DM Sans"/>
              <a:cs typeface="DM Sans"/>
              <a:sym typeface="DM Sans"/>
            </a:endParaRPr>
          </a:p>
        </p:txBody>
      </p:sp>
      <p:grpSp>
        <p:nvGrpSpPr>
          <p:cNvPr id="225" name="Google Shape;225;p31"/>
          <p:cNvGrpSpPr/>
          <p:nvPr/>
        </p:nvGrpSpPr>
        <p:grpSpPr>
          <a:xfrm>
            <a:off x="0" y="-7400"/>
            <a:ext cx="9143925" cy="44400"/>
            <a:chOff x="0" y="-7400"/>
            <a:chExt cx="9143925" cy="44400"/>
          </a:xfrm>
        </p:grpSpPr>
        <p:sp>
          <p:nvSpPr>
            <p:cNvPr id="226" name="Google Shape;226;p31"/>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27" name="Google Shape;227;p31"/>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¿Cómo se integra un POLYFILL?</a:t>
            </a:r>
            <a:endParaRPr b="1" sz="4000">
              <a:solidFill>
                <a:schemeClr val="dk1"/>
              </a:solidFill>
              <a:latin typeface="DM Sans"/>
              <a:ea typeface="DM Sans"/>
              <a:cs typeface="DM Sans"/>
              <a:sym typeface="DM Sans"/>
            </a:endParaRPr>
          </a:p>
        </p:txBody>
      </p:sp>
      <p:pic>
        <p:nvPicPr>
          <p:cNvPr id="233" name="Google Shape;233;p32"/>
          <p:cNvPicPr preferRelativeResize="0"/>
          <p:nvPr/>
        </p:nvPicPr>
        <p:blipFill>
          <a:blip r:embed="rId3">
            <a:alphaModFix/>
          </a:blip>
          <a:stretch>
            <a:fillRect/>
          </a:stretch>
        </p:blipFill>
        <p:spPr>
          <a:xfrm>
            <a:off x="1427638" y="3191075"/>
            <a:ext cx="5448414" cy="384775"/>
          </a:xfrm>
          <a:prstGeom prst="rect">
            <a:avLst/>
          </a:prstGeom>
          <a:noFill/>
          <a:ln>
            <a:noFill/>
          </a:ln>
        </p:spPr>
      </p:pic>
      <p:pic>
        <p:nvPicPr>
          <p:cNvPr id="234" name="Google Shape;234;p32"/>
          <p:cNvPicPr preferRelativeResize="0"/>
          <p:nvPr/>
        </p:nvPicPr>
        <p:blipFill>
          <a:blip r:embed="rId4">
            <a:alphaModFix/>
          </a:blip>
          <a:stretch>
            <a:fillRect/>
          </a:stretch>
        </p:blipFill>
        <p:spPr>
          <a:xfrm>
            <a:off x="993413" y="3687352"/>
            <a:ext cx="6891624" cy="1095250"/>
          </a:xfrm>
          <a:prstGeom prst="rect">
            <a:avLst/>
          </a:prstGeom>
          <a:noFill/>
          <a:ln>
            <a:noFill/>
          </a:ln>
        </p:spPr>
      </p:pic>
      <p:sp>
        <p:nvSpPr>
          <p:cNvPr id="235" name="Google Shape;235;p32"/>
          <p:cNvSpPr txBox="1"/>
          <p:nvPr/>
        </p:nvSpPr>
        <p:spPr>
          <a:xfrm>
            <a:off x="501450" y="1522525"/>
            <a:ext cx="7193400" cy="8082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s" sz="1350">
                <a:latin typeface="DM Sans"/>
                <a:ea typeface="DM Sans"/>
                <a:cs typeface="DM Sans"/>
                <a:sym typeface="DM Sans"/>
              </a:rPr>
              <a:t>La forma más sencilla de integrar un polyfill en una aplicación web es utilizando librerías como polyfill.io, core-js o plugins de Babel.js que permite cargar los polyfills necesarios según las características del navegador del usuario. </a:t>
            </a:r>
            <a:endParaRPr sz="1350">
              <a:latin typeface="DM Sans"/>
              <a:ea typeface="DM Sans"/>
              <a:cs typeface="DM Sans"/>
              <a:sym typeface="DM Sans"/>
            </a:endParaRPr>
          </a:p>
        </p:txBody>
      </p:sp>
      <p:sp>
        <p:nvSpPr>
          <p:cNvPr id="236" name="Google Shape;236;p32"/>
          <p:cNvSpPr txBox="1"/>
          <p:nvPr/>
        </p:nvSpPr>
        <p:spPr>
          <a:xfrm>
            <a:off x="2096550" y="2460750"/>
            <a:ext cx="3834600" cy="60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s" sz="1350">
                <a:highlight>
                  <a:schemeClr val="accent6"/>
                </a:highlight>
                <a:latin typeface="DM Sans"/>
                <a:ea typeface="DM Sans"/>
                <a:cs typeface="DM Sans"/>
                <a:sym typeface="DM Sans"/>
              </a:rPr>
              <a:t>Ejemplo: core-js</a:t>
            </a:r>
            <a:endParaRPr sz="1350">
              <a:highlight>
                <a:schemeClr val="accent6"/>
              </a:highlight>
              <a:latin typeface="DM Sans"/>
              <a:ea typeface="DM Sans"/>
              <a:cs typeface="DM Sans"/>
              <a:sym typeface="DM Sans"/>
            </a:endParaRPr>
          </a:p>
          <a:p>
            <a:pPr indent="0" lvl="0" marL="0" rtl="0" algn="ctr">
              <a:spcBef>
                <a:spcPts val="0"/>
              </a:spcBef>
              <a:spcAft>
                <a:spcPts val="0"/>
              </a:spcAft>
              <a:buNone/>
            </a:pPr>
            <a:r>
              <a:rPr lang="es" sz="1350" u="sng">
                <a:solidFill>
                  <a:schemeClr val="hlink"/>
                </a:solidFill>
                <a:highlight>
                  <a:schemeClr val="accent6"/>
                </a:highlight>
                <a:latin typeface="DM Sans"/>
                <a:ea typeface="DM Sans"/>
                <a:cs typeface="DM Sans"/>
                <a:sym typeface="DM Sans"/>
                <a:hlinkClick r:id="rId5"/>
              </a:rPr>
              <a:t>zloirock/core-js: Standard Library</a:t>
            </a:r>
            <a:endParaRPr sz="1350">
              <a:highlight>
                <a:schemeClr val="accent6"/>
              </a:highlight>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242" name="Google Shape;242;p33"/>
          <p:cNvSpPr txBox="1"/>
          <p:nvPr/>
        </p:nvSpPr>
        <p:spPr>
          <a:xfrm>
            <a:off x="475500" y="1474850"/>
            <a:ext cx="7169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Vemos una demostración de cómo crear un polyfill con JavaScript Vanilla</a:t>
            </a:r>
            <a:endParaRPr b="1" sz="25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243" name="Google Shape;243;p33"/>
          <p:cNvGrpSpPr/>
          <p:nvPr/>
        </p:nvGrpSpPr>
        <p:grpSpPr>
          <a:xfrm>
            <a:off x="475501" y="468273"/>
            <a:ext cx="738900" cy="738900"/>
            <a:chOff x="473351" y="619523"/>
            <a:chExt cx="738900" cy="738900"/>
          </a:xfrm>
        </p:grpSpPr>
        <p:sp>
          <p:nvSpPr>
            <p:cNvPr id="244" name="Google Shape;244;p33"/>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5" name="Google Shape;245;p33"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246" name="Google Shape;246;p33"/>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15/25 minutos</a:t>
            </a:r>
            <a:endParaRPr b="1" sz="2000">
              <a:solidFill>
                <a:schemeClr val="dk2"/>
              </a:solidFill>
              <a:latin typeface="DM Sans"/>
              <a:ea typeface="DM Sans"/>
              <a:cs typeface="DM Sans"/>
              <a:sym typeface="DM Sans"/>
            </a:endParaRPr>
          </a:p>
        </p:txBody>
      </p:sp>
      <p:grpSp>
        <p:nvGrpSpPr>
          <p:cNvPr id="247" name="Google Shape;247;p33"/>
          <p:cNvGrpSpPr/>
          <p:nvPr/>
        </p:nvGrpSpPr>
        <p:grpSpPr>
          <a:xfrm>
            <a:off x="0" y="-7400"/>
            <a:ext cx="9143925" cy="44400"/>
            <a:chOff x="0" y="-7400"/>
            <a:chExt cx="9143925" cy="44400"/>
          </a:xfrm>
        </p:grpSpPr>
        <p:sp>
          <p:nvSpPr>
            <p:cNvPr id="248" name="Google Shape;248;p33"/>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49" name="Google Shape;249;p3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5000">
                <a:solidFill>
                  <a:srgbClr val="E8E7E3"/>
                </a:solidFill>
              </a:rPr>
              <a:t>☕</a:t>
            </a:r>
            <a:endParaRPr sz="5000">
              <a:solidFill>
                <a:srgbClr val="E8E7E3"/>
              </a:solidFill>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Break</a:t>
            </a:r>
            <a:endParaRPr b="1" sz="4000">
              <a:solidFill>
                <a:schemeClr val="lt1"/>
              </a:solidFill>
              <a:latin typeface="DM Sans"/>
              <a:ea typeface="DM Sans"/>
              <a:cs typeface="DM Sans"/>
              <a:sym typeface="DM Sans"/>
            </a:endParaRPr>
          </a:p>
        </p:txBody>
      </p:sp>
      <p:sp>
        <p:nvSpPr>
          <p:cNvPr id="255" name="Google Shape;255;p34"/>
          <p:cNvSpPr txBox="1"/>
          <p:nvPr/>
        </p:nvSpPr>
        <p:spPr>
          <a:xfrm>
            <a:off x="2809200" y="2971950"/>
            <a:ext cx="3525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lt1"/>
                </a:solidFill>
                <a:latin typeface="DM Sans"/>
                <a:ea typeface="DM Sans"/>
                <a:cs typeface="DM Sans"/>
                <a:sym typeface="DM Sans"/>
              </a:rPr>
              <a:t>¡En 5/10 minutos volvemos!</a:t>
            </a:r>
            <a:endParaRPr sz="2000">
              <a:solidFill>
                <a:schemeClr val="lt1"/>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nvSpPr>
        <p:spPr>
          <a:xfrm>
            <a:off x="1404863" y="1941375"/>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Profundizando en </a:t>
            </a:r>
            <a:endParaRPr b="1" sz="40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Webpack</a:t>
            </a:r>
            <a:endParaRPr b="1" sz="4000">
              <a:solidFill>
                <a:srgbClr val="EAFF6A"/>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36"/>
          <p:cNvPicPr preferRelativeResize="0"/>
          <p:nvPr/>
        </p:nvPicPr>
        <p:blipFill>
          <a:blip r:embed="rId3">
            <a:alphaModFix/>
          </a:blip>
          <a:stretch>
            <a:fillRect/>
          </a:stretch>
        </p:blipFill>
        <p:spPr>
          <a:xfrm>
            <a:off x="-32900" y="0"/>
            <a:ext cx="9176899" cy="5143500"/>
          </a:xfrm>
          <a:prstGeom prst="rect">
            <a:avLst/>
          </a:prstGeom>
          <a:noFill/>
          <a:ln>
            <a:noFill/>
          </a:ln>
        </p:spPr>
      </p:pic>
      <p:pic>
        <p:nvPicPr>
          <p:cNvPr id="266" name="Google Shape;266;p36"/>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267" name="Google Shape;267;p36"/>
          <p:cNvSpPr txBox="1"/>
          <p:nvPr/>
        </p:nvSpPr>
        <p:spPr>
          <a:xfrm>
            <a:off x="3729456" y="2264828"/>
            <a:ext cx="16851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50">
                <a:solidFill>
                  <a:schemeClr val="dk1"/>
                </a:solidFill>
                <a:latin typeface="DM Sans"/>
                <a:ea typeface="DM Sans"/>
                <a:cs typeface="DM Sans"/>
                <a:sym typeface="DM Sans"/>
              </a:rPr>
              <a:t>REEMPLAZAR </a:t>
            </a:r>
            <a:endParaRPr sz="1350">
              <a:solidFill>
                <a:schemeClr val="dk1"/>
              </a:solidFill>
              <a:latin typeface="DM Sans"/>
              <a:ea typeface="DM Sans"/>
              <a:cs typeface="DM Sans"/>
              <a:sym typeface="DM Sans"/>
            </a:endParaRPr>
          </a:p>
          <a:p>
            <a:pPr indent="0" lvl="0" marL="0" rtl="0" algn="ctr">
              <a:spcBef>
                <a:spcPts val="0"/>
              </a:spcBef>
              <a:spcAft>
                <a:spcPts val="0"/>
              </a:spcAft>
              <a:buNone/>
            </a:pPr>
            <a:r>
              <a:rPr lang="es" sz="1350">
                <a:solidFill>
                  <a:schemeClr val="dk1"/>
                </a:solidFill>
                <a:latin typeface="DM Sans"/>
                <a:ea typeface="DM Sans"/>
                <a:cs typeface="DM Sans"/>
                <a:sym typeface="DM Sans"/>
              </a:rPr>
              <a:t>POR IMAGEN</a:t>
            </a:r>
            <a:endParaRPr sz="1350">
              <a:latin typeface="DM Sans"/>
              <a:ea typeface="DM Sans"/>
              <a:cs typeface="DM Sans"/>
              <a:sym typeface="DM Sans"/>
            </a:endParaRPr>
          </a:p>
        </p:txBody>
      </p:sp>
      <p:pic>
        <p:nvPicPr>
          <p:cNvPr id="268" name="Google Shape;268;p36"/>
          <p:cNvPicPr preferRelativeResize="0"/>
          <p:nvPr/>
        </p:nvPicPr>
        <p:blipFill>
          <a:blip r:embed="rId5">
            <a:alphaModFix/>
          </a:blip>
          <a:stretch>
            <a:fillRect/>
          </a:stretch>
        </p:blipFill>
        <p:spPr>
          <a:xfrm>
            <a:off x="0" y="830771"/>
            <a:ext cx="9144000" cy="3821108"/>
          </a:xfrm>
          <a:prstGeom prst="rect">
            <a:avLst/>
          </a:prstGeom>
          <a:noFill/>
          <a:ln>
            <a:noFill/>
          </a:ln>
        </p:spPr>
      </p:pic>
      <p:sp>
        <p:nvSpPr>
          <p:cNvPr id="269" name="Google Shape;269;p36"/>
          <p:cNvSpPr txBox="1"/>
          <p:nvPr/>
        </p:nvSpPr>
        <p:spPr>
          <a:xfrm>
            <a:off x="1044525" y="94950"/>
            <a:ext cx="7343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chemeClr val="dk1"/>
                </a:solidFill>
                <a:latin typeface="DM Sans"/>
                <a:ea typeface="DM Sans"/>
                <a:cs typeface="DM Sans"/>
                <a:sym typeface="DM Sans"/>
              </a:rPr>
              <a:t>Transformación de los módulos en Webpack</a:t>
            </a:r>
            <a:endParaRPr sz="2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nvSpPr>
        <p:spPr>
          <a:xfrm>
            <a:off x="1404863" y="194137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JSX</a:t>
            </a:r>
            <a:endParaRPr b="1" sz="4000">
              <a:solidFill>
                <a:srgbClr val="EAFF6A"/>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grpSp>
        <p:nvGrpSpPr>
          <p:cNvPr id="279" name="Google Shape;279;p38"/>
          <p:cNvGrpSpPr/>
          <p:nvPr/>
        </p:nvGrpSpPr>
        <p:grpSpPr>
          <a:xfrm>
            <a:off x="457338" y="468286"/>
            <a:ext cx="431100" cy="431100"/>
            <a:chOff x="4616400" y="1950761"/>
            <a:chExt cx="431100" cy="431100"/>
          </a:xfrm>
        </p:grpSpPr>
        <p:sp>
          <p:nvSpPr>
            <p:cNvPr id="280" name="Google Shape;280;p38"/>
            <p:cNvSpPr/>
            <p:nvPr/>
          </p:nvSpPr>
          <p:spPr>
            <a:xfrm>
              <a:off x="4616400" y="1950761"/>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1" name="Google Shape;281;p38" title="ícono para recordar"/>
            <p:cNvPicPr preferRelativeResize="0"/>
            <p:nvPr/>
          </p:nvPicPr>
          <p:blipFill>
            <a:blip r:embed="rId3">
              <a:alphaModFix/>
            </a:blip>
            <a:stretch>
              <a:fillRect/>
            </a:stretch>
          </p:blipFill>
          <p:spPr>
            <a:xfrm>
              <a:off x="4699911" y="2034249"/>
              <a:ext cx="264076" cy="264076"/>
            </a:xfrm>
            <a:prstGeom prst="rect">
              <a:avLst/>
            </a:prstGeom>
            <a:noFill/>
            <a:ln>
              <a:noFill/>
            </a:ln>
          </p:spPr>
        </p:pic>
      </p:grpSp>
      <p:sp>
        <p:nvSpPr>
          <p:cNvPr id="282" name="Google Shape;282;p38"/>
          <p:cNvSpPr txBox="1"/>
          <p:nvPr/>
        </p:nvSpPr>
        <p:spPr>
          <a:xfrm>
            <a:off x="466350" y="1638275"/>
            <a:ext cx="82113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lt1"/>
                </a:solidFill>
                <a:latin typeface="DM Sans"/>
                <a:ea typeface="DM Sans"/>
                <a:cs typeface="DM Sans"/>
                <a:sym typeface="DM Sans"/>
              </a:rPr>
              <a:t>A medida que nuestra aplicación va creciendo y tenemos componentes más grandes que manejan distintos eventos, JSX nos va a ayudar mucho a agilizar y organizar nuestro desarrollo de componentes.</a:t>
            </a:r>
            <a:endParaRPr sz="2000">
              <a:solidFill>
                <a:schemeClr val="lt1"/>
              </a:solidFill>
              <a:latin typeface="DM Sans"/>
              <a:ea typeface="DM Sans"/>
              <a:cs typeface="DM Sans"/>
              <a:sym typeface="DM Sans"/>
            </a:endParaRPr>
          </a:p>
          <a:p>
            <a:pPr indent="0" lvl="0" marL="0" rtl="0" algn="l">
              <a:spcBef>
                <a:spcPts val="0"/>
              </a:spcBef>
              <a:spcAft>
                <a:spcPts val="0"/>
              </a:spcAft>
              <a:buNone/>
            </a:pPr>
            <a:r>
              <a:rPr lang="es" sz="2000">
                <a:solidFill>
                  <a:schemeClr val="lt1"/>
                </a:solidFill>
                <a:latin typeface="DM Sans"/>
                <a:ea typeface="DM Sans"/>
                <a:cs typeface="DM Sans"/>
                <a:sym typeface="DM Sans"/>
              </a:rPr>
              <a:t>Para poder utilizar JSX en nuestra aplicación, </a:t>
            </a:r>
            <a:r>
              <a:rPr lang="es" sz="2000">
                <a:solidFill>
                  <a:srgbClr val="EAFF6A"/>
                </a:solidFill>
                <a:latin typeface="DM Sans"/>
                <a:ea typeface="DM Sans"/>
                <a:cs typeface="DM Sans"/>
                <a:sym typeface="DM Sans"/>
              </a:rPr>
              <a:t>debemos tener instalado Webpack que en nuestro caso viene incluido con create-react-app.</a:t>
            </a:r>
            <a:endParaRPr sz="2000">
              <a:solidFill>
                <a:srgbClr val="EAFF6A"/>
              </a:solidFill>
              <a:latin typeface="DM Sans"/>
              <a:ea typeface="DM Sans"/>
              <a:cs typeface="DM Sans"/>
              <a:sym typeface="DM Sans"/>
            </a:endParaRPr>
          </a:p>
        </p:txBody>
      </p:sp>
      <p:sp>
        <p:nvSpPr>
          <p:cNvPr id="283" name="Google Shape;283;p38"/>
          <p:cNvSpPr txBox="1"/>
          <p:nvPr/>
        </p:nvSpPr>
        <p:spPr>
          <a:xfrm>
            <a:off x="475500" y="899363"/>
            <a:ext cx="731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rgbClr val="EAFF6A"/>
                </a:solidFill>
                <a:latin typeface="DM Sans"/>
                <a:ea typeface="DM Sans"/>
                <a:cs typeface="DM Sans"/>
                <a:sym typeface="DM Sans"/>
              </a:rPr>
              <a:t>JSX</a:t>
            </a:r>
            <a:endParaRPr b="1" sz="4000">
              <a:solidFill>
                <a:srgbClr val="EAFF6A"/>
              </a:solidFill>
              <a:latin typeface="DM Sans"/>
              <a:ea typeface="DM Sans"/>
              <a:cs typeface="DM Sans"/>
              <a:sym typeface="DM Sans"/>
            </a:endParaRPr>
          </a:p>
        </p:txBody>
      </p:sp>
      <p:sp>
        <p:nvSpPr>
          <p:cNvPr id="284" name="Google Shape;284;p38"/>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lt1"/>
                </a:solidFill>
                <a:latin typeface="DM Sans"/>
                <a:ea typeface="DM Sans"/>
                <a:cs typeface="DM Sans"/>
                <a:sym typeface="DM Sans"/>
              </a:rPr>
              <a:t>PARA RECORDAR</a:t>
            </a:r>
            <a:endParaRPr>
              <a:solidFill>
                <a:schemeClr val="lt1"/>
              </a:solidFill>
              <a:latin typeface="DM Sans"/>
              <a:ea typeface="DM Sans"/>
              <a:cs typeface="DM Sans"/>
              <a:sym typeface="DM Sans"/>
            </a:endParaRPr>
          </a:p>
        </p:txBody>
      </p:sp>
      <p:pic>
        <p:nvPicPr>
          <p:cNvPr id="285" name="Google Shape;285;p38"/>
          <p:cNvPicPr preferRelativeResize="0"/>
          <p:nvPr/>
        </p:nvPicPr>
        <p:blipFill>
          <a:blip r:embed="rId4">
            <a:alphaModFix/>
          </a:blip>
          <a:stretch>
            <a:fillRect/>
          </a:stretch>
        </p:blipFill>
        <p:spPr>
          <a:xfrm>
            <a:off x="1743150" y="4041174"/>
            <a:ext cx="1009150" cy="718926"/>
          </a:xfrm>
          <a:prstGeom prst="rect">
            <a:avLst/>
          </a:prstGeom>
          <a:noFill/>
          <a:ln>
            <a:noFill/>
          </a:ln>
        </p:spPr>
      </p:pic>
      <p:pic>
        <p:nvPicPr>
          <p:cNvPr id="286" name="Google Shape;286;p38"/>
          <p:cNvPicPr preferRelativeResize="0"/>
          <p:nvPr/>
        </p:nvPicPr>
        <p:blipFill>
          <a:blip r:embed="rId5">
            <a:alphaModFix/>
          </a:blip>
          <a:stretch>
            <a:fillRect/>
          </a:stretch>
        </p:blipFill>
        <p:spPr>
          <a:xfrm>
            <a:off x="2882545" y="4254973"/>
            <a:ext cx="357017" cy="291328"/>
          </a:xfrm>
          <a:prstGeom prst="rect">
            <a:avLst/>
          </a:prstGeom>
          <a:noFill/>
          <a:ln>
            <a:noFill/>
          </a:ln>
        </p:spPr>
      </p:pic>
      <p:pic>
        <p:nvPicPr>
          <p:cNvPr id="287" name="Google Shape;287;p38"/>
          <p:cNvPicPr preferRelativeResize="0"/>
          <p:nvPr/>
        </p:nvPicPr>
        <p:blipFill>
          <a:blip r:embed="rId6">
            <a:alphaModFix/>
          </a:blip>
          <a:stretch>
            <a:fillRect/>
          </a:stretch>
        </p:blipFill>
        <p:spPr>
          <a:xfrm>
            <a:off x="3435665" y="4100031"/>
            <a:ext cx="1679701" cy="575157"/>
          </a:xfrm>
          <a:prstGeom prst="rect">
            <a:avLst/>
          </a:prstGeom>
          <a:noFill/>
          <a:ln>
            <a:noFill/>
          </a:ln>
        </p:spPr>
      </p:pic>
      <p:pic>
        <p:nvPicPr>
          <p:cNvPr id="288" name="Google Shape;288;p38"/>
          <p:cNvPicPr preferRelativeResize="0"/>
          <p:nvPr/>
        </p:nvPicPr>
        <p:blipFill>
          <a:blip r:embed="rId5">
            <a:alphaModFix/>
          </a:blip>
          <a:stretch>
            <a:fillRect/>
          </a:stretch>
        </p:blipFill>
        <p:spPr>
          <a:xfrm>
            <a:off x="5215374" y="4254973"/>
            <a:ext cx="357017" cy="291328"/>
          </a:xfrm>
          <a:prstGeom prst="rect">
            <a:avLst/>
          </a:prstGeom>
          <a:noFill/>
          <a:ln>
            <a:noFill/>
          </a:ln>
        </p:spPr>
      </p:pic>
      <p:pic>
        <p:nvPicPr>
          <p:cNvPr id="289" name="Google Shape;289;p38"/>
          <p:cNvPicPr preferRelativeResize="0"/>
          <p:nvPr/>
        </p:nvPicPr>
        <p:blipFill>
          <a:blip r:embed="rId7">
            <a:alphaModFix/>
          </a:blip>
          <a:stretch>
            <a:fillRect/>
          </a:stretch>
        </p:blipFill>
        <p:spPr>
          <a:xfrm>
            <a:off x="5711248" y="3924050"/>
            <a:ext cx="1071777" cy="878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grpSp>
        <p:nvGrpSpPr>
          <p:cNvPr id="294" name="Google Shape;294;p39"/>
          <p:cNvGrpSpPr/>
          <p:nvPr/>
        </p:nvGrpSpPr>
        <p:grpSpPr>
          <a:xfrm>
            <a:off x="457338" y="468286"/>
            <a:ext cx="431100" cy="431100"/>
            <a:chOff x="4616400" y="1950761"/>
            <a:chExt cx="431100" cy="431100"/>
          </a:xfrm>
        </p:grpSpPr>
        <p:sp>
          <p:nvSpPr>
            <p:cNvPr id="295" name="Google Shape;295;p39"/>
            <p:cNvSpPr/>
            <p:nvPr/>
          </p:nvSpPr>
          <p:spPr>
            <a:xfrm>
              <a:off x="4616400" y="1950761"/>
              <a:ext cx="431100" cy="431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 name="Google Shape;296;p39" title="ícono para recordar"/>
            <p:cNvPicPr preferRelativeResize="0"/>
            <p:nvPr/>
          </p:nvPicPr>
          <p:blipFill>
            <a:blip r:embed="rId3">
              <a:alphaModFix/>
            </a:blip>
            <a:stretch>
              <a:fillRect/>
            </a:stretch>
          </p:blipFill>
          <p:spPr>
            <a:xfrm>
              <a:off x="4699911" y="2034249"/>
              <a:ext cx="264076" cy="264076"/>
            </a:xfrm>
            <a:prstGeom prst="rect">
              <a:avLst/>
            </a:prstGeom>
            <a:noFill/>
            <a:ln>
              <a:noFill/>
            </a:ln>
          </p:spPr>
        </p:pic>
      </p:grpSp>
      <p:sp>
        <p:nvSpPr>
          <p:cNvPr id="297" name="Google Shape;297;p39"/>
          <p:cNvSpPr txBox="1"/>
          <p:nvPr/>
        </p:nvSpPr>
        <p:spPr>
          <a:xfrm>
            <a:off x="457350" y="1820575"/>
            <a:ext cx="77445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500">
                <a:solidFill>
                  <a:schemeClr val="lt1"/>
                </a:solidFill>
                <a:latin typeface="DM Sans"/>
                <a:ea typeface="DM Sans"/>
                <a:cs typeface="DM Sans"/>
                <a:sym typeface="DM Sans"/>
              </a:rPr>
              <a:t>En JSX se utilizan tanto los estilos como los eventos estándar del DOM, como </a:t>
            </a:r>
            <a:r>
              <a:rPr lang="es" sz="2500">
                <a:solidFill>
                  <a:srgbClr val="C9CBD8"/>
                </a:solidFill>
                <a:latin typeface="Courier New"/>
                <a:ea typeface="Courier New"/>
                <a:cs typeface="Courier New"/>
                <a:sym typeface="Courier New"/>
              </a:rPr>
              <a:t>onclick, onchange, onkeydown</a:t>
            </a:r>
            <a:r>
              <a:rPr lang="es" sz="2500">
                <a:solidFill>
                  <a:schemeClr val="lt1"/>
                </a:solidFill>
                <a:latin typeface="DM Sans"/>
                <a:ea typeface="DM Sans"/>
                <a:cs typeface="DM Sans"/>
                <a:sym typeface="DM Sans"/>
              </a:rPr>
              <a:t>, etc. pero utilizando </a:t>
            </a:r>
            <a:r>
              <a:rPr b="1" lang="es" sz="2500">
                <a:solidFill>
                  <a:srgbClr val="EAFF6A"/>
                </a:solidFill>
                <a:latin typeface="DM Sans"/>
                <a:ea typeface="DM Sans"/>
                <a:cs typeface="DM Sans"/>
                <a:sym typeface="DM Sans"/>
              </a:rPr>
              <a:t>camelCase:</a:t>
            </a:r>
            <a:r>
              <a:rPr lang="es" sz="2500">
                <a:solidFill>
                  <a:schemeClr val="lt1"/>
                </a:solidFill>
                <a:latin typeface="DM Sans"/>
                <a:ea typeface="DM Sans"/>
                <a:cs typeface="DM Sans"/>
                <a:sym typeface="DM Sans"/>
              </a:rPr>
              <a:t> </a:t>
            </a:r>
            <a:r>
              <a:rPr lang="es" sz="2500">
                <a:solidFill>
                  <a:schemeClr val="lt1"/>
                </a:solidFill>
                <a:latin typeface="Courier New"/>
                <a:ea typeface="Courier New"/>
                <a:cs typeface="Courier New"/>
                <a:sym typeface="Courier New"/>
              </a:rPr>
              <a:t>onClick, onChange, onKeyDown / marginTop, paddingBottom, etc.</a:t>
            </a:r>
            <a:endParaRPr b="1" sz="2500">
              <a:solidFill>
                <a:srgbClr val="EAFF6A"/>
              </a:solidFill>
              <a:latin typeface="Courier New"/>
              <a:ea typeface="Courier New"/>
              <a:cs typeface="Courier New"/>
              <a:sym typeface="Courier New"/>
            </a:endParaRPr>
          </a:p>
        </p:txBody>
      </p:sp>
      <p:sp>
        <p:nvSpPr>
          <p:cNvPr id="298" name="Google Shape;298;p39"/>
          <p:cNvSpPr txBox="1"/>
          <p:nvPr/>
        </p:nvSpPr>
        <p:spPr>
          <a:xfrm>
            <a:off x="501450" y="990513"/>
            <a:ext cx="731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rgbClr val="EAFF6A"/>
                </a:solidFill>
                <a:latin typeface="DM Sans"/>
                <a:ea typeface="DM Sans"/>
                <a:cs typeface="DM Sans"/>
                <a:sym typeface="DM Sans"/>
              </a:rPr>
              <a:t>c</a:t>
            </a:r>
            <a:r>
              <a:rPr b="1" lang="es" sz="4000">
                <a:solidFill>
                  <a:srgbClr val="EAFF6A"/>
                </a:solidFill>
                <a:latin typeface="DM Sans"/>
                <a:ea typeface="DM Sans"/>
                <a:cs typeface="DM Sans"/>
                <a:sym typeface="DM Sans"/>
              </a:rPr>
              <a:t>amelCase</a:t>
            </a:r>
            <a:endParaRPr b="1" sz="4000">
              <a:solidFill>
                <a:srgbClr val="EAFF6A"/>
              </a:solidFill>
              <a:latin typeface="DM Sans"/>
              <a:ea typeface="DM Sans"/>
              <a:cs typeface="DM Sans"/>
              <a:sym typeface="DM Sans"/>
            </a:endParaRPr>
          </a:p>
        </p:txBody>
      </p:sp>
      <p:sp>
        <p:nvSpPr>
          <p:cNvPr id="299" name="Google Shape;299;p39"/>
          <p:cNvSpPr txBox="1"/>
          <p:nvPr/>
        </p:nvSpPr>
        <p:spPr>
          <a:xfrm>
            <a:off x="930550" y="468275"/>
            <a:ext cx="291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lt1"/>
                </a:solidFill>
                <a:latin typeface="DM Sans"/>
                <a:ea typeface="DM Sans"/>
                <a:cs typeface="DM Sans"/>
                <a:sym typeface="DM Sans"/>
              </a:rPr>
              <a:t>PARA RECORDAR</a:t>
            </a:r>
            <a:endParaRPr>
              <a:solidFill>
                <a:schemeClr val="lt1"/>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05" name="Google Shape;305;p40"/>
          <p:cNvSpPr txBox="1"/>
          <p:nvPr/>
        </p:nvSpPr>
        <p:spPr>
          <a:xfrm>
            <a:off x="475500" y="1474850"/>
            <a:ext cx="71694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Veremos algunas de las particularidades y reglas de sintaxis necesarias para trabajar con React y JSX</a:t>
            </a:r>
            <a:endParaRPr b="1" sz="25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306" name="Google Shape;306;p40"/>
          <p:cNvGrpSpPr/>
          <p:nvPr/>
        </p:nvGrpSpPr>
        <p:grpSpPr>
          <a:xfrm>
            <a:off x="475501" y="468273"/>
            <a:ext cx="738900" cy="738900"/>
            <a:chOff x="473351" y="619523"/>
            <a:chExt cx="738900" cy="738900"/>
          </a:xfrm>
        </p:grpSpPr>
        <p:sp>
          <p:nvSpPr>
            <p:cNvPr id="307" name="Google Shape;307;p40"/>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8" name="Google Shape;308;p40"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09" name="Google Shape;309;p40"/>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15 minutos</a:t>
            </a:r>
            <a:endParaRPr b="1" sz="2000">
              <a:solidFill>
                <a:schemeClr val="dk2"/>
              </a:solidFill>
              <a:latin typeface="DM Sans"/>
              <a:ea typeface="DM Sans"/>
              <a:cs typeface="DM Sans"/>
              <a:sym typeface="DM Sans"/>
            </a:endParaRPr>
          </a:p>
        </p:txBody>
      </p:sp>
      <p:grpSp>
        <p:nvGrpSpPr>
          <p:cNvPr id="310" name="Google Shape;310;p40"/>
          <p:cNvGrpSpPr/>
          <p:nvPr/>
        </p:nvGrpSpPr>
        <p:grpSpPr>
          <a:xfrm>
            <a:off x="0" y="-7400"/>
            <a:ext cx="9143925" cy="44400"/>
            <a:chOff x="0" y="-7400"/>
            <a:chExt cx="9143925" cy="44400"/>
          </a:xfrm>
        </p:grpSpPr>
        <p:sp>
          <p:nvSpPr>
            <p:cNvPr id="311" name="Google Shape;311;p40"/>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12" name="Google Shape;312;p40"/>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1"/>
          <p:cNvSpPr txBox="1"/>
          <p:nvPr/>
        </p:nvSpPr>
        <p:spPr>
          <a:xfrm>
            <a:off x="2690573" y="3587813"/>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Renderizando variables en la interfaz de componentes.</a:t>
            </a:r>
            <a:endParaRPr sz="1350">
              <a:solidFill>
                <a:schemeClr val="dk1"/>
              </a:solidFill>
              <a:latin typeface="DM Sans"/>
              <a:ea typeface="DM Sans"/>
              <a:cs typeface="DM Sans"/>
              <a:sym typeface="DM Sans"/>
            </a:endParaRPr>
          </a:p>
        </p:txBody>
      </p:sp>
      <p:grpSp>
        <p:nvGrpSpPr>
          <p:cNvPr id="318" name="Google Shape;318;p41"/>
          <p:cNvGrpSpPr/>
          <p:nvPr/>
        </p:nvGrpSpPr>
        <p:grpSpPr>
          <a:xfrm>
            <a:off x="2172088" y="1852650"/>
            <a:ext cx="197100" cy="197100"/>
            <a:chOff x="2172088" y="1852650"/>
            <a:chExt cx="197100" cy="197100"/>
          </a:xfrm>
        </p:grpSpPr>
        <p:sp>
          <p:nvSpPr>
            <p:cNvPr id="319" name="Google Shape;319;p41"/>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1"/>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 name="Google Shape;321;p41"/>
          <p:cNvGrpSpPr/>
          <p:nvPr/>
        </p:nvGrpSpPr>
        <p:grpSpPr>
          <a:xfrm>
            <a:off x="2172088" y="2455775"/>
            <a:ext cx="197100" cy="197100"/>
            <a:chOff x="2172088" y="2455775"/>
            <a:chExt cx="197100" cy="197100"/>
          </a:xfrm>
        </p:grpSpPr>
        <p:sp>
          <p:nvSpPr>
            <p:cNvPr id="322" name="Google Shape;322;p41"/>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1"/>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24" name="Google Shape;324;p41"/>
          <p:cNvCxnSpPr>
            <a:endCxn id="322"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325" name="Google Shape;325;p41"/>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326" name="Google Shape;326;p41"/>
          <p:cNvSpPr txBox="1"/>
          <p:nvPr/>
        </p:nvSpPr>
        <p:spPr>
          <a:xfrm>
            <a:off x="2690573" y="1731413"/>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Palabras reservadas: class vs. </a:t>
            </a:r>
            <a:r>
              <a:rPr b="1" lang="es" sz="1350">
                <a:solidFill>
                  <a:schemeClr val="dk1"/>
                </a:solidFill>
                <a:latin typeface="DM Sans"/>
                <a:ea typeface="DM Sans"/>
                <a:cs typeface="DM Sans"/>
                <a:sym typeface="DM Sans"/>
              </a:rPr>
              <a:t>className.</a:t>
            </a:r>
            <a:endParaRPr b="1" sz="1350">
              <a:solidFill>
                <a:schemeClr val="dk1"/>
              </a:solidFill>
              <a:latin typeface="DM Sans"/>
              <a:ea typeface="DM Sans"/>
              <a:cs typeface="DM Sans"/>
              <a:sym typeface="DM Sans"/>
            </a:endParaRPr>
          </a:p>
        </p:txBody>
      </p:sp>
      <p:sp>
        <p:nvSpPr>
          <p:cNvPr id="327" name="Google Shape;327;p41"/>
          <p:cNvSpPr txBox="1"/>
          <p:nvPr/>
        </p:nvSpPr>
        <p:spPr>
          <a:xfrm>
            <a:off x="2690573" y="233453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solidFill>
                  <a:schemeClr val="dk1"/>
                </a:solidFill>
                <a:latin typeface="DM Sans"/>
                <a:ea typeface="DM Sans"/>
                <a:cs typeface="DM Sans"/>
                <a:sym typeface="DM Sans"/>
              </a:rPr>
              <a:t>Cierre </a:t>
            </a:r>
            <a:r>
              <a:rPr lang="es" sz="1350">
                <a:solidFill>
                  <a:schemeClr val="dk1"/>
                </a:solidFill>
                <a:latin typeface="DM Sans"/>
                <a:ea typeface="DM Sans"/>
                <a:cs typeface="DM Sans"/>
                <a:sym typeface="DM Sans"/>
              </a:rPr>
              <a:t>obligatorio de etiquetas.</a:t>
            </a:r>
            <a:endParaRPr sz="1350">
              <a:solidFill>
                <a:schemeClr val="dk1"/>
              </a:solidFill>
              <a:latin typeface="DM Sans"/>
              <a:ea typeface="DM Sans"/>
              <a:cs typeface="DM Sans"/>
              <a:sym typeface="DM Sans"/>
            </a:endParaRPr>
          </a:p>
        </p:txBody>
      </p:sp>
      <p:grpSp>
        <p:nvGrpSpPr>
          <p:cNvPr id="328" name="Google Shape;328;p41"/>
          <p:cNvGrpSpPr/>
          <p:nvPr/>
        </p:nvGrpSpPr>
        <p:grpSpPr>
          <a:xfrm>
            <a:off x="2172088" y="3082350"/>
            <a:ext cx="197100" cy="197100"/>
            <a:chOff x="2172088" y="3058775"/>
            <a:chExt cx="197100" cy="197100"/>
          </a:xfrm>
        </p:grpSpPr>
        <p:sp>
          <p:nvSpPr>
            <p:cNvPr id="329" name="Google Shape;329;p41"/>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1"/>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1" name="Google Shape;331;p41"/>
          <p:cNvCxnSpPr>
            <a:endCxn id="329"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332" name="Google Shape;332;p41"/>
          <p:cNvGrpSpPr/>
          <p:nvPr/>
        </p:nvGrpSpPr>
        <p:grpSpPr>
          <a:xfrm>
            <a:off x="2172088" y="3685475"/>
            <a:ext cx="197100" cy="197100"/>
            <a:chOff x="2172088" y="3661775"/>
            <a:chExt cx="197100" cy="197100"/>
          </a:xfrm>
        </p:grpSpPr>
        <p:sp>
          <p:nvSpPr>
            <p:cNvPr id="333" name="Google Shape;333;p41"/>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1"/>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5" name="Google Shape;335;p41"/>
          <p:cNvCxnSpPr>
            <a:endCxn id="333"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336" name="Google Shape;336;p41"/>
          <p:cNvSpPr txBox="1"/>
          <p:nvPr/>
        </p:nvSpPr>
        <p:spPr>
          <a:xfrm>
            <a:off x="2690573" y="298468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solidFill>
                  <a:schemeClr val="dk1"/>
                </a:solidFill>
                <a:latin typeface="DM Sans"/>
                <a:ea typeface="DM Sans"/>
                <a:cs typeface="DM Sans"/>
                <a:sym typeface="DM Sans"/>
              </a:rPr>
              <a:t>Eventos y Estilos </a:t>
            </a:r>
            <a:r>
              <a:rPr lang="es" sz="1350">
                <a:solidFill>
                  <a:schemeClr val="dk1"/>
                </a:solidFill>
                <a:latin typeface="DM Sans"/>
                <a:ea typeface="DM Sans"/>
                <a:cs typeface="DM Sans"/>
                <a:sym typeface="DM Sans"/>
              </a:rPr>
              <a:t>inline.</a:t>
            </a:r>
            <a:endParaRPr sz="1350">
              <a:solidFill>
                <a:schemeClr val="dk1"/>
              </a:solidFill>
              <a:latin typeface="DM Sans"/>
              <a:ea typeface="DM Sans"/>
              <a:cs typeface="DM Sans"/>
              <a:sym typeface="DM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2"/>
          <p:cNvSpPr txBox="1"/>
          <p:nvPr/>
        </p:nvSpPr>
        <p:spPr>
          <a:xfrm>
            <a:off x="1404863" y="194137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Estados y </a:t>
            </a:r>
            <a:r>
              <a:rPr b="1" lang="es" sz="4000">
                <a:solidFill>
                  <a:schemeClr val="lt1"/>
                </a:solidFill>
                <a:latin typeface="DM Sans"/>
                <a:ea typeface="DM Sans"/>
                <a:cs typeface="DM Sans"/>
                <a:sym typeface="DM Sans"/>
              </a:rPr>
              <a:t>hooks</a:t>
            </a:r>
            <a:endParaRPr b="1" sz="4000">
              <a:solidFill>
                <a:srgbClr val="EAFF6A"/>
              </a:solidFill>
              <a:latin typeface="DM Sans"/>
              <a:ea typeface="DM Sans"/>
              <a:cs typeface="DM Sans"/>
              <a:sym typeface="DM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47" name="Google Shape;347;p43"/>
          <p:cNvSpPr txBox="1"/>
          <p:nvPr/>
        </p:nvSpPr>
        <p:spPr>
          <a:xfrm>
            <a:off x="475500" y="1703450"/>
            <a:ext cx="58059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2"/>
                </a:solidFill>
                <a:latin typeface="DM Sans"/>
                <a:ea typeface="DM Sans"/>
                <a:cs typeface="DM Sans"/>
                <a:sym typeface="DM Sans"/>
              </a:rPr>
              <a:t>Crea un componente ItemCount, que debe estar compuesto de botones para incrementar y decrementar la cantidad requerida de ítems.</a:t>
            </a:r>
            <a:endParaRPr b="1" sz="23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300">
              <a:solidFill>
                <a:srgbClr val="B7B7B7"/>
              </a:solidFill>
              <a:latin typeface="Helvetica Neue"/>
              <a:ea typeface="Helvetica Neue"/>
              <a:cs typeface="Helvetica Neue"/>
              <a:sym typeface="Helvetica Neue"/>
            </a:endParaRPr>
          </a:p>
        </p:txBody>
      </p:sp>
      <p:grpSp>
        <p:nvGrpSpPr>
          <p:cNvPr id="348" name="Google Shape;348;p43"/>
          <p:cNvGrpSpPr/>
          <p:nvPr/>
        </p:nvGrpSpPr>
        <p:grpSpPr>
          <a:xfrm>
            <a:off x="475501" y="468273"/>
            <a:ext cx="738900" cy="738900"/>
            <a:chOff x="473351" y="619523"/>
            <a:chExt cx="738900" cy="738900"/>
          </a:xfrm>
        </p:grpSpPr>
        <p:sp>
          <p:nvSpPr>
            <p:cNvPr id="349" name="Google Shape;349;p43"/>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0" name="Google Shape;350;p43"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51" name="Google Shape;351;p43"/>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20/25 minutos</a:t>
            </a:r>
            <a:endParaRPr b="1" sz="2000">
              <a:solidFill>
                <a:schemeClr val="dk2"/>
              </a:solidFill>
              <a:latin typeface="DM Sans"/>
              <a:ea typeface="DM Sans"/>
              <a:cs typeface="DM Sans"/>
              <a:sym typeface="DM Sans"/>
            </a:endParaRPr>
          </a:p>
        </p:txBody>
      </p:sp>
      <p:grpSp>
        <p:nvGrpSpPr>
          <p:cNvPr id="352" name="Google Shape;352;p43"/>
          <p:cNvGrpSpPr/>
          <p:nvPr/>
        </p:nvGrpSpPr>
        <p:grpSpPr>
          <a:xfrm>
            <a:off x="0" y="-7400"/>
            <a:ext cx="9143925" cy="44400"/>
            <a:chOff x="0" y="-7400"/>
            <a:chExt cx="9143925" cy="44400"/>
          </a:xfrm>
        </p:grpSpPr>
        <p:sp>
          <p:nvSpPr>
            <p:cNvPr id="353" name="Google Shape;353;p43"/>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54" name="Google Shape;354;p4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pic>
        <p:nvPicPr>
          <p:cNvPr id="355" name="Google Shape;355;p43"/>
          <p:cNvPicPr preferRelativeResize="0"/>
          <p:nvPr/>
        </p:nvPicPr>
        <p:blipFill>
          <a:blip r:embed="rId4">
            <a:alphaModFix/>
          </a:blip>
          <a:stretch>
            <a:fillRect/>
          </a:stretch>
        </p:blipFill>
        <p:spPr>
          <a:xfrm>
            <a:off x="6281275" y="1865523"/>
            <a:ext cx="2028825" cy="781050"/>
          </a:xfrm>
          <a:prstGeom prst="rect">
            <a:avLst/>
          </a:prstGeom>
          <a:noFill/>
          <a:ln>
            <a:noFill/>
          </a:ln>
        </p:spPr>
      </p:pic>
      <p:pic>
        <p:nvPicPr>
          <p:cNvPr id="356" name="Google Shape;356;p43"/>
          <p:cNvPicPr preferRelativeResize="0"/>
          <p:nvPr/>
        </p:nvPicPr>
        <p:blipFill>
          <a:blip r:embed="rId5">
            <a:alphaModFix/>
          </a:blip>
          <a:stretch>
            <a:fillRect/>
          </a:stretch>
        </p:blipFill>
        <p:spPr>
          <a:xfrm>
            <a:off x="6281275" y="2646573"/>
            <a:ext cx="2028825" cy="438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grpSp>
        <p:nvGrpSpPr>
          <p:cNvPr id="361" name="Google Shape;361;p44"/>
          <p:cNvGrpSpPr/>
          <p:nvPr/>
        </p:nvGrpSpPr>
        <p:grpSpPr>
          <a:xfrm>
            <a:off x="2172088" y="1852650"/>
            <a:ext cx="197100" cy="197100"/>
            <a:chOff x="2172088" y="1852650"/>
            <a:chExt cx="197100" cy="197100"/>
          </a:xfrm>
        </p:grpSpPr>
        <p:sp>
          <p:nvSpPr>
            <p:cNvPr id="362" name="Google Shape;362;p44"/>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4"/>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44"/>
          <p:cNvGrpSpPr/>
          <p:nvPr/>
        </p:nvGrpSpPr>
        <p:grpSpPr>
          <a:xfrm>
            <a:off x="2172088" y="2531975"/>
            <a:ext cx="197100" cy="197100"/>
            <a:chOff x="2172088" y="2455775"/>
            <a:chExt cx="197100" cy="197100"/>
          </a:xfrm>
        </p:grpSpPr>
        <p:sp>
          <p:nvSpPr>
            <p:cNvPr id="365" name="Google Shape;365;p44"/>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4"/>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7" name="Google Shape;367;p44"/>
          <p:cNvCxnSpPr>
            <a:stCxn id="363" idx="4"/>
            <a:endCxn id="366" idx="4"/>
          </p:cNvCxnSpPr>
          <p:nvPr/>
        </p:nvCxnSpPr>
        <p:spPr>
          <a:xfrm>
            <a:off x="2270638" y="1994700"/>
            <a:ext cx="0" cy="679200"/>
          </a:xfrm>
          <a:prstGeom prst="straightConnector1">
            <a:avLst/>
          </a:prstGeom>
          <a:noFill/>
          <a:ln cap="flat" cmpd="sng" w="9525">
            <a:solidFill>
              <a:srgbClr val="DEFC52"/>
            </a:solidFill>
            <a:prstDash val="solid"/>
            <a:round/>
            <a:headEnd len="med" w="med" type="none"/>
            <a:tailEnd len="med" w="med" type="none"/>
          </a:ln>
        </p:spPr>
      </p:cxnSp>
      <p:sp>
        <p:nvSpPr>
          <p:cNvPr id="368" name="Google Shape;368;p44"/>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369" name="Google Shape;369;p44"/>
          <p:cNvSpPr txBox="1"/>
          <p:nvPr/>
        </p:nvSpPr>
        <p:spPr>
          <a:xfrm>
            <a:off x="2690575" y="1731425"/>
            <a:ext cx="3806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el estado del componente con el hook </a:t>
            </a:r>
            <a:r>
              <a:rPr b="1" lang="es" sz="1350">
                <a:solidFill>
                  <a:schemeClr val="dk1"/>
                </a:solidFill>
                <a:latin typeface="DM Sans"/>
                <a:ea typeface="DM Sans"/>
                <a:cs typeface="DM Sans"/>
                <a:sym typeface="DM Sans"/>
              </a:rPr>
              <a:t>useState(), </a:t>
            </a:r>
            <a:r>
              <a:rPr lang="es" sz="1350">
                <a:solidFill>
                  <a:schemeClr val="dk1"/>
                </a:solidFill>
                <a:latin typeface="DM Sans"/>
                <a:ea typeface="DM Sans"/>
                <a:cs typeface="DM Sans"/>
                <a:sym typeface="DM Sans"/>
              </a:rPr>
              <a:t>inicializado con el valor 0.</a:t>
            </a:r>
            <a:endParaRPr sz="1350">
              <a:solidFill>
                <a:schemeClr val="dk1"/>
              </a:solidFill>
              <a:latin typeface="DM Sans"/>
              <a:ea typeface="DM Sans"/>
              <a:cs typeface="DM Sans"/>
              <a:sym typeface="DM Sans"/>
            </a:endParaRPr>
          </a:p>
        </p:txBody>
      </p:sp>
      <p:sp>
        <p:nvSpPr>
          <p:cNvPr id="370" name="Google Shape;370;p44"/>
          <p:cNvSpPr txBox="1"/>
          <p:nvPr/>
        </p:nvSpPr>
        <p:spPr>
          <a:xfrm>
            <a:off x="2690573" y="241073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Renderizamos en la interfaz el valor del contador, y los botones necesarios para manipularlo</a:t>
            </a:r>
            <a:endParaRPr sz="1350">
              <a:solidFill>
                <a:schemeClr val="dk1"/>
              </a:solidFill>
              <a:latin typeface="DM Sans"/>
              <a:ea typeface="DM Sans"/>
              <a:cs typeface="DM Sans"/>
              <a:sym typeface="DM Sans"/>
            </a:endParaRPr>
          </a:p>
        </p:txBody>
      </p:sp>
      <p:grpSp>
        <p:nvGrpSpPr>
          <p:cNvPr id="371" name="Google Shape;371;p44"/>
          <p:cNvGrpSpPr/>
          <p:nvPr/>
        </p:nvGrpSpPr>
        <p:grpSpPr>
          <a:xfrm>
            <a:off x="2172088" y="3082350"/>
            <a:ext cx="197100" cy="197100"/>
            <a:chOff x="2172088" y="3058775"/>
            <a:chExt cx="197100" cy="197100"/>
          </a:xfrm>
        </p:grpSpPr>
        <p:sp>
          <p:nvSpPr>
            <p:cNvPr id="372" name="Google Shape;372;p44"/>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4"/>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44"/>
          <p:cNvSpPr txBox="1"/>
          <p:nvPr/>
        </p:nvSpPr>
        <p:spPr>
          <a:xfrm>
            <a:off x="2690575" y="2984700"/>
            <a:ext cx="4827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Agregamos un </a:t>
            </a:r>
            <a:r>
              <a:rPr b="1" lang="es" sz="1350">
                <a:solidFill>
                  <a:schemeClr val="dk1"/>
                </a:solidFill>
                <a:latin typeface="DM Sans"/>
                <a:ea typeface="DM Sans"/>
                <a:cs typeface="DM Sans"/>
                <a:sym typeface="DM Sans"/>
              </a:rPr>
              <a:t>evento </a:t>
            </a:r>
            <a:r>
              <a:rPr lang="es" sz="1350">
                <a:solidFill>
                  <a:schemeClr val="dk1"/>
                </a:solidFill>
                <a:latin typeface="DM Sans"/>
                <a:ea typeface="DM Sans"/>
                <a:cs typeface="DM Sans"/>
                <a:sym typeface="DM Sans"/>
              </a:rPr>
              <a:t>de “onClick” a cada botón, con las funciónes de  </a:t>
            </a:r>
            <a:r>
              <a:rPr b="1" lang="es" sz="1350">
                <a:solidFill>
                  <a:schemeClr val="dk1"/>
                </a:solidFill>
                <a:latin typeface="DM Sans"/>
                <a:ea typeface="DM Sans"/>
                <a:cs typeface="DM Sans"/>
                <a:sym typeface="DM Sans"/>
              </a:rPr>
              <a:t>callback </a:t>
            </a:r>
            <a:r>
              <a:rPr lang="es" sz="1350">
                <a:solidFill>
                  <a:schemeClr val="dk1"/>
                </a:solidFill>
                <a:latin typeface="DM Sans"/>
                <a:ea typeface="DM Sans"/>
                <a:cs typeface="DM Sans"/>
                <a:sym typeface="DM Sans"/>
              </a:rPr>
              <a:t>encargadas de sumar/restar</a:t>
            </a:r>
            <a:endParaRPr sz="1350">
              <a:solidFill>
                <a:schemeClr val="dk1"/>
              </a:solidFill>
              <a:latin typeface="DM Sans"/>
              <a:ea typeface="DM Sans"/>
              <a:cs typeface="DM Sans"/>
              <a:sym typeface="DM Sans"/>
            </a:endParaRPr>
          </a:p>
        </p:txBody>
      </p:sp>
      <p:cxnSp>
        <p:nvCxnSpPr>
          <p:cNvPr id="375" name="Google Shape;375;p44"/>
          <p:cNvCxnSpPr>
            <a:endCxn id="372"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sp>
        <p:nvSpPr>
          <p:cNvPr id="380" name="Google Shape;380;p45"/>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81" name="Google Shape;381;p45"/>
          <p:cNvSpPr txBox="1"/>
          <p:nvPr/>
        </p:nvSpPr>
        <p:spPr>
          <a:xfrm>
            <a:off x="475500" y="1474850"/>
            <a:ext cx="62979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Crearemos un componente Contador, encargado de almacenar en un estado la cantidad de clicks realizados.</a:t>
            </a:r>
            <a:endParaRPr b="1" sz="25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382" name="Google Shape;382;p45"/>
          <p:cNvGrpSpPr/>
          <p:nvPr/>
        </p:nvGrpSpPr>
        <p:grpSpPr>
          <a:xfrm>
            <a:off x="475501" y="468273"/>
            <a:ext cx="738900" cy="738900"/>
            <a:chOff x="473351" y="619523"/>
            <a:chExt cx="738900" cy="738900"/>
          </a:xfrm>
        </p:grpSpPr>
        <p:sp>
          <p:nvSpPr>
            <p:cNvPr id="383" name="Google Shape;383;p45"/>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4" name="Google Shape;384;p45"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85" name="Google Shape;385;p45"/>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15 minutos</a:t>
            </a:r>
            <a:endParaRPr b="1" sz="2000">
              <a:solidFill>
                <a:schemeClr val="dk2"/>
              </a:solidFill>
              <a:latin typeface="DM Sans"/>
              <a:ea typeface="DM Sans"/>
              <a:cs typeface="DM Sans"/>
              <a:sym typeface="DM Sans"/>
            </a:endParaRPr>
          </a:p>
        </p:txBody>
      </p:sp>
      <p:grpSp>
        <p:nvGrpSpPr>
          <p:cNvPr id="386" name="Google Shape;386;p45"/>
          <p:cNvGrpSpPr/>
          <p:nvPr/>
        </p:nvGrpSpPr>
        <p:grpSpPr>
          <a:xfrm>
            <a:off x="0" y="-7400"/>
            <a:ext cx="9143925" cy="44400"/>
            <a:chOff x="0" y="-7400"/>
            <a:chExt cx="9143925" cy="44400"/>
          </a:xfrm>
        </p:grpSpPr>
        <p:sp>
          <p:nvSpPr>
            <p:cNvPr id="387" name="Google Shape;387;p45"/>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88" name="Google Shape;388;p45"/>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grpSp>
        <p:nvGrpSpPr>
          <p:cNvPr id="393" name="Google Shape;393;p46"/>
          <p:cNvGrpSpPr/>
          <p:nvPr/>
        </p:nvGrpSpPr>
        <p:grpSpPr>
          <a:xfrm>
            <a:off x="4202552" y="1088764"/>
            <a:ext cx="738900" cy="738974"/>
            <a:chOff x="3137108" y="2467173"/>
            <a:chExt cx="738900" cy="738900"/>
          </a:xfrm>
        </p:grpSpPr>
        <p:sp>
          <p:nvSpPr>
            <p:cNvPr id="394" name="Google Shape;394;p46"/>
            <p:cNvSpPr/>
            <p:nvPr/>
          </p:nvSpPr>
          <p:spPr>
            <a:xfrm>
              <a:off x="3137108"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5" name="Google Shape;395;p46" title="ícono de desafío entregable"/>
            <p:cNvPicPr preferRelativeResize="0"/>
            <p:nvPr/>
          </p:nvPicPr>
          <p:blipFill>
            <a:blip r:embed="rId3">
              <a:alphaModFix/>
            </a:blip>
            <a:stretch>
              <a:fillRect/>
            </a:stretch>
          </p:blipFill>
          <p:spPr>
            <a:xfrm>
              <a:off x="3284109" y="2622263"/>
              <a:ext cx="428721" cy="428726"/>
            </a:xfrm>
            <a:prstGeom prst="rect">
              <a:avLst/>
            </a:prstGeom>
            <a:noFill/>
            <a:ln>
              <a:noFill/>
            </a:ln>
          </p:spPr>
        </p:pic>
      </p:grpSp>
      <p:sp>
        <p:nvSpPr>
          <p:cNvPr id="396" name="Google Shape;396;p46"/>
          <p:cNvSpPr txBox="1"/>
          <p:nvPr/>
        </p:nvSpPr>
        <p:spPr>
          <a:xfrm>
            <a:off x="1461300" y="210917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Preentrega 1</a:t>
            </a:r>
            <a:endParaRPr b="1" sz="4000">
              <a:solidFill>
                <a:schemeClr val="dk1"/>
              </a:solidFill>
              <a:latin typeface="DM Sans"/>
              <a:ea typeface="DM Sans"/>
              <a:cs typeface="DM Sans"/>
              <a:sym typeface="DM Sans"/>
            </a:endParaRPr>
          </a:p>
        </p:txBody>
      </p:sp>
      <p:sp>
        <p:nvSpPr>
          <p:cNvPr id="397" name="Google Shape;397;p46"/>
          <p:cNvSpPr txBox="1"/>
          <p:nvPr/>
        </p:nvSpPr>
        <p:spPr>
          <a:xfrm>
            <a:off x="987300" y="2848075"/>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s" sz="2000">
                <a:solidFill>
                  <a:schemeClr val="dk2"/>
                </a:solidFill>
                <a:latin typeface="DM Sans"/>
                <a:ea typeface="DM Sans"/>
                <a:cs typeface="DM Sans"/>
                <a:sym typeface="DM Sans"/>
              </a:rPr>
              <a:t>Crea tu landing</a:t>
            </a:r>
            <a:endParaRPr sz="2000">
              <a:solidFill>
                <a:schemeClr val="dk2"/>
              </a:solidFill>
              <a:latin typeface="DM Sans"/>
              <a:ea typeface="DM Sans"/>
              <a:cs typeface="DM Sans"/>
              <a:sym typeface="DM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grpSp>
        <p:nvGrpSpPr>
          <p:cNvPr id="402" name="Google Shape;402;p47"/>
          <p:cNvGrpSpPr/>
          <p:nvPr/>
        </p:nvGrpSpPr>
        <p:grpSpPr>
          <a:xfrm>
            <a:off x="475504" y="468259"/>
            <a:ext cx="431074" cy="431148"/>
            <a:chOff x="3137108" y="2467173"/>
            <a:chExt cx="738900" cy="738900"/>
          </a:xfrm>
        </p:grpSpPr>
        <p:sp>
          <p:nvSpPr>
            <p:cNvPr id="403" name="Google Shape;403;p47"/>
            <p:cNvSpPr/>
            <p:nvPr/>
          </p:nvSpPr>
          <p:spPr>
            <a:xfrm>
              <a:off x="3137108"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4" name="Google Shape;404;p47" title="ícono de desafío entregable"/>
            <p:cNvPicPr preferRelativeResize="0"/>
            <p:nvPr/>
          </p:nvPicPr>
          <p:blipFill>
            <a:blip r:embed="rId3">
              <a:alphaModFix/>
            </a:blip>
            <a:stretch>
              <a:fillRect/>
            </a:stretch>
          </p:blipFill>
          <p:spPr>
            <a:xfrm>
              <a:off x="3284109" y="2622263"/>
              <a:ext cx="428721" cy="428726"/>
            </a:xfrm>
            <a:prstGeom prst="rect">
              <a:avLst/>
            </a:prstGeom>
            <a:noFill/>
            <a:ln>
              <a:noFill/>
            </a:ln>
          </p:spPr>
        </p:pic>
      </p:grpSp>
      <p:sp>
        <p:nvSpPr>
          <p:cNvPr id="405" name="Google Shape;405;p47"/>
          <p:cNvSpPr txBox="1"/>
          <p:nvPr/>
        </p:nvSpPr>
        <p:spPr>
          <a:xfrm>
            <a:off x="501450" y="899375"/>
            <a:ext cx="731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Crea tu landing</a:t>
            </a:r>
            <a:endParaRPr b="1" sz="4000">
              <a:solidFill>
                <a:schemeClr val="dk1"/>
              </a:solidFill>
              <a:latin typeface="DM Sans"/>
              <a:ea typeface="DM Sans"/>
              <a:cs typeface="DM Sans"/>
              <a:sym typeface="DM Sans"/>
            </a:endParaRPr>
          </a:p>
        </p:txBody>
      </p:sp>
      <p:pic>
        <p:nvPicPr>
          <p:cNvPr id="406" name="Google Shape;406;p47"/>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407" name="Google Shape;407;p47"/>
          <p:cNvSpPr txBox="1"/>
          <p:nvPr/>
        </p:nvSpPr>
        <p:spPr>
          <a:xfrm>
            <a:off x="930550" y="468275"/>
            <a:ext cx="4180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PREENTREGA N° 1</a:t>
            </a:r>
            <a:endParaRPr>
              <a:latin typeface="DM Sans"/>
              <a:ea typeface="DM Sans"/>
              <a:cs typeface="DM Sans"/>
              <a:sym typeface="DM Sans"/>
            </a:endParaRPr>
          </a:p>
        </p:txBody>
      </p:sp>
      <p:sp>
        <p:nvSpPr>
          <p:cNvPr id="408" name="Google Shape;408;p47"/>
          <p:cNvSpPr txBox="1"/>
          <p:nvPr/>
        </p:nvSpPr>
        <p:spPr>
          <a:xfrm>
            <a:off x="4624625" y="3343575"/>
            <a:ext cx="3834600" cy="128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latin typeface="DM Sans"/>
                <a:ea typeface="DM Sans"/>
                <a:cs typeface="DM Sans"/>
                <a:sym typeface="DM Sans"/>
              </a:rPr>
              <a:t>Formato</a:t>
            </a:r>
            <a:endParaRPr b="1" sz="1350">
              <a:latin typeface="DM Sans"/>
              <a:ea typeface="DM Sans"/>
              <a:cs typeface="DM Sans"/>
              <a:sym typeface="DM Sans"/>
            </a:endParaRPr>
          </a:p>
          <a:p>
            <a:pPr indent="0" lvl="0" marL="0" rtl="0" algn="l">
              <a:lnSpc>
                <a:spcPct val="30000"/>
              </a:lnSpc>
              <a:spcBef>
                <a:spcPts val="0"/>
              </a:spcBef>
              <a:spcAft>
                <a:spcPts val="0"/>
              </a:spcAft>
              <a:buNone/>
            </a:pPr>
            <a:r>
              <a:t/>
            </a:r>
            <a:endParaRPr b="1" sz="1350">
              <a:latin typeface="DM Sans"/>
              <a:ea typeface="DM Sans"/>
              <a:cs typeface="DM Sans"/>
              <a:sym typeface="DM Sans"/>
            </a:endParaRPr>
          </a:p>
          <a:p>
            <a:pPr indent="-314325" lvl="0" marL="457200" rtl="0" algn="l">
              <a:spcBef>
                <a:spcPts val="0"/>
              </a:spcBef>
              <a:spcAft>
                <a:spcPts val="0"/>
              </a:spcAft>
              <a:buClr>
                <a:srgbClr val="82DB91"/>
              </a:buClr>
              <a:buSzPts val="1350"/>
              <a:buFont typeface="DM Sans"/>
              <a:buChar char="✓"/>
            </a:pPr>
            <a:r>
              <a:rPr lang="es" sz="1350">
                <a:solidFill>
                  <a:schemeClr val="dk1"/>
                </a:solidFill>
                <a:latin typeface="DM Sans"/>
                <a:ea typeface="DM Sans"/>
                <a:cs typeface="DM Sans"/>
                <a:sym typeface="DM Sans"/>
              </a:rPr>
              <a:t>Link al último commit de tu repositorio en </a:t>
            </a:r>
            <a:r>
              <a:rPr b="1" lang="es" sz="1350">
                <a:solidFill>
                  <a:schemeClr val="dk1"/>
                </a:solidFill>
                <a:latin typeface="DM Sans"/>
                <a:ea typeface="DM Sans"/>
                <a:cs typeface="DM Sans"/>
                <a:sym typeface="DM Sans"/>
              </a:rPr>
              <a:t>GitHub</a:t>
            </a:r>
            <a:r>
              <a:rPr lang="es" sz="1350">
                <a:solidFill>
                  <a:schemeClr val="dk1"/>
                </a:solidFill>
                <a:latin typeface="DM Sans"/>
                <a:ea typeface="DM Sans"/>
                <a:cs typeface="DM Sans"/>
                <a:sym typeface="DM Sans"/>
              </a:rPr>
              <a:t>. Debe tener el nombre “CreaTuLanding+Apellido”, por ejemplo “CreaTuLanding+Fernandez”</a:t>
            </a:r>
            <a:endParaRPr sz="1350">
              <a:solidFill>
                <a:srgbClr val="999999"/>
              </a:solidFill>
              <a:latin typeface="DM Sans"/>
              <a:ea typeface="DM Sans"/>
              <a:cs typeface="DM Sans"/>
              <a:sym typeface="DM Sans"/>
            </a:endParaRPr>
          </a:p>
        </p:txBody>
      </p:sp>
      <p:sp>
        <p:nvSpPr>
          <p:cNvPr id="409" name="Google Shape;409;p47"/>
          <p:cNvSpPr txBox="1"/>
          <p:nvPr/>
        </p:nvSpPr>
        <p:spPr>
          <a:xfrm>
            <a:off x="501450" y="3270100"/>
            <a:ext cx="3834600" cy="1414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Objetivos </a:t>
            </a:r>
            <a:endParaRPr b="1" sz="1350">
              <a:latin typeface="DM Sans"/>
              <a:ea typeface="DM Sans"/>
              <a:cs typeface="DM Sans"/>
              <a:sym typeface="DM Sans"/>
            </a:endParaRPr>
          </a:p>
          <a:p>
            <a:pPr indent="0" lvl="0" marL="0" rtl="0" algn="l">
              <a:lnSpc>
                <a:spcPct val="30000"/>
              </a:lnSpc>
              <a:spcBef>
                <a:spcPts val="0"/>
              </a:spcBef>
              <a:spcAft>
                <a:spcPts val="0"/>
              </a:spcAft>
              <a:buNone/>
            </a:pPr>
            <a:r>
              <a:t/>
            </a:r>
            <a:endParaRPr b="1" sz="1350">
              <a:latin typeface="DM Sans"/>
              <a:ea typeface="DM Sans"/>
              <a:cs typeface="DM Sans"/>
              <a:sym typeface="DM Sans"/>
            </a:endParaRPr>
          </a:p>
          <a:p>
            <a:pPr indent="-314325" lvl="0" marL="457200" rtl="0" algn="l">
              <a:spcBef>
                <a:spcPts val="0"/>
              </a:spcBef>
              <a:spcAft>
                <a:spcPts val="0"/>
              </a:spcAft>
              <a:buClr>
                <a:srgbClr val="82DB91"/>
              </a:buClr>
              <a:buSzPts val="1350"/>
              <a:buFont typeface="DM Sans"/>
              <a:buChar char="✓"/>
            </a:pPr>
            <a:r>
              <a:rPr lang="es" sz="1350">
                <a:solidFill>
                  <a:schemeClr val="dk1"/>
                </a:solidFill>
                <a:latin typeface="DM Sans"/>
                <a:ea typeface="DM Sans"/>
                <a:cs typeface="DM Sans"/>
                <a:sym typeface="DM Sans"/>
              </a:rPr>
              <a:t>Comprender los conceptos básicos de React y su estructura de componentes.</a:t>
            </a:r>
            <a:endParaRPr sz="1350">
              <a:solidFill>
                <a:schemeClr val="dk1"/>
              </a:solidFill>
              <a:latin typeface="DM Sans"/>
              <a:ea typeface="DM Sans"/>
              <a:cs typeface="DM Sans"/>
              <a:sym typeface="DM Sans"/>
            </a:endParaRPr>
          </a:p>
          <a:p>
            <a:pPr indent="-314325" lvl="0" marL="457200" rtl="0" algn="l">
              <a:spcBef>
                <a:spcPts val="1000"/>
              </a:spcBef>
              <a:spcAft>
                <a:spcPts val="1000"/>
              </a:spcAft>
              <a:buClr>
                <a:srgbClr val="82DB91"/>
              </a:buClr>
              <a:buSzPts val="1350"/>
              <a:buFont typeface="DM Sans"/>
              <a:buChar char="✓"/>
            </a:pPr>
            <a:r>
              <a:rPr lang="es" sz="1350">
                <a:solidFill>
                  <a:schemeClr val="dk1"/>
                </a:solidFill>
                <a:latin typeface="DM Sans"/>
                <a:ea typeface="DM Sans"/>
                <a:cs typeface="DM Sans"/>
                <a:sym typeface="DM Sans"/>
              </a:rPr>
              <a:t> Crear las bases para la homepage de tu ecommerce.</a:t>
            </a:r>
            <a:endParaRPr sz="1350">
              <a:solidFill>
                <a:schemeClr val="dk1"/>
              </a:solidFill>
              <a:latin typeface="DM Sans"/>
              <a:ea typeface="DM Sans"/>
              <a:cs typeface="DM Sans"/>
              <a:sym typeface="DM Sans"/>
            </a:endParaRPr>
          </a:p>
        </p:txBody>
      </p:sp>
      <p:sp>
        <p:nvSpPr>
          <p:cNvPr id="410" name="Google Shape;410;p47"/>
          <p:cNvSpPr txBox="1"/>
          <p:nvPr/>
        </p:nvSpPr>
        <p:spPr>
          <a:xfrm>
            <a:off x="660900" y="1433875"/>
            <a:ext cx="7822200" cy="184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rgbClr val="000000"/>
              </a:buClr>
              <a:buSzPts val="1100"/>
              <a:buFont typeface="Arial"/>
              <a:buNone/>
            </a:pPr>
            <a:r>
              <a:rPr lang="es" sz="1350">
                <a:solidFill>
                  <a:srgbClr val="000000"/>
                </a:solidFill>
                <a:latin typeface="DM Sans"/>
                <a:ea typeface="DM Sans"/>
                <a:cs typeface="DM Sans"/>
                <a:sym typeface="DM Sans"/>
              </a:rPr>
              <a:t>Para tu primera preentrega, debes </a:t>
            </a:r>
            <a:r>
              <a:rPr lang="es" sz="1350">
                <a:latin typeface="DM Sans"/>
                <a:ea typeface="DM Sans"/>
                <a:cs typeface="DM Sans"/>
                <a:sym typeface="DM Sans"/>
              </a:rPr>
              <a:t>crear los primeros componentes de React, que funcionarán como piezas base en la construcción de tu e-commerce.</a:t>
            </a:r>
            <a:endParaRPr sz="1350">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Desarrolla una barra de navegación, que contendrá los enlaces de navegación, logo de tu tienda y el widget del carrito de compras.</a:t>
            </a:r>
            <a:endParaRPr sz="1350">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También crea el componente Contenedor que a futuro mostrará el catálogo de productos, utilizando "props" para personalizarlo y enviar un mensaje de bienvenida.</a:t>
            </a:r>
            <a:endParaRPr sz="1350">
              <a:latin typeface="DM Sans"/>
              <a:ea typeface="DM Sans"/>
              <a:cs typeface="DM Sans"/>
              <a:sym typeface="DM Sans"/>
            </a:endParaRPr>
          </a:p>
          <a:p>
            <a:pPr indent="0" lvl="0" marL="0" rtl="0" algn="l">
              <a:lnSpc>
                <a:spcPct val="100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00000"/>
              </a:lnSpc>
              <a:spcBef>
                <a:spcPts val="0"/>
              </a:spcBef>
              <a:spcAft>
                <a:spcPts val="1000"/>
              </a:spcAft>
              <a:buClr>
                <a:srgbClr val="000000"/>
              </a:buClr>
              <a:buSzPts val="1100"/>
              <a:buFont typeface="Arial"/>
              <a:buNone/>
            </a:pPr>
            <a:r>
              <a:rPr lang="es" sz="1350">
                <a:latin typeface="DM Sans"/>
                <a:ea typeface="DM Sans"/>
                <a:cs typeface="DM Sans"/>
                <a:sym typeface="DM Sans"/>
              </a:rPr>
              <a:t>Debes entrar al link para acceder a la </a:t>
            </a:r>
            <a:r>
              <a:rPr b="1" lang="es" sz="1350" u="sng">
                <a:solidFill>
                  <a:schemeClr val="hlink"/>
                </a:solidFill>
                <a:latin typeface="DM Sans"/>
                <a:ea typeface="DM Sans"/>
                <a:cs typeface="DM Sans"/>
                <a:sym typeface="DM Sans"/>
                <a:hlinkClick r:id="rId5"/>
              </a:rPr>
              <a:t>consigna completa</a:t>
            </a:r>
            <a:r>
              <a:rPr b="1" lang="es" sz="1350">
                <a:latin typeface="DM Sans"/>
                <a:ea typeface="DM Sans"/>
                <a:cs typeface="DM Sans"/>
                <a:sym typeface="DM Sans"/>
              </a:rPr>
              <a:t>.</a:t>
            </a:r>
            <a:endParaRPr b="1" sz="1350">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8"/>
          <p:cNvSpPr txBox="1"/>
          <p:nvPr/>
        </p:nvSpPr>
        <p:spPr>
          <a:xfrm>
            <a:off x="1461300" y="178672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¿Preguntas?</a:t>
            </a:r>
            <a:endParaRPr b="1" sz="4000">
              <a:solidFill>
                <a:srgbClr val="EAFF6A"/>
              </a:solidFill>
              <a:latin typeface="DM Sans"/>
              <a:ea typeface="DM Sans"/>
              <a:cs typeface="DM Sans"/>
              <a:sym typeface="DM Sans"/>
            </a:endParaRPr>
          </a:p>
        </p:txBody>
      </p:sp>
      <p:sp>
        <p:nvSpPr>
          <p:cNvPr id="416" name="Google Shape;416;p48"/>
          <p:cNvSpPr txBox="1"/>
          <p:nvPr/>
        </p:nvSpPr>
        <p:spPr>
          <a:xfrm>
            <a:off x="2998200" y="2556375"/>
            <a:ext cx="3147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s" sz="2000">
                <a:solidFill>
                  <a:srgbClr val="FFFFFF"/>
                </a:solidFill>
                <a:latin typeface="DM Sans"/>
                <a:ea typeface="DM Sans"/>
                <a:cs typeface="DM Sans"/>
                <a:sym typeface="DM Sans"/>
              </a:rPr>
              <a:t>Te invitamos a dejar tu pregunta a través del chat</a:t>
            </a:r>
            <a:endParaRPr b="0" i="0" sz="2000" u="sng" cap="none" strike="noStrike">
              <a:solidFill>
                <a:srgbClr val="83AEFB"/>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9"/>
          <p:cNvSpPr txBox="1"/>
          <p:nvPr/>
        </p:nvSpPr>
        <p:spPr>
          <a:xfrm>
            <a:off x="1461300" y="2216950"/>
            <a:ext cx="6221400" cy="11544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dk1"/>
                </a:solidFill>
                <a:latin typeface="DM Sans"/>
                <a:ea typeface="DM Sans"/>
                <a:cs typeface="DM Sans"/>
                <a:sym typeface="DM Sans"/>
              </a:rPr>
              <a:t>Te compartimos los </a:t>
            </a:r>
            <a:r>
              <a:rPr b="1" lang="es" sz="3500">
                <a:solidFill>
                  <a:schemeClr val="dk1"/>
                </a:solidFill>
                <a:latin typeface="DM Sans"/>
                <a:ea typeface="DM Sans"/>
                <a:cs typeface="DM Sans"/>
                <a:sym typeface="DM Sans"/>
              </a:rPr>
              <a:t>siguientes</a:t>
            </a:r>
            <a:r>
              <a:rPr b="1" lang="es" sz="3500">
                <a:solidFill>
                  <a:schemeClr val="dk1"/>
                </a:solidFill>
                <a:latin typeface="DM Sans"/>
                <a:ea typeface="DM Sans"/>
                <a:cs typeface="DM Sans"/>
                <a:sym typeface="DM Sans"/>
              </a:rPr>
              <a:t> </a:t>
            </a:r>
            <a:r>
              <a:rPr b="1" lang="es" sz="3500">
                <a:solidFill>
                  <a:schemeClr val="dk1"/>
                </a:solidFill>
                <a:highlight>
                  <a:srgbClr val="EAFF6A"/>
                </a:highlight>
                <a:latin typeface="DM Sans"/>
                <a:ea typeface="DM Sans"/>
                <a:cs typeface="DM Sans"/>
                <a:sym typeface="DM Sans"/>
              </a:rPr>
              <a:t>CoderTips</a:t>
            </a:r>
            <a:endParaRPr b="1" sz="3500">
              <a:solidFill>
                <a:schemeClr val="dk1"/>
              </a:solidFill>
              <a:highlight>
                <a:srgbClr val="EAFF6A"/>
              </a:highlight>
              <a:latin typeface="DM Sans"/>
              <a:ea typeface="DM Sans"/>
              <a:cs typeface="DM Sans"/>
              <a:sym typeface="DM Sans"/>
            </a:endParaRPr>
          </a:p>
        </p:txBody>
      </p:sp>
      <p:grpSp>
        <p:nvGrpSpPr>
          <p:cNvPr id="422" name="Google Shape;422;p49"/>
          <p:cNvGrpSpPr/>
          <p:nvPr/>
        </p:nvGrpSpPr>
        <p:grpSpPr>
          <a:xfrm>
            <a:off x="4202550" y="1322535"/>
            <a:ext cx="738900" cy="738900"/>
            <a:chOff x="4202550" y="994173"/>
            <a:chExt cx="738900" cy="738900"/>
          </a:xfrm>
        </p:grpSpPr>
        <p:sp>
          <p:nvSpPr>
            <p:cNvPr id="423" name="Google Shape;423;p49"/>
            <p:cNvSpPr/>
            <p:nvPr/>
          </p:nvSpPr>
          <p:spPr>
            <a:xfrm>
              <a:off x="4202550" y="994173"/>
              <a:ext cx="738900" cy="7389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pic>
          <p:nvPicPr>
            <p:cNvPr id="424" name="Google Shape;424;p49" title="ícono de codertips"/>
            <p:cNvPicPr preferRelativeResize="0"/>
            <p:nvPr/>
          </p:nvPicPr>
          <p:blipFill>
            <a:blip r:embed="rId3">
              <a:alphaModFix/>
            </a:blip>
            <a:stretch>
              <a:fillRect/>
            </a:stretch>
          </p:blipFill>
          <p:spPr>
            <a:xfrm>
              <a:off x="4346700" y="1138325"/>
              <a:ext cx="450600" cy="450600"/>
            </a:xfrm>
            <a:prstGeom prst="rect">
              <a:avLst/>
            </a:prstGeom>
            <a:noFill/>
            <a:ln>
              <a:noFill/>
            </a:ln>
          </p:spPr>
        </p:pic>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0"/>
          <p:cNvSpPr/>
          <p:nvPr/>
        </p:nvSpPr>
        <p:spPr>
          <a:xfrm>
            <a:off x="457358" y="468285"/>
            <a:ext cx="431074" cy="431074"/>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pic>
        <p:nvPicPr>
          <p:cNvPr id="430" name="Google Shape;430;p50" title="ícono de material ampliado"/>
          <p:cNvPicPr preferRelativeResize="0"/>
          <p:nvPr/>
        </p:nvPicPr>
        <p:blipFill>
          <a:blip r:embed="rId3">
            <a:alphaModFix/>
          </a:blip>
          <a:stretch>
            <a:fillRect/>
          </a:stretch>
        </p:blipFill>
        <p:spPr>
          <a:xfrm>
            <a:off x="541448" y="552384"/>
            <a:ext cx="262880" cy="262880"/>
          </a:xfrm>
          <a:prstGeom prst="rect">
            <a:avLst/>
          </a:prstGeom>
          <a:noFill/>
          <a:ln>
            <a:noFill/>
          </a:ln>
        </p:spPr>
      </p:pic>
      <p:sp>
        <p:nvSpPr>
          <p:cNvPr id="431" name="Google Shape;431;p50"/>
          <p:cNvSpPr txBox="1"/>
          <p:nvPr/>
        </p:nvSpPr>
        <p:spPr>
          <a:xfrm>
            <a:off x="930550" y="468275"/>
            <a:ext cx="3199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MATERIAL AMPLIADO</a:t>
            </a:r>
            <a:endParaRPr>
              <a:latin typeface="DM Sans"/>
              <a:ea typeface="DM Sans"/>
              <a:cs typeface="DM Sans"/>
              <a:sym typeface="DM Sans"/>
            </a:endParaRPr>
          </a:p>
        </p:txBody>
      </p:sp>
      <p:sp>
        <p:nvSpPr>
          <p:cNvPr id="432" name="Google Shape;432;p50"/>
          <p:cNvSpPr txBox="1"/>
          <p:nvPr/>
        </p:nvSpPr>
        <p:spPr>
          <a:xfrm>
            <a:off x="457350" y="1244250"/>
            <a:ext cx="6148200" cy="1327500"/>
          </a:xfrm>
          <a:prstGeom prst="rect">
            <a:avLst/>
          </a:prstGeom>
          <a:noFill/>
          <a:ln>
            <a:noFill/>
          </a:ln>
        </p:spPr>
        <p:txBody>
          <a:bodyPr anchorCtr="0" anchor="t" bIns="91425" lIns="91425" spcFirstLastPara="1" rIns="91425" wrap="square" tIns="91425">
            <a:spAutoFit/>
          </a:bodyPr>
          <a:lstStyle/>
          <a:p>
            <a:pPr indent="-314325" lvl="0" marL="457200" rtl="0" algn="l">
              <a:lnSpc>
                <a:spcPct val="150000"/>
              </a:lnSpc>
              <a:spcBef>
                <a:spcPts val="0"/>
              </a:spcBef>
              <a:spcAft>
                <a:spcPts val="0"/>
              </a:spcAft>
              <a:buClr>
                <a:srgbClr val="666666"/>
              </a:buClr>
              <a:buSzPts val="1350"/>
              <a:buFont typeface="DM Sans"/>
              <a:buChar char="✓"/>
            </a:pPr>
            <a:r>
              <a:rPr lang="es" sz="1350" u="sng">
                <a:solidFill>
                  <a:schemeClr val="accent5"/>
                </a:solidFill>
                <a:latin typeface="DM Sans"/>
                <a:ea typeface="DM Sans"/>
                <a:cs typeface="DM Sans"/>
                <a:sym typeface="DM Sans"/>
              </a:rPr>
              <a:t>React.js Essentials (1 ed.). EEUU, Packt.</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Fedosejev, A. (2015) </a:t>
            </a:r>
            <a:endParaRPr sz="1350" u="sng">
              <a:solidFill>
                <a:schemeClr val="accent5"/>
              </a:solidFill>
              <a:latin typeface="DM Sans"/>
              <a:ea typeface="DM Sans"/>
              <a:cs typeface="DM Sans"/>
              <a:sym typeface="DM Sans"/>
            </a:endParaRPr>
          </a:p>
          <a:p>
            <a:pPr indent="-314325" lvl="0" marL="457200" rtl="0" algn="l">
              <a:lnSpc>
                <a:spcPct val="150000"/>
              </a:lnSpc>
              <a:spcBef>
                <a:spcPts val="0"/>
              </a:spcBef>
              <a:spcAft>
                <a:spcPts val="0"/>
              </a:spcAft>
              <a:buClr>
                <a:srgbClr val="666666"/>
              </a:buClr>
              <a:buSzPts val="1350"/>
              <a:buFont typeface="DM Sans"/>
              <a:buChar char="✓"/>
            </a:pPr>
            <a:r>
              <a:rPr lang="es" sz="1350" u="sng">
                <a:solidFill>
                  <a:schemeClr val="accent5"/>
                </a:solidFill>
                <a:latin typeface="DM Sans"/>
                <a:ea typeface="DM Sans"/>
                <a:cs typeface="DM Sans"/>
                <a:sym typeface="DM Sans"/>
              </a:rPr>
              <a:t>ReactJS by Example (1 ed.). EEUU, Packt.</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Amler (2016)</a:t>
            </a:r>
            <a:endParaRPr b="1" sz="1350">
              <a:solidFill>
                <a:srgbClr val="999999"/>
              </a:solidFill>
              <a:latin typeface="DM Sans"/>
              <a:ea typeface="DM Sans"/>
              <a:cs typeface="DM Sans"/>
              <a:sym typeface="DM Sans"/>
            </a:endParaRPr>
          </a:p>
          <a:p>
            <a:pPr indent="-314325" lvl="0" marL="457200" rtl="0" algn="l">
              <a:lnSpc>
                <a:spcPct val="150000"/>
              </a:lnSpc>
              <a:spcBef>
                <a:spcPts val="0"/>
              </a:spcBef>
              <a:spcAft>
                <a:spcPts val="0"/>
              </a:spcAft>
              <a:buClr>
                <a:srgbClr val="666666"/>
              </a:buClr>
              <a:buSzPts val="1350"/>
              <a:buFont typeface="DM Sans"/>
              <a:buChar char="✓"/>
            </a:pPr>
            <a:r>
              <a:rPr lang="es" sz="1350" u="sng">
                <a:solidFill>
                  <a:schemeClr val="accent5"/>
                </a:solidFill>
                <a:latin typeface="DM Sans"/>
                <a:ea typeface="DM Sans"/>
                <a:cs typeface="DM Sans"/>
                <a:sym typeface="DM Sans"/>
              </a:rPr>
              <a:t>ReactJS Cookbook (1 ed.). EEUU, Packt.</a:t>
            </a:r>
            <a:r>
              <a:rPr lang="es" sz="1350">
                <a:solidFill>
                  <a:srgbClr val="999999"/>
                </a:solidFill>
                <a:latin typeface="DM Sans"/>
                <a:ea typeface="DM Sans"/>
                <a:cs typeface="DM Sans"/>
                <a:sym typeface="DM Sans"/>
              </a:rPr>
              <a:t>| </a:t>
            </a:r>
            <a:r>
              <a:rPr b="1" lang="es" sz="1350">
                <a:solidFill>
                  <a:srgbClr val="999999"/>
                </a:solidFill>
                <a:latin typeface="DM Sans"/>
                <a:ea typeface="DM Sans"/>
                <a:cs typeface="DM Sans"/>
                <a:sym typeface="DM Sans"/>
              </a:rPr>
              <a:t>Stein, J. (2016) </a:t>
            </a:r>
            <a:endParaRPr sz="1350" u="sng">
              <a:solidFill>
                <a:schemeClr val="accent5"/>
              </a:solidFill>
              <a:latin typeface="DM Sans"/>
              <a:ea typeface="DM Sans"/>
              <a:cs typeface="DM Sans"/>
              <a:sym typeface="DM Sans"/>
            </a:endParaRPr>
          </a:p>
          <a:p>
            <a:pPr indent="-314325" lvl="0" marL="457200" rtl="0" algn="l">
              <a:lnSpc>
                <a:spcPct val="150000"/>
              </a:lnSpc>
              <a:spcBef>
                <a:spcPts val="0"/>
              </a:spcBef>
              <a:spcAft>
                <a:spcPts val="0"/>
              </a:spcAft>
              <a:buClr>
                <a:srgbClr val="666666"/>
              </a:buClr>
              <a:buSzPts val="1350"/>
              <a:buFont typeface="DM Sans"/>
              <a:buChar char="✓"/>
            </a:pPr>
            <a:r>
              <a:rPr lang="es" sz="1350" u="sng">
                <a:solidFill>
                  <a:schemeClr val="accent5"/>
                </a:solidFill>
                <a:latin typeface="DM Sans"/>
                <a:ea typeface="DM Sans"/>
                <a:cs typeface="DM Sans"/>
                <a:sym typeface="DM Sans"/>
                <a:hlinkClick r:id="rId4">
                  <a:extLst>
                    <a:ext uri="{A12FA001-AC4F-418D-AE19-62706E023703}">
                      <ahyp:hlinkClr val="tx"/>
                    </a:ext>
                  </a:extLst>
                </a:hlinkClick>
              </a:rPr>
              <a:t>https://caniuse.com</a:t>
            </a:r>
            <a:r>
              <a:rPr lang="es" sz="1350">
                <a:solidFill>
                  <a:srgbClr val="999999"/>
                </a:solidFill>
                <a:latin typeface="DM Sans"/>
                <a:ea typeface="DM Sans"/>
                <a:cs typeface="DM Sans"/>
                <a:sym typeface="DM Sans"/>
              </a:rPr>
              <a:t> | </a:t>
            </a:r>
            <a:r>
              <a:rPr b="1" lang="es" sz="1350">
                <a:solidFill>
                  <a:srgbClr val="999999"/>
                </a:solidFill>
                <a:latin typeface="DM Sans"/>
                <a:ea typeface="DM Sans"/>
                <a:cs typeface="DM Sans"/>
                <a:sym typeface="DM Sans"/>
              </a:rPr>
              <a:t>Can I use</a:t>
            </a:r>
            <a:endParaRPr sz="1350" u="sng">
              <a:solidFill>
                <a:srgbClr val="83AEFB"/>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1"/>
          <p:cNvSpPr txBox="1"/>
          <p:nvPr/>
        </p:nvSpPr>
        <p:spPr>
          <a:xfrm>
            <a:off x="1339500" y="693075"/>
            <a:ext cx="6465000" cy="108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 sz="4000">
                <a:solidFill>
                  <a:srgbClr val="EAFF6A"/>
                </a:solidFill>
                <a:latin typeface="DM Sans"/>
                <a:ea typeface="DM Sans"/>
                <a:cs typeface="DM Sans"/>
                <a:sym typeface="DM Sans"/>
              </a:rPr>
              <a:t>Resumen</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100000"/>
              </a:lnSpc>
              <a:spcBef>
                <a:spcPts val="0"/>
              </a:spcBef>
              <a:spcAft>
                <a:spcPts val="0"/>
              </a:spcAft>
              <a:buNone/>
            </a:pPr>
            <a:r>
              <a:rPr b="1" lang="es" sz="4000">
                <a:solidFill>
                  <a:schemeClr val="lt1"/>
                </a:solidFill>
                <a:latin typeface="DM Sans"/>
                <a:ea typeface="DM Sans"/>
                <a:cs typeface="DM Sans"/>
                <a:sym typeface="DM Sans"/>
              </a:rPr>
              <a:t>de la clase hoy</a:t>
            </a:r>
            <a:endParaRPr sz="4000">
              <a:solidFill>
                <a:schemeClr val="lt1"/>
              </a:solidFill>
              <a:latin typeface="DM Sans"/>
              <a:ea typeface="DM Sans"/>
              <a:cs typeface="DM Sans"/>
              <a:sym typeface="DM Sans"/>
            </a:endParaRPr>
          </a:p>
        </p:txBody>
      </p:sp>
      <p:sp>
        <p:nvSpPr>
          <p:cNvPr id="438" name="Google Shape;438;p51"/>
          <p:cNvSpPr txBox="1"/>
          <p:nvPr/>
        </p:nvSpPr>
        <p:spPr>
          <a:xfrm>
            <a:off x="2109143" y="2325013"/>
            <a:ext cx="4925700" cy="24090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Sugar syntax.</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Retrocompatibilidad.</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Webpack.</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JSX.</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Introducción y tipos de componentes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rgbClr val="EAFF6A"/>
              </a:buClr>
              <a:buSzPts val="1350"/>
              <a:buFont typeface="DM Sans"/>
              <a:buChar char="✓"/>
            </a:pPr>
            <a:r>
              <a:rPr lang="es" sz="1350">
                <a:solidFill>
                  <a:schemeClr val="lt1"/>
                </a:solidFill>
                <a:latin typeface="DM Sans"/>
                <a:ea typeface="DM Sans"/>
                <a:cs typeface="DM Sans"/>
                <a:sym typeface="DM Sans"/>
              </a:rPr>
              <a:t>Children</a:t>
            </a:r>
            <a:endParaRPr sz="1350">
              <a:solidFill>
                <a:schemeClr val="lt1"/>
              </a:solidFill>
              <a:latin typeface="DM Sans"/>
              <a:ea typeface="DM Sans"/>
              <a:cs typeface="DM Sans"/>
              <a:sym typeface="DM Sans"/>
            </a:endParaRPr>
          </a:p>
          <a:p>
            <a:pPr indent="-314325" lvl="0" marL="457200" rtl="0" algn="l">
              <a:spcBef>
                <a:spcPts val="1000"/>
              </a:spcBef>
              <a:spcAft>
                <a:spcPts val="1000"/>
              </a:spcAft>
              <a:buClr>
                <a:srgbClr val="EAFF6A"/>
              </a:buClr>
              <a:buSzPts val="1350"/>
              <a:buFont typeface="DM Sans"/>
              <a:buChar char="✓"/>
            </a:pPr>
            <a:r>
              <a:rPr lang="es" sz="1350">
                <a:solidFill>
                  <a:schemeClr val="lt1"/>
                </a:solidFill>
                <a:latin typeface="DM Sans"/>
                <a:ea typeface="DM Sans"/>
                <a:cs typeface="DM Sans"/>
                <a:sym typeface="DM Sans"/>
              </a:rPr>
              <a:t>Props</a:t>
            </a:r>
            <a:endParaRPr sz="1350">
              <a:solidFill>
                <a:schemeClr val="lt1"/>
              </a:solidFill>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2"/>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Opina y valora</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a:t>
            </a:r>
            <a:endParaRPr b="1" sz="4000">
              <a:solidFill>
                <a:schemeClr val="lt1"/>
              </a:solidFill>
              <a:latin typeface="DM Sans"/>
              <a:ea typeface="DM Sans"/>
              <a:cs typeface="DM Sans"/>
              <a:sym typeface="DM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3"/>
          <p:cNvSpPr txBox="1"/>
          <p:nvPr/>
        </p:nvSpPr>
        <p:spPr>
          <a:xfrm>
            <a:off x="2382900" y="2171550"/>
            <a:ext cx="4378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FF"/>
                </a:solidFill>
                <a:latin typeface="DM Sans"/>
                <a:ea typeface="DM Sans"/>
                <a:cs typeface="DM Sans"/>
                <a:sym typeface="DM Sans"/>
              </a:rPr>
              <a:t>Muchas gracias</a:t>
            </a:r>
            <a:r>
              <a:rPr b="1" lang="es" sz="4000">
                <a:solidFill>
                  <a:srgbClr val="EAFF6A"/>
                </a:solidFill>
                <a:latin typeface="DM Sans"/>
                <a:ea typeface="DM Sans"/>
                <a:cs typeface="DM Sans"/>
                <a:sym typeface="DM Sans"/>
              </a:rPr>
              <a:t>.</a:t>
            </a:r>
            <a:endParaRPr sz="4000">
              <a:solidFill>
                <a:srgbClr val="EAFF6A"/>
              </a:solidFill>
              <a:latin typeface="DM Sans"/>
              <a:ea typeface="DM Sans"/>
              <a:cs typeface="DM Sans"/>
              <a:sym typeface="DM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4"/>
          <p:cNvSpPr txBox="1"/>
          <p:nvPr/>
        </p:nvSpPr>
        <p:spPr>
          <a:xfrm>
            <a:off x="475500" y="2287050"/>
            <a:ext cx="8193000" cy="5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3100">
                <a:solidFill>
                  <a:schemeClr val="accent6"/>
                </a:solidFill>
                <a:latin typeface="DM Sans"/>
                <a:ea typeface="DM Sans"/>
                <a:cs typeface="DM Sans"/>
                <a:sym typeface="DM Sans"/>
              </a:rPr>
              <a:t>Educación digital</a:t>
            </a:r>
            <a:endParaRPr b="1" sz="3100">
              <a:solidFill>
                <a:schemeClr val="accent6"/>
              </a:solidFill>
              <a:latin typeface="DM Sans"/>
              <a:ea typeface="DM Sans"/>
              <a:cs typeface="DM Sans"/>
              <a:sym typeface="DM Sans"/>
            </a:endParaRPr>
          </a:p>
          <a:p>
            <a:pPr indent="0" lvl="0" marL="0" rtl="0" algn="ctr">
              <a:spcBef>
                <a:spcPts val="0"/>
              </a:spcBef>
              <a:spcAft>
                <a:spcPts val="0"/>
              </a:spcAft>
              <a:buNone/>
            </a:pPr>
            <a:r>
              <a:rPr b="1" lang="es" sz="3100">
                <a:solidFill>
                  <a:schemeClr val="lt1"/>
                </a:solidFill>
                <a:latin typeface="DM Sans"/>
                <a:ea typeface="DM Sans"/>
                <a:cs typeface="DM Sans"/>
                <a:sym typeface="DM Sans"/>
              </a:rPr>
              <a:t>para el mundo real</a:t>
            </a:r>
            <a:r>
              <a:rPr b="1" lang="es" sz="3100">
                <a:solidFill>
                  <a:schemeClr val="accent6"/>
                </a:solidFill>
                <a:latin typeface="DM Sans"/>
                <a:ea typeface="DM Sans"/>
                <a:cs typeface="DM Sans"/>
                <a:sym typeface="DM Sans"/>
              </a:rPr>
              <a:t>.</a:t>
            </a:r>
            <a:endParaRPr b="1" sz="3100">
              <a:solidFill>
                <a:schemeClr val="accent6"/>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