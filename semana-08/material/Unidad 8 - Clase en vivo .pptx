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Helvetica Neue"/>
      <p:regular r:id="rId36"/>
      <p:bold r:id="rId37"/>
      <p:italic r:id="rId38"/>
      <p:boldItalic r:id="rId39"/>
    </p:embeddedFont>
    <p:embeddedFont>
      <p:font typeface="Helvetica Neue Light"/>
      <p:regular r:id="rId40"/>
      <p:bold r:id="rId41"/>
      <p:italic r:id="rId42"/>
      <p:boldItalic r:id="rId43"/>
    </p:embeddedFont>
    <p:embeddedFont>
      <p:font typeface="DM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32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 orient="horz"/>
        <p:guide pos="5460"/>
        <p:guide pos="300"/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Light-regular.fntdata"/><Relationship Id="rId20" Type="http://schemas.openxmlformats.org/officeDocument/2006/relationships/slide" Target="slides/slide15.xml"/><Relationship Id="rId42" Type="http://schemas.openxmlformats.org/officeDocument/2006/relationships/font" Target="fonts/HelveticaNeueLight-italic.fntdata"/><Relationship Id="rId41" Type="http://schemas.openxmlformats.org/officeDocument/2006/relationships/font" Target="fonts/HelveticaNeueLight-bold.fntdata"/><Relationship Id="rId22" Type="http://schemas.openxmlformats.org/officeDocument/2006/relationships/slide" Target="slides/slide17.xml"/><Relationship Id="rId44" Type="http://schemas.openxmlformats.org/officeDocument/2006/relationships/font" Target="fonts/DMSans-regular.fntdata"/><Relationship Id="rId21" Type="http://schemas.openxmlformats.org/officeDocument/2006/relationships/slide" Target="slides/slide16.xml"/><Relationship Id="rId43" Type="http://schemas.openxmlformats.org/officeDocument/2006/relationships/font" Target="fonts/HelveticaNeueLight-boldItalic.fntdata"/><Relationship Id="rId24" Type="http://schemas.openxmlformats.org/officeDocument/2006/relationships/slide" Target="slides/slide19.xml"/><Relationship Id="rId46" Type="http://schemas.openxmlformats.org/officeDocument/2006/relationships/font" Target="fonts/DMSans-italic.fntdata"/><Relationship Id="rId23" Type="http://schemas.openxmlformats.org/officeDocument/2006/relationships/slide" Target="slides/slide18.xml"/><Relationship Id="rId45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DMSans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HelveticaNeue-bold.fntdata"/><Relationship Id="rId14" Type="http://schemas.openxmlformats.org/officeDocument/2006/relationships/slide" Target="slides/slide9.xml"/><Relationship Id="rId36" Type="http://schemas.openxmlformats.org/officeDocument/2006/relationships/font" Target="fonts/HelveticaNeue-regular.fntdata"/><Relationship Id="rId17" Type="http://schemas.openxmlformats.org/officeDocument/2006/relationships/slide" Target="slides/slide12.xml"/><Relationship Id="rId39" Type="http://schemas.openxmlformats.org/officeDocument/2006/relationships/font" Target="fonts/HelveticaNeue-boldItalic.fntdata"/><Relationship Id="rId16" Type="http://schemas.openxmlformats.org/officeDocument/2006/relationships/slide" Target="slides/slide11.xml"/><Relationship Id="rId38" Type="http://schemas.openxmlformats.org/officeDocument/2006/relationships/font" Target="fonts/HelveticaNeue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13c9d1b815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113c9d1b815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1635c457e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1635c457e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55a413f5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55a413f5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5443f728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5443f728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Indican aquello que se pretende que el estudiante logre con la clase. Recuerda que se enuncian en principio con el verbo en infinitivo delante (por ejemplo: “Comprender…”, “Analizar…”, “conocer…”, etc). Se debe destacar en negrita el verbo.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objetivos deben ser concretos, medibles y coherentes con los contenidos.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3250eb3e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3250eb3e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53250eb3e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53250eb3e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2ba13cb3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52ba13cb3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5af712ce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5af712ce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Esta slide es para microdesafíos a partir de consignas abiertas (modelo breve)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52ba13cb37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52ba13cb37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52ba13cb37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52ba13cb37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X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X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2ba13cb37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52ba13cb37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2ba13cb37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52ba13cb37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2ba13cb37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52ba13cb3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5705a60fe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5705a60fe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Para profes/tutores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: en caso de que no haya dudas, pueden mostrar las rúbricas para hablar de qué se estará evaluando y recomendar buenas prácticas.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5af712cea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5af712cea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5443f728f3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5443f728f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X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X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5443f728f3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5443f728f3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5af712cea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5af712cea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4"/>
              </a:highlight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5af712cea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5af712cea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Para profes/tutores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abrir la consigna completa, leerla en detalle y responder dudas que puedan surgir.</a:t>
            </a:r>
            <a:endParaRPr b="1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3ad191e9b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3ad191e9b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(Probar si se puede hacer con Kahoot y de lo contrario que hagan preguntas activando micrófono o por chat).</a:t>
            </a:r>
            <a:endParaRPr>
              <a:highlight>
                <a:srgbClr val="EA90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1635c457e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1635c457e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3bbc910f2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3bbc910f2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3bbc910f2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3bbc910f2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3bbc910f2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3bbc910f2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3bbc910f2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3bbc910f2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0e4d8104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0e4d8104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1">
  <p:cSld name="SECTION_HEADER_1_1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hyperlink" Target="http://drive.google.com/file/d/1BDCMVDbXnfYQA6uLT09BX5ccfvKXmbOZ/view" TargetMode="External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hyperlink" Target="https://stackblitz.com/edit/react-mkp5by?file=src%2FApp.j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7.png"/><Relationship Id="rId5" Type="http://schemas.openxmlformats.org/officeDocument/2006/relationships/hyperlink" Target="https://docs.google.com/presentation/d/1exV4skc2mwaoNNYXPXT-Z_PE2m-m7_it/edit?usp=drive_link&amp;ouid=105756276059427898200&amp;rtpof=true&amp;sd=tru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¡Les damos la bienvenida!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" name="Google Shape;42;p14"/>
          <p:cNvSpPr txBox="1"/>
          <p:nvPr/>
        </p:nvSpPr>
        <p:spPr>
          <a:xfrm>
            <a:off x="3315900" y="3218250"/>
            <a:ext cx="25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¿Comenzamos?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Man Dancing on Apple iOS 12.2" id="43" name="Google Shape;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900" y="808750"/>
            <a:ext cx="876200" cy="8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5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" name="Google Shape;51;p15"/>
          <p:cNvSpPr txBox="1"/>
          <p:nvPr/>
        </p:nvSpPr>
        <p:spPr>
          <a:xfrm>
            <a:off x="3493675" y="2574975"/>
            <a:ext cx="264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" name="Google Shape;52;p15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/>
        </p:nvSpPr>
        <p:spPr>
          <a:xfrm>
            <a:off x="1185025" y="2252975"/>
            <a:ext cx="677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Últimos pasos para tu proyecto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" name="Google Shape;58;p16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8</a:t>
            </a: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REACT JS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Objetivos de la clase</a:t>
            </a:r>
            <a:endParaRPr b="1" sz="3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438" y="2053375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 txBox="1"/>
          <p:nvPr/>
        </p:nvSpPr>
        <p:spPr>
          <a:xfrm>
            <a:off x="2690561" y="1959675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Optimizar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 código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6" name="Google Shape;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2915375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7"/>
          <p:cNvSpPr txBox="1"/>
          <p:nvPr/>
        </p:nvSpPr>
        <p:spPr>
          <a:xfrm>
            <a:off x="2690561" y="2791400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Documentar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tu proyecto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8" name="Google Shape;68;p17"/>
          <p:cNvCxnSpPr>
            <a:stCxn id="64" idx="2"/>
            <a:endCxn id="66" idx="0"/>
          </p:cNvCxnSpPr>
          <p:nvPr/>
        </p:nvCxnSpPr>
        <p:spPr>
          <a:xfrm flipH="1" rot="-5400000">
            <a:off x="1938675" y="2582600"/>
            <a:ext cx="6651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7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Últimas mejoras para tu Proyecto Final</a:t>
            </a:r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152400" y="152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Últimas mejoras para tu Proyecto Final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/>
        </p:nvSpPr>
        <p:spPr>
          <a:xfrm>
            <a:off x="475500" y="2515575"/>
            <a:ext cx="50886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DM Sans"/>
                <a:ea typeface="DM Sans"/>
                <a:cs typeface="DM Sans"/>
                <a:sym typeface="DM Sans"/>
              </a:rPr>
              <a:t>Optimización de código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: aprendimos tres principios importantes: 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DM Sans"/>
              <a:buChar char="●"/>
            </a:pP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K.I.S.S (mantener el código simple), 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DM Sans"/>
              <a:buChar char="●"/>
            </a:pP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Don't Repeat Yourself (evitar la repetición de lógica) 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DM Sans"/>
              <a:buChar char="●"/>
            </a:pP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Y.A.G.N.I (enfocarse en objetivos concretos). </a:t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" name="Google Shape;76;p18"/>
          <p:cNvSpPr txBox="1"/>
          <p:nvPr/>
        </p:nvSpPr>
        <p:spPr>
          <a:xfrm>
            <a:off x="475500" y="779525"/>
            <a:ext cx="4849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Últimas mejoras para tu Proyecto Final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7" name="Google Shape;7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475500" y="971050"/>
            <a:ext cx="4849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Deploy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9"/>
          <p:cNvSpPr txBox="1"/>
          <p:nvPr/>
        </p:nvSpPr>
        <p:spPr>
          <a:xfrm>
            <a:off x="475500" y="2515575"/>
            <a:ext cx="50886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b="1" lang="es">
                <a:latin typeface="DM Sans"/>
                <a:ea typeface="DM Sans"/>
                <a:cs typeface="DM Sans"/>
                <a:sym typeface="DM Sans"/>
              </a:rPr>
              <a:t>deploy </a:t>
            </a:r>
            <a:r>
              <a:rPr lang="es">
                <a:latin typeface="DM Sans"/>
                <a:ea typeface="DM Sans"/>
                <a:cs typeface="DM Sans"/>
                <a:sym typeface="DM Sans"/>
              </a:rPr>
              <a:t>es el proceso de incorporar una página web a un servidor de web hosting o publicar una nueva versión un producto. Se puede hacer manualmente utilizando el comando "npm run build" o utilizando plataformas como Vercel o Netlify para linkear proyectos de GitHub y crear un hosting con la aplicación desplegada, incluso con un dominio gratuito.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7" name="Google Shape;8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0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94" name="Google Shape;94;p2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5" name="Google Shape;95;p20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20"/>
          <p:cNvSpPr txBox="1"/>
          <p:nvPr/>
        </p:nvSpPr>
        <p:spPr>
          <a:xfrm>
            <a:off x="1547025" y="1925250"/>
            <a:ext cx="622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tu markdown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987300" y="32873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¡Vamos a recuperar lo trabajado durante la semana! 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minutos</a:t>
            </a: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99" name="Google Shape;99;p2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00" name="Google Shape;100;p2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1" name="Google Shape;101;p2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/>
          <p:nvPr/>
        </p:nvSpPr>
        <p:spPr>
          <a:xfrm>
            <a:off x="485050" y="3937450"/>
            <a:ext cx="8183700" cy="6534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/>
          <p:nvPr/>
        </p:nvSpPr>
        <p:spPr>
          <a:xfrm>
            <a:off x="475500" y="1694775"/>
            <a:ext cx="8183700" cy="18627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469200" y="1077850"/>
            <a:ext cx="7353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tu markdown</a:t>
            </a:r>
            <a:endParaRPr b="1"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675350" y="1839250"/>
            <a:ext cx="7914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Consigna</a:t>
            </a:r>
            <a:b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900300" y="455050"/>
            <a:ext cx="3243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EJERCICIO</a:t>
            </a:r>
            <a:endParaRPr/>
          </a:p>
        </p:txBody>
      </p:sp>
      <p:grpSp>
        <p:nvGrpSpPr>
          <p:cNvPr id="112" name="Google Shape;112;p21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13" name="Google Shape;113;p21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5" name="Google Shape;115;p21"/>
          <p:cNvGrpSpPr/>
          <p:nvPr/>
        </p:nvGrpSpPr>
        <p:grpSpPr>
          <a:xfrm>
            <a:off x="475509" y="435709"/>
            <a:ext cx="431100" cy="431100"/>
            <a:chOff x="475509" y="435709"/>
            <a:chExt cx="431100" cy="431100"/>
          </a:xfrm>
        </p:grpSpPr>
        <p:sp>
          <p:nvSpPr>
            <p:cNvPr id="116" name="Google Shape;116;p21"/>
            <p:cNvSpPr/>
            <p:nvPr/>
          </p:nvSpPr>
          <p:spPr>
            <a:xfrm>
              <a:off x="475509" y="435709"/>
              <a:ext cx="431100" cy="431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117" name="Google Shape;117;p21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9150" y="499350"/>
              <a:ext cx="303800" cy="303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21"/>
          <p:cNvSpPr txBox="1"/>
          <p:nvPr/>
        </p:nvSpPr>
        <p:spPr>
          <a:xfrm>
            <a:off x="675350" y="2160025"/>
            <a:ext cx="7566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no existe, agrega un archivo de markdown README.md al directorio raíz de tu proyecto. Documenta tu proyecto mencionando: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Descripción del proyecto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Herramientas utilizadas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Comandos para poder ejecutar la aplicación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9" name="Google Shape;119;p21" title="MD 8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7675" y="866800"/>
            <a:ext cx="653400" cy="6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15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minutos</a:t>
            </a: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/>
        </p:nvSpPr>
        <p:spPr>
          <a:xfrm>
            <a:off x="1905000" y="2202300"/>
            <a:ext cx="537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¡Buen trabajo!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😎</a:t>
            </a:r>
            <a:endParaRPr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23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131" name="Google Shape;131;p2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2" name="Google Shape;132;p23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3" name="Google Shape;133;p23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Optimiza el código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25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1064900" y="2947513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6" name="Google Shape;136;p2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37" name="Google Shape;137;p2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4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144" name="Google Shape;144;p2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5" name="Google Shape;145;p24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24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Optimiza el código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501450" y="2003025"/>
            <a:ext cx="74508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te presenta un código con al menos 8 oportunidades de mejora: encuéntralas y corrígelas/impleméntalas.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Enlace al código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25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157" name="Google Shape;157;p2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8" name="Google Shape;158;p25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25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10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rgbClr val="E8E7E3"/>
                </a:solidFill>
              </a:rPr>
              <a:t>☕</a:t>
            </a:r>
            <a:endParaRPr sz="5000">
              <a:solidFill>
                <a:srgbClr val="E8E7E3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2809200" y="2971950"/>
            <a:ext cx="35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¡En 10 minutos volvemos!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/>
        </p:nvSpPr>
        <p:spPr>
          <a:xfrm>
            <a:off x="475500" y="1474850"/>
            <a:ext cx="7831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Estamos llegando al final del recorrido. Has contado con dos preentregas para construir tu Proyecto, y ya nos encontramos dando los últimos pasos. </a:t>
            </a:r>
            <a:endParaRPr sz="25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¿Tienes preguntas sobre el Proyecto Final?</a:t>
            </a:r>
            <a:endParaRPr sz="25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500775" y="562000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Proyecto Final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475500" y="42519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10/15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4" name="Google Shape;174;p2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75" name="Google Shape;175;p2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/>
        </p:nvSpPr>
        <p:spPr>
          <a:xfrm>
            <a:off x="475500" y="1474850"/>
            <a:ext cx="7169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Realizaremos un deploy de nuestra aplicación en un servicio cloud a elección</a:t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3" name="Google Shape;183;p28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184" name="Google Shape;184;p2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5" name="Google Shape;185;p28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6" name="Google Shape;186;p28"/>
          <p:cNvSpPr txBox="1"/>
          <p:nvPr/>
        </p:nvSpPr>
        <p:spPr>
          <a:xfrm>
            <a:off x="475500" y="42519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10/15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7" name="Google Shape;187;p28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88" name="Google Shape;188;p28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90" name="Google Shape;190;p28"/>
          <p:cNvSpPr txBox="1"/>
          <p:nvPr/>
        </p:nvSpPr>
        <p:spPr>
          <a:xfrm>
            <a:off x="500775" y="3157925"/>
            <a:ext cx="67794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Normalmente, el proceso consiste en crear un nuevo proyecto, asociar tu cuenta de GitHub y linkear tu repositorio de React. Busca en la documentación de tu proveedor preferido para más detalles</a:t>
            </a:r>
            <a:endParaRPr sz="135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29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196" name="Google Shape;196;p29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9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9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Revisa y sube tu trabajo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1064900" y="2947513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1" name="Google Shape;201;p29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02" name="Google Shape;202;p29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3" name="Google Shape;203;p29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30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209" name="Google Shape;209;p3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0" name="Google Shape;210;p30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30"/>
          <p:cNvSpPr txBox="1"/>
          <p:nvPr/>
        </p:nvSpPr>
        <p:spPr>
          <a:xfrm>
            <a:off x="457350" y="899375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Revisa y sube tu trabajo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2" name="Google Shape;21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0"/>
          <p:cNvSpPr txBox="1"/>
          <p:nvPr/>
        </p:nvSpPr>
        <p:spPr>
          <a:xfrm>
            <a:off x="501450" y="2460213"/>
            <a:ext cx="4987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Revisa, confirma y sube tus cambios a GitHub. Puedes aprovechar este tiempo para hacer tus últimas consultas.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5" name="Google Shape;21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31"/>
          <p:cNvGrpSpPr/>
          <p:nvPr/>
        </p:nvGrpSpPr>
        <p:grpSpPr>
          <a:xfrm>
            <a:off x="4202552" y="1088764"/>
            <a:ext cx="738900" cy="738974"/>
            <a:chOff x="3137108" y="2467173"/>
            <a:chExt cx="738900" cy="738900"/>
          </a:xfrm>
        </p:grpSpPr>
        <p:sp>
          <p:nvSpPr>
            <p:cNvPr id="221" name="Google Shape;221;p31"/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2" name="Google Shape;222;p31" title="ícono de desafío entregabl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" name="Google Shape;223;p31"/>
          <p:cNvSpPr txBox="1"/>
          <p:nvPr/>
        </p:nvSpPr>
        <p:spPr>
          <a:xfrm>
            <a:off x="1461300" y="21091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Proyecto Final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987300" y="2848075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Web app de e-commerce</a:t>
            </a:r>
            <a:endParaRPr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32"/>
          <p:cNvGrpSpPr/>
          <p:nvPr/>
        </p:nvGrpSpPr>
        <p:grpSpPr>
          <a:xfrm>
            <a:off x="475504" y="468259"/>
            <a:ext cx="431074" cy="431148"/>
            <a:chOff x="3137108" y="2467173"/>
            <a:chExt cx="738900" cy="738900"/>
          </a:xfrm>
        </p:grpSpPr>
        <p:sp>
          <p:nvSpPr>
            <p:cNvPr id="230" name="Google Shape;230;p32"/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1" name="Google Shape;231;p32" title="ícono de desafío entregabl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2" name="Google Shape;232;p32"/>
          <p:cNvSpPr txBox="1"/>
          <p:nvPr/>
        </p:nvSpPr>
        <p:spPr>
          <a:xfrm>
            <a:off x="501450" y="899375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Web App de e-commerce 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3" name="Google Shape;23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2"/>
          <p:cNvSpPr txBox="1"/>
          <p:nvPr/>
        </p:nvSpPr>
        <p:spPr>
          <a:xfrm>
            <a:off x="930550" y="468275"/>
            <a:ext cx="418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PREENTREGA N° 2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4648500" y="2859000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Formato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82DB91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Link al repositorio de GitHub con el nombre “ProyectoFinal+Apellido”  por ejemplo “ProyectoFinal+Fernandez”</a:t>
            </a:r>
            <a:endParaRPr sz="135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501450" y="2859000"/>
            <a:ext cx="3834600" cy="14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Objetivos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82DB91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Desarrollar el front-end de una webapp de tipo e-commerce con React.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1000"/>
              </a:spcAft>
              <a:buClr>
                <a:srgbClr val="82DB91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Incorporar Firestore como base de datos.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660900" y="1580050"/>
            <a:ext cx="78222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Para tu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Proyecto Final, desarrolla el Front End de una Single Page Application de e-commerce, utilizando React como herramienta base para crear las distintas piezas (componentes) de la interfaz de usuario (UI)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Debes entrar al link para acceder a la </a:t>
            </a:r>
            <a:r>
              <a:rPr b="1"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consigna completa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.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/>
        </p:nvSpPr>
        <p:spPr>
          <a:xfrm>
            <a:off x="1461300" y="17867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3"/>
          <p:cNvSpPr txBox="1"/>
          <p:nvPr/>
        </p:nvSpPr>
        <p:spPr>
          <a:xfrm>
            <a:off x="2998200" y="2556375"/>
            <a:ext cx="314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 invitamos a dejar tu pregunta a través del chat.</a:t>
            </a:r>
            <a:endParaRPr b="0" i="0" sz="2000" u="sng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/>
        </p:nvSpPr>
        <p:spPr>
          <a:xfrm>
            <a:off x="1461300" y="2216950"/>
            <a:ext cx="6221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compartimos los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siguientes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350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 b="1" sz="35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9" name="Google Shape;249;p34"/>
          <p:cNvGrpSpPr/>
          <p:nvPr/>
        </p:nvGrpSpPr>
        <p:grpSpPr>
          <a:xfrm>
            <a:off x="4202550" y="1322535"/>
            <a:ext cx="738900" cy="738900"/>
            <a:chOff x="4202550" y="994173"/>
            <a:chExt cx="738900" cy="738900"/>
          </a:xfrm>
        </p:grpSpPr>
        <p:sp>
          <p:nvSpPr>
            <p:cNvPr id="250" name="Google Shape;250;p34"/>
            <p:cNvSpPr/>
            <p:nvPr/>
          </p:nvSpPr>
          <p:spPr>
            <a:xfrm>
              <a:off x="4202550" y="994173"/>
              <a:ext cx="738900" cy="738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pic>
          <p:nvPicPr>
            <p:cNvPr id="251" name="Google Shape;251;p34" title="ícono de codertip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46700" y="1138325"/>
              <a:ext cx="450600" cy="450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/>
        </p:nvSpPr>
        <p:spPr>
          <a:xfrm>
            <a:off x="501450" y="899375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recomendamos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7" name="Google Shape;257;p35"/>
          <p:cNvSpPr/>
          <p:nvPr/>
        </p:nvSpPr>
        <p:spPr>
          <a:xfrm>
            <a:off x="457358" y="468285"/>
            <a:ext cx="431074" cy="43107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58" name="Google Shape;258;p35" title="ícono de codertip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55" y="552384"/>
            <a:ext cx="262880" cy="26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/>
          <p:nvPr/>
        </p:nvSpPr>
        <p:spPr>
          <a:xfrm>
            <a:off x="930550" y="468275"/>
            <a:ext cx="319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4454925" y="1911050"/>
            <a:ext cx="3834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intentaste realizar un deploy y recibiste errores, probablemente haya errores en tu repositorio.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Analiza los mensajes de advertencia o errores en la consola y trata de encontrar el error.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Investiga sobre otras herramientas como alternativa para realizar un deploy.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80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457350" y="1911050"/>
            <a:ext cx="3834600" cy="20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Escribir código “eficiente“ </a:t>
            </a:r>
            <a:b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buena documentación en el archivo Readme.md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dará más visibilidad a tu trabajo y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permitirá que personas sin conocimientos de desarrollo web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puedan ejecutar tu app.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36"/>
          <p:cNvSpPr txBox="1"/>
          <p:nvPr/>
        </p:nvSpPr>
        <p:spPr>
          <a:xfrm>
            <a:off x="2109143" y="2325013"/>
            <a:ext cx="49257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Buenas prácticas de código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Documentación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Deploy</a:t>
            </a:r>
            <a:b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/>
        </p:nvSpPr>
        <p:spPr>
          <a:xfrm>
            <a:off x="2045550" y="1863750"/>
            <a:ext cx="5052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Educación digital</a:t>
            </a:r>
            <a:endParaRPr b="1" sz="4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para el mundo real</a:t>
            </a: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1" sz="4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