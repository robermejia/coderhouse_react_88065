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DM Sans Medium"/>
      <p:regular r:id="rId44"/>
      <p:bold r:id="rId45"/>
      <p:italic r:id="rId46"/>
      <p:boldItalic r:id="rId47"/>
    </p:embeddedFont>
    <p:embeddedFont>
      <p:font typeface="Helvetica Neue"/>
      <p:regular r:id="rId48"/>
      <p:bold r:id="rId49"/>
      <p:italic r:id="rId50"/>
      <p:boldItalic r:id="rId51"/>
    </p:embeddedFont>
    <p:embeddedFont>
      <p:font typeface="Ubuntu Mono"/>
      <p:regular r:id="rId52"/>
      <p:bold r:id="rId53"/>
      <p:italic r:id="rId54"/>
      <p:boldItalic r:id="rId55"/>
    </p:embeddedFont>
    <p:embeddedFont>
      <p:font typeface="Helvetica Neue Light"/>
      <p:regular r:id="rId56"/>
      <p:bold r:id="rId57"/>
      <p:italic r:id="rId58"/>
      <p:boldItalic r:id="rId59"/>
    </p:embeddedFont>
    <p:embeddedFont>
      <p:font typeface="DM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DMSansMedium-regular.fntdata"/><Relationship Id="rId43" Type="http://schemas.openxmlformats.org/officeDocument/2006/relationships/slide" Target="slides/slide38.xml"/><Relationship Id="rId46" Type="http://schemas.openxmlformats.org/officeDocument/2006/relationships/font" Target="fonts/DMSansMedium-italic.fntdata"/><Relationship Id="rId45" Type="http://schemas.openxmlformats.org/officeDocument/2006/relationships/font" Target="fonts/DM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regular.fntdata"/><Relationship Id="rId47" Type="http://schemas.openxmlformats.org/officeDocument/2006/relationships/font" Target="fonts/DMSansMedium-boldItalic.fntdata"/><Relationship Id="rId49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DMSans-italic.fntdata"/><Relationship Id="rId61" Type="http://schemas.openxmlformats.org/officeDocument/2006/relationships/font" Target="fonts/DMSans-bold.fntdata"/><Relationship Id="rId20" Type="http://schemas.openxmlformats.org/officeDocument/2006/relationships/slide" Target="slides/slide15.xml"/><Relationship Id="rId63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DM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3" Type="http://schemas.openxmlformats.org/officeDocument/2006/relationships/font" Target="fonts/UbuntuMono-bold.fntdata"/><Relationship Id="rId52" Type="http://schemas.openxmlformats.org/officeDocument/2006/relationships/font" Target="fonts/UbuntuMono-regular.fntdata"/><Relationship Id="rId11" Type="http://schemas.openxmlformats.org/officeDocument/2006/relationships/slide" Target="slides/slide6.xml"/><Relationship Id="rId55" Type="http://schemas.openxmlformats.org/officeDocument/2006/relationships/font" Target="fonts/UbuntuMono-boldItalic.fntdata"/><Relationship Id="rId10" Type="http://schemas.openxmlformats.org/officeDocument/2006/relationships/slide" Target="slides/slide5.xml"/><Relationship Id="rId54" Type="http://schemas.openxmlformats.org/officeDocument/2006/relationships/font" Target="fonts/UbuntuMono-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Light-bold.fntdata"/><Relationship Id="rId12" Type="http://schemas.openxmlformats.org/officeDocument/2006/relationships/slide" Target="slides/slide7.xml"/><Relationship Id="rId56" Type="http://schemas.openxmlformats.org/officeDocument/2006/relationships/font" Target="fonts/HelveticaNeueLight-regular.fntdata"/><Relationship Id="rId15" Type="http://schemas.openxmlformats.org/officeDocument/2006/relationships/slide" Target="slides/slide10.xml"/><Relationship Id="rId59" Type="http://schemas.openxmlformats.org/officeDocument/2006/relationships/font" Target="fonts/HelveticaNeue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HelveticaNeue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1635c457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21635c457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55a413f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55a413f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d8ab2ab7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0d8ab2ab7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Redactar los objetivos en función de los conocimientos y habilidades a desarrollar en la clase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3250eb3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3250eb3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53250eb3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53250eb3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3250eb3e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3250eb3e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3250eb3e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3250eb3e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3250eb3e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3250eb3e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2ba13cb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52ba13cb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af37e17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af37e17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2ba13cb37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2ba13cb37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2ba13cb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2ba13cb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32aada7ff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532aada7f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52ba13cb37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52ba13cb37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2ba13cb37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52ba13cb37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32aada7ff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532aada7ff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532aada7ff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532aada7ff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532aada7ff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532aada7ff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52ba13cb3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52ba13cb3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32aada7ff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532aada7ff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32aada7ff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32aada7ff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32aada7ff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32aada7ff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532aada7ff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532aada7f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52ba13cb37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52ba13cb37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2ba13cb37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52ba13cb37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532aada7ff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532aada7ff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532aada7ff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532aada7ff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532aada7ff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2532aada7ff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6aea517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256aea517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56aea517b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56aea517b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ad191e9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ad191e9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(Probar si se puede hacer con Kahoot y de lo contrario que hagan preguntas activando micrófono o por chat).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1635c457e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1635c457e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3bbc910f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3bbc910f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3bbc910f2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3bbc910f2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el link de los recursos en el nombre de cada uno.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que los estudiantes puedan explorar en sus casas los recursos vistos en clase: libros, artículos, herramientas, websites, videos (ajenos a Coder).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3bbc910f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3bbc910f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3bbc910f2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3bbc910f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3bbc910f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3bbc910f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34dd1ab2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634dd1ab2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hyperlink" Target="https://stackblitz.com/edit/stackblitz-starters-cmyqfb?file=src%2FApp.js" TargetMode="External"/><Relationship Id="rId6" Type="http://schemas.openxmlformats.org/officeDocument/2006/relationships/hyperlink" Target="http://drive.google.com/file/d/1LOpPtYXzUpJbykVLvJT-j6Jofj39igG5/view" TargetMode="External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hyperlink" Target="https://jsbin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hyperlink" Target="https://beta.reactjs.org/reference/react/useEffec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4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" name="Google Shape;43;p14"/>
          <p:cNvSpPr txBox="1"/>
          <p:nvPr/>
        </p:nvSpPr>
        <p:spPr>
          <a:xfrm>
            <a:off x="3573750" y="2574975"/>
            <a:ext cx="25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" name="Google Shape;44;p14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/>
        </p:nvSpPr>
        <p:spPr>
          <a:xfrm>
            <a:off x="1185450" y="2027375"/>
            <a:ext cx="677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Componentes y estados en React</a:t>
            </a:r>
            <a:endParaRPr/>
          </a:p>
        </p:txBody>
      </p:sp>
      <p:sp>
        <p:nvSpPr>
          <p:cNvPr id="51" name="Google Shape;51;p15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3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REACT JS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" name="Google Shape;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3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" name="Google Shape;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6"/>
          <p:cNvSpPr txBox="1"/>
          <p:nvPr/>
        </p:nvSpPr>
        <p:spPr>
          <a:xfrm>
            <a:off x="2690561" y="1451613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Analizar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cambios de estados y efectos secundarios.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2690561" y="2054738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cómo aplicar props, children, estados y sincronización de componentes.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83268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/>
        </p:nvSpPr>
        <p:spPr>
          <a:xfrm>
            <a:off x="2690561" y="2734963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cómo aplicar props, children, estados y sincronización de componentes.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" name="Google Shape;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352333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690550" y="34151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Aplicar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método MAP para el rendering de listas.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6" name="Google Shape;66;p16"/>
          <p:cNvCxnSpPr>
            <a:stCxn id="58" idx="2"/>
            <a:endCxn id="60" idx="0"/>
          </p:cNvCxnSpPr>
          <p:nvPr/>
        </p:nvCxnSpPr>
        <p:spPr>
          <a:xfrm flipH="1" rot="-5400000">
            <a:off x="2052975" y="1960237"/>
            <a:ext cx="4365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6"/>
          <p:cNvCxnSpPr>
            <a:stCxn id="60" idx="2"/>
            <a:endCxn id="62" idx="0"/>
          </p:cNvCxnSpPr>
          <p:nvPr/>
        </p:nvCxnSpPr>
        <p:spPr>
          <a:xfrm flipH="1" rot="-5400000">
            <a:off x="2042475" y="2603837"/>
            <a:ext cx="456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6"/>
          <p:cNvCxnSpPr>
            <a:stCxn id="62" idx="2"/>
            <a:endCxn id="64" idx="0"/>
          </p:cNvCxnSpPr>
          <p:nvPr/>
        </p:nvCxnSpPr>
        <p:spPr>
          <a:xfrm flipH="1" rot="-5400000">
            <a:off x="2024025" y="3276262"/>
            <a:ext cx="4938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Children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475500" y="2515575"/>
            <a:ext cx="5088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Aprendimos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Children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como una manera especial de pasar props de un componente a otro. Mediante el uso de children podemos proyectar uno o más componentes dentro otro.</a:t>
            </a:r>
            <a:br>
              <a:rPr lang="es" sz="1300">
                <a:latin typeface="DM Sans"/>
                <a:ea typeface="DM Sans"/>
                <a:cs typeface="DM Sans"/>
                <a:sym typeface="DM Sans"/>
              </a:rPr>
            </a:b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ciclo de vida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de un componente de React es una serie de etapas que ocurren desde su creación hasta su eliminación, permitiendo realizar acciones en momentos específicos, como inicialización, actualización y eliminación del componente.</a:t>
            </a:r>
            <a:endParaRPr b="1" sz="13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useRef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75500" y="2515575"/>
            <a:ext cx="48981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hook </a:t>
            </a:r>
            <a:r>
              <a:rPr b="1"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useRef </a:t>
            </a: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usa en React para mantener una referencia mutable a un valor. Puede ser útil para acceder directamente a un elemento del DOM, almacenar valores persistentes entre renderizados o evitar que ciertas variables causen una actualización del componente.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475500" y="2515575"/>
            <a:ext cx="50886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usa en para realizar efectos secundarios en componentes funcionales. Permite ejecutar código en respuesta a cambios de estado, montaje o desmontaje del componente, evitando problemas de ciclo de vida y optimizando el rendimiento.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Promise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475500" y="2515575"/>
            <a:ext cx="5088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JavaScript tiene una API que nos permite crear y ejecutar distintas operaciones o conjuntos de operaciones.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Una promise es un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 objeto que permite representar el estado y seguir el ciclo de vida de una tarea u operación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(función).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75500" y="2515575"/>
            <a:ext cx="4742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El método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Map de Arrays </a:t>
            </a:r>
            <a:r>
              <a:rPr lang="es" sz="1500">
                <a:latin typeface="DM Sans"/>
                <a:ea typeface="DM Sans"/>
                <a:cs typeface="DM Sans"/>
                <a:sym typeface="DM Sans"/>
              </a:rPr>
              <a:t>nos permite iterar datos guardados en un array para transformarlo en uno nuevo. En React podemos utilizarlo para generar listas de elementos JSX o componentes de tu aplicación en base a datos guardados en </a:t>
            </a:r>
            <a:r>
              <a:rPr b="1" lang="es" sz="1500">
                <a:latin typeface="DM Sans"/>
                <a:ea typeface="DM Sans"/>
                <a:cs typeface="DM Sans"/>
                <a:sym typeface="DM Sans"/>
              </a:rPr>
              <a:t>Arrays.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22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19" name="Google Shape;119;p2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0" name="Google Shape;120;p22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22"/>
          <p:cNvSpPr txBox="1"/>
          <p:nvPr/>
        </p:nvSpPr>
        <p:spPr>
          <a:xfrm>
            <a:off x="1547025" y="1925250"/>
            <a:ext cx="6221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Respondiendo a promesas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4" name="Google Shape;124;p2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25" name="Google Shape;125;p2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900300" y="455050"/>
            <a:ext cx="349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-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MICRODESAFÍO</a:t>
            </a:r>
            <a:endParaRPr/>
          </a:p>
        </p:txBody>
      </p:sp>
      <p:grpSp>
        <p:nvGrpSpPr>
          <p:cNvPr id="133" name="Google Shape;133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4" name="Google Shape;134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5" name="Google Shape;135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6" name="Google Shape;136;p23"/>
          <p:cNvGrpSpPr/>
          <p:nvPr/>
        </p:nvGrpSpPr>
        <p:grpSpPr>
          <a:xfrm>
            <a:off x="475509" y="435709"/>
            <a:ext cx="431100" cy="431100"/>
            <a:chOff x="475509" y="435709"/>
            <a:chExt cx="431100" cy="431100"/>
          </a:xfrm>
        </p:grpSpPr>
        <p:sp>
          <p:nvSpPr>
            <p:cNvPr id="137" name="Google Shape;137;p23"/>
            <p:cNvSpPr/>
            <p:nvPr/>
          </p:nvSpPr>
          <p:spPr>
            <a:xfrm>
              <a:off x="475509" y="435709"/>
              <a:ext cx="431100" cy="431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38" name="Google Shape;138;p23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150" y="499350"/>
              <a:ext cx="303800" cy="30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23"/>
          <p:cNvSpPr/>
          <p:nvPr/>
        </p:nvSpPr>
        <p:spPr>
          <a:xfrm>
            <a:off x="475500" y="1694775"/>
            <a:ext cx="4309200" cy="19251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469200" y="1077850"/>
            <a:ext cx="7353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Respondiendo a promesas</a:t>
            </a:r>
            <a:endParaRPr b="1"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4887272" y="1694775"/>
            <a:ext cx="3781200" cy="19251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5049724" y="1839250"/>
            <a:ext cx="349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Tips</a:t>
            </a:r>
            <a:endParaRPr sz="1200" u="sng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4852475" y="2109250"/>
            <a:ext cx="3641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✓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Recuerda no modificar manualmente el estado “data”. Utiliza </a:t>
            </a:r>
            <a:r>
              <a:rPr b="1"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setData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asignar un nuevo valor.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✓"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¿Notaste algo extraño en la consola? Utiliza </a:t>
            </a:r>
            <a:r>
              <a:rPr b="1"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asegurarte de invocar la función en el montaje del componente Loading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668550" y="1839250"/>
            <a:ext cx="40620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Consigna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Resuelve el siguiente </a:t>
            </a:r>
            <a:r>
              <a:rPr b="1" lang="es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código en stackblitz</a:t>
            </a: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La función </a:t>
            </a:r>
            <a:r>
              <a:rPr b="1" lang="es" sz="1200">
                <a:latin typeface="DM Sans"/>
                <a:ea typeface="DM Sans"/>
                <a:cs typeface="DM Sans"/>
                <a:sym typeface="DM Sans"/>
              </a:rPr>
              <a:t>fetchData</a:t>
            </a: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 retorna una promesa que será resuelta luego de 1 segundo: utiliza el método </a:t>
            </a:r>
            <a:r>
              <a:rPr b="1" lang="es" sz="1200">
                <a:latin typeface="DM Sans"/>
                <a:ea typeface="DM Sans"/>
                <a:cs typeface="DM Sans"/>
                <a:sym typeface="DM Sans"/>
              </a:rPr>
              <a:t>.then </a:t>
            </a: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para atrapar la respuesta y guardarla en un </a:t>
            </a:r>
            <a:r>
              <a:rPr b="1" lang="es" sz="1200"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El cambio de estado debe generar un nuevo render del componente, actualizando el texto en pantalla.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5" name="Google Shape;145;p23" title="md 03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87275" y="94855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4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151" name="Google Shape;151;p24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4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24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154" name="Google Shape;154;p24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4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6" name="Google Shape;156;p24"/>
          <p:cNvCxnSpPr>
            <a:endCxn id="154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2690573" y="17314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 estado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almacenar el objeto “data”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el método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.then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sobre la 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promesa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fetchData()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obtener la respuesta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0" name="Google Shape;160;p24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161" name="Google Shape;161;p24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4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3" name="Google Shape;163;p24"/>
          <p:cNvCxnSpPr>
            <a:endCxn id="161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4" name="Google Shape;164;p24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165" name="Google Shape;165;p24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4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7" name="Google Shape;167;p24"/>
          <p:cNvCxnSpPr>
            <a:endCxn id="165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4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que el llamado a fetchData() solo se lleve a cabo en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montaje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690573" y="35878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Actualizamos el estado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setState, usando el valor recibido en la respuesta de la promesa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1905000" y="2202300"/>
            <a:ext cx="53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¡Buen trabajo!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😎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457725" y="309050"/>
            <a:ext cx="582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Ciclos de vida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0" name="Google Shape;180;p26"/>
          <p:cNvGrpSpPr/>
          <p:nvPr/>
        </p:nvGrpSpPr>
        <p:grpSpPr>
          <a:xfrm>
            <a:off x="2061558" y="1897078"/>
            <a:ext cx="2742176" cy="2667697"/>
            <a:chOff x="1917433" y="1453653"/>
            <a:chExt cx="2742176" cy="2667697"/>
          </a:xfrm>
        </p:grpSpPr>
        <p:sp>
          <p:nvSpPr>
            <p:cNvPr id="181" name="Google Shape;181;p26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EAFF6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6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400">
                  <a:solidFill>
                    <a:srgbClr val="393B43"/>
                  </a:solidFill>
                  <a:latin typeface="DM Sans"/>
                  <a:ea typeface="DM Sans"/>
                  <a:cs typeface="DM Sans"/>
                  <a:sym typeface="DM Sans"/>
                </a:rPr>
                <a:t>Start</a:t>
              </a:r>
              <a:endParaRPr b="1" sz="2400">
                <a:solidFill>
                  <a:srgbClr val="393B4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4" name="Google Shape;184;p26"/>
          <p:cNvGrpSpPr/>
          <p:nvPr/>
        </p:nvGrpSpPr>
        <p:grpSpPr>
          <a:xfrm>
            <a:off x="3595536" y="2923272"/>
            <a:ext cx="2669123" cy="2745704"/>
            <a:chOff x="3451411" y="2479847"/>
            <a:chExt cx="2669123" cy="2745704"/>
          </a:xfrm>
        </p:grpSpPr>
        <p:sp>
          <p:nvSpPr>
            <p:cNvPr id="185" name="Google Shape;185;p26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EAFF6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6"/>
            <p:cNvSpPr txBox="1"/>
            <p:nvPr/>
          </p:nvSpPr>
          <p:spPr>
            <a:xfrm>
              <a:off x="3847075" y="3418400"/>
              <a:ext cx="1627800" cy="5232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400">
                  <a:solidFill>
                    <a:srgbClr val="393B43"/>
                  </a:solidFill>
                  <a:latin typeface="DM Sans"/>
                  <a:ea typeface="DM Sans"/>
                  <a:cs typeface="DM Sans"/>
                  <a:sym typeface="DM Sans"/>
                </a:rPr>
                <a:t>Dismount</a:t>
              </a:r>
              <a:endParaRPr b="1" sz="2400">
                <a:solidFill>
                  <a:srgbClr val="393B4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8" name="Google Shape;188;p26"/>
          <p:cNvGrpSpPr/>
          <p:nvPr/>
        </p:nvGrpSpPr>
        <p:grpSpPr>
          <a:xfrm>
            <a:off x="4625854" y="1465478"/>
            <a:ext cx="2744808" cy="2664963"/>
            <a:chOff x="4481729" y="1022053"/>
            <a:chExt cx="2744808" cy="2664963"/>
          </a:xfrm>
        </p:grpSpPr>
        <p:sp>
          <p:nvSpPr>
            <p:cNvPr id="189" name="Google Shape;189;p26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EAFF6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393B43"/>
                  </a:solidFill>
                  <a:latin typeface="DM Sans"/>
                  <a:ea typeface="DM Sans"/>
                  <a:cs typeface="DM Sans"/>
                  <a:sym typeface="DM Sans"/>
                </a:rPr>
                <a:t>Change*</a:t>
              </a:r>
              <a:endParaRPr sz="2400">
                <a:solidFill>
                  <a:srgbClr val="393B4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92" name="Google Shape;192;p26"/>
          <p:cNvGrpSpPr/>
          <p:nvPr/>
        </p:nvGrpSpPr>
        <p:grpSpPr>
          <a:xfrm>
            <a:off x="3170297" y="366739"/>
            <a:ext cx="2655026" cy="2740082"/>
            <a:chOff x="3026172" y="-76686"/>
            <a:chExt cx="2655026" cy="2740082"/>
          </a:xfrm>
        </p:grpSpPr>
        <p:sp>
          <p:nvSpPr>
            <p:cNvPr id="193" name="Google Shape;193;p26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EAFF6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6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393B43"/>
                  </a:solidFill>
                  <a:latin typeface="DM Sans"/>
                  <a:ea typeface="DM Sans"/>
                  <a:cs typeface="DM Sans"/>
                  <a:sym typeface="DM Sans"/>
                </a:rPr>
                <a:t>Mount</a:t>
              </a:r>
              <a:endParaRPr sz="2400">
                <a:solidFill>
                  <a:srgbClr val="393B4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099" y="2435925"/>
            <a:ext cx="1177900" cy="10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6838300" y="1955175"/>
            <a:ext cx="1685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">
                <a:latin typeface="DM Sans"/>
                <a:ea typeface="DM Sans"/>
                <a:cs typeface="DM Sans"/>
                <a:sym typeface="DM Sans"/>
              </a:rPr>
              <a:t>hijo </a:t>
            </a:r>
            <a:r>
              <a:rPr lang="es">
                <a:latin typeface="DM Sans"/>
                <a:ea typeface="DM Sans"/>
                <a:cs typeface="DM Sans"/>
                <a:sym typeface="DM Sans"/>
              </a:rPr>
              <a:t>tendrá la posibilidad de cambiar todas las veces que quiera hasta que el componente que lo generó lo destruya.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75500" y="1398650"/>
            <a:ext cx="7169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Utilizar useEffect para ejecutar una tarea en la etapa de </a:t>
            </a:r>
            <a:r>
              <a:rPr b="1"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montaje </a:t>
            </a: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 un componente. </a:t>
            </a:r>
            <a:b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En el mismo efecto, modificar el estado del componente para generar un </a:t>
            </a:r>
            <a:r>
              <a:rPr b="1"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update.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04" name="Google Shape;204;p27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05" name="Google Shape;205;p2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6" name="Google Shape;206;p27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27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8" name="Google Shape;208;p2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09" name="Google Shape;209;p2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/>
        </p:nvSpPr>
        <p:spPr>
          <a:xfrm>
            <a:off x="2690575" y="2334550"/>
            <a:ext cx="4693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Inicializamos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estado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 componente, y creamos un efecto.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6" name="Google Shape;216;p28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17" name="Google Shape;217;p28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28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20" name="Google Shape;220;p28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2" name="Google Shape;222;p28"/>
          <p:cNvCxnSpPr>
            <a:endCxn id="220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2690575" y="1731425"/>
            <a:ext cx="4632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Importamos los hooks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5" name="Google Shape;225;p28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226" name="Google Shape;226;p28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8" name="Google Shape;228;p28"/>
          <p:cNvCxnSpPr>
            <a:endCxn id="226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" name="Google Shape;229;p28"/>
          <p:cNvGrpSpPr/>
          <p:nvPr/>
        </p:nvGrpSpPr>
        <p:grpSpPr>
          <a:xfrm>
            <a:off x="2172088" y="3914075"/>
            <a:ext cx="197100" cy="197100"/>
            <a:chOff x="2172088" y="3661775"/>
            <a:chExt cx="197100" cy="197100"/>
          </a:xfrm>
        </p:grpSpPr>
        <p:sp>
          <p:nvSpPr>
            <p:cNvPr id="230" name="Google Shape;230;p28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32" name="Google Shape;232;p28"/>
          <p:cNvCxnSpPr>
            <a:stCxn id="226" idx="4"/>
            <a:endCxn id="230" idx="0"/>
          </p:cNvCxnSpPr>
          <p:nvPr/>
        </p:nvCxnSpPr>
        <p:spPr>
          <a:xfrm>
            <a:off x="2270638" y="3279450"/>
            <a:ext cx="0" cy="6345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8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setTimeout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generar un callback a ejecutar luego de 1000 milisegundos.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2690575" y="3816425"/>
            <a:ext cx="4693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callback,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seteamos un nuevo estado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generar un re-render del componente y reflejar los cambios. 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/>
        </p:nvSpPr>
        <p:spPr>
          <a:xfrm>
            <a:off x="1404863" y="1941375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Promise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Crearemos una Promise que luego de dos segundos resuelva con una respuesta.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46" name="Google Shape;246;p30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47" name="Google Shape;247;p30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8" name="Google Shape;248;p30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30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0" name="Google Shape;250;p3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51" name="Google Shape;251;p3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1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58" name="Google Shape;258;p31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31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61" name="Google Shape;261;p31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3" name="Google Shape;263;p31"/>
          <p:cNvCxnSpPr>
            <a:endCxn id="261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3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2690573" y="1731413"/>
            <a:ext cx="4281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nuevo objeto promise: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const promesa = </a:t>
            </a:r>
            <a:r>
              <a:rPr b="1" lang="es" sz="13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new Promise()</a:t>
            </a:r>
            <a:endParaRPr b="1" sz="135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2690575" y="2334550"/>
            <a:ext cx="4530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parámetro, pasaremos una función que recibirá los métodos resolve y reject como parámetros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new Promise( </a:t>
            </a:r>
            <a:r>
              <a:rPr b="1" lang="es" sz="13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(resolve, reject) =&gt; { … }</a:t>
            </a:r>
            <a:r>
              <a:rPr lang="es" sz="13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)</a:t>
            </a:r>
            <a:endParaRPr sz="135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grpSp>
        <p:nvGrpSpPr>
          <p:cNvPr id="267" name="Google Shape;267;p31"/>
          <p:cNvGrpSpPr/>
          <p:nvPr/>
        </p:nvGrpSpPr>
        <p:grpSpPr>
          <a:xfrm>
            <a:off x="2172088" y="3234750"/>
            <a:ext cx="197100" cy="197100"/>
            <a:chOff x="2172088" y="3058775"/>
            <a:chExt cx="197100" cy="197100"/>
          </a:xfrm>
        </p:grpSpPr>
        <p:sp>
          <p:nvSpPr>
            <p:cNvPr id="268" name="Google Shape;268;p31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70" name="Google Shape;270;p31"/>
          <p:cNvCxnSpPr>
            <a:stCxn id="261" idx="4"/>
            <a:endCxn id="268" idx="0"/>
          </p:cNvCxnSpPr>
          <p:nvPr/>
        </p:nvCxnSpPr>
        <p:spPr>
          <a:xfrm>
            <a:off x="2270638" y="2652875"/>
            <a:ext cx="0" cy="5820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31"/>
          <p:cNvSpPr txBox="1"/>
          <p:nvPr/>
        </p:nvSpPr>
        <p:spPr>
          <a:xfrm>
            <a:off x="2690573" y="3130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Usaremos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setTimeout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simular una demora en la respuesta.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72" name="Google Shape;272;p31"/>
          <p:cNvGrpSpPr/>
          <p:nvPr/>
        </p:nvGrpSpPr>
        <p:grpSpPr>
          <a:xfrm>
            <a:off x="2167063" y="3872675"/>
            <a:ext cx="197100" cy="197100"/>
            <a:chOff x="2172088" y="3058775"/>
            <a:chExt cx="197100" cy="197100"/>
          </a:xfrm>
        </p:grpSpPr>
        <p:sp>
          <p:nvSpPr>
            <p:cNvPr id="273" name="Google Shape;273;p31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75" name="Google Shape;275;p31"/>
          <p:cNvCxnSpPr>
            <a:endCxn id="273" idx="0"/>
          </p:cNvCxnSpPr>
          <p:nvPr/>
        </p:nvCxnSpPr>
        <p:spPr>
          <a:xfrm>
            <a:off x="2265613" y="3290675"/>
            <a:ext cx="0" cy="5820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1"/>
          <p:cNvSpPr txBox="1"/>
          <p:nvPr/>
        </p:nvSpPr>
        <p:spPr>
          <a:xfrm>
            <a:off x="2685550" y="3768550"/>
            <a:ext cx="4623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el método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.then()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esperar el resultado de la promesa y ejecutar un callback en respuesta.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5/10 minutos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3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88" name="Google Shape;288;p3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9" name="Google Shape;289;p33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" name="Google Shape;290;p33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Mock Async Service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33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3" name="Google Shape;293;p3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94" name="Google Shape;294;p3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34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301" name="Google Shape;301;p3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2" name="Google Shape;302;p34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" name="Google Shape;303;p34"/>
          <p:cNvSpPr txBox="1"/>
          <p:nvPr/>
        </p:nvSpPr>
        <p:spPr>
          <a:xfrm>
            <a:off x="501450" y="1081750"/>
            <a:ext cx="52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Mock Async Service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4" name="Google Shape;3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4"/>
          <p:cNvSpPr txBox="1"/>
          <p:nvPr/>
        </p:nvSpPr>
        <p:spPr>
          <a:xfrm>
            <a:off x="501450" y="2003025"/>
            <a:ext cx="6575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Desarrollando el ejemplo visto anteriormente, crea en </a:t>
            </a:r>
            <a:r>
              <a:rPr b="1" lang="es" sz="1350" u="sng">
                <a:solidFill>
                  <a:schemeClr val="accent5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JSBIN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una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promesa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que resuelva en tres segundos un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array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de objetos de tipo producto. 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Al resolver, imprímelos en consola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{ id: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string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, name: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string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, description: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string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, price: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number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, stock: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number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}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34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7" name="Google Shape;3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5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314" name="Google Shape;314;p3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5" name="Google Shape;315;p35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6" name="Google Shape;316;p35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5 minutos 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MAP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En ItemListContainer usaremos el método Map para generar el listado productos para nuestra tienda.</a:t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29" name="Google Shape;329;p37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330" name="Google Shape;330;p3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1" name="Google Shape;331;p37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7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33" name="Google Shape;333;p3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34" name="Google Shape;334;p3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38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341" name="Google Shape;341;p38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" name="Google Shape;343;p38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344" name="Google Shape;344;p38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6" name="Google Shape;346;p38"/>
          <p:cNvCxnSpPr>
            <a:endCxn id="344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3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38"/>
          <p:cNvSpPr txBox="1"/>
          <p:nvPr/>
        </p:nvSpPr>
        <p:spPr>
          <a:xfrm>
            <a:off x="2690573" y="17314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array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 contenga los datos de tus productos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template JSX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básica para mostrar toda la información (nombre del producto, precio, etc.)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0" name="Google Shape;350;p38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351" name="Google Shape;351;p38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3" name="Google Shape;353;p38"/>
          <p:cNvCxnSpPr>
            <a:endCxn id="351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4" name="Google Shape;354;p38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355" name="Google Shape;355;p38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7" name="Google Shape;357;p38"/>
          <p:cNvCxnSpPr>
            <a:endCxn id="355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8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generar un listado con los datos de tus productos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38"/>
          <p:cNvSpPr txBox="1"/>
          <p:nvPr/>
        </p:nvSpPr>
        <p:spPr>
          <a:xfrm>
            <a:off x="2690573" y="35878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paso a la vez: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puedes ocuparte de las hojas de estilo más adelante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39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65" name="Google Shape;365;p3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6" name="Google Shape;366;p39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" name="Google Shape;367;p39"/>
          <p:cNvSpPr txBox="1"/>
          <p:nvPr/>
        </p:nvSpPr>
        <p:spPr>
          <a:xfrm>
            <a:off x="15389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Catálogo con MAPS y promises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1064900" y="32497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70" name="Google Shape;370;p3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71" name="Google Shape;371;p3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2" name="Google Shape;372;p3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40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378" name="Google Shape;378;p4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" name="Google Shape;379;p40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0" name="Google Shape;380;p40"/>
          <p:cNvSpPr txBox="1"/>
          <p:nvPr/>
        </p:nvSpPr>
        <p:spPr>
          <a:xfrm>
            <a:off x="457350" y="971825"/>
            <a:ext cx="525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Catálogo con MAPS y promises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81" name="Google Shape;38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0"/>
          <p:cNvSpPr txBox="1"/>
          <p:nvPr/>
        </p:nvSpPr>
        <p:spPr>
          <a:xfrm>
            <a:off x="501450" y="2384025"/>
            <a:ext cx="7186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Crea los componentes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Item.js e ItemList.js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para mostrar los productos en tu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ItemListContainer.js.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Los datos deben provenir de un llamado a una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promise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que los resuelva en tiempo diferido (setTimeout) de 2 segundos, para emular retrasos de red.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Utiliza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para ejecutar la promesa y actualizar el estado de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ItemListContainer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con los datos recibidos.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83" name="Google Shape;38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0"/>
          <p:cNvSpPr/>
          <p:nvPr/>
        </p:nvSpPr>
        <p:spPr>
          <a:xfrm>
            <a:off x="1046225" y="533975"/>
            <a:ext cx="3447600" cy="365400"/>
          </a:xfrm>
          <a:prstGeom prst="roundRect">
            <a:avLst>
              <a:gd fmla="val 16667" name="adj"/>
            </a:avLst>
          </a:prstGeom>
          <a:solidFill>
            <a:srgbClr val="EAFF6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>
                <a:latin typeface="DM Sans Medium"/>
                <a:ea typeface="DM Sans Medium"/>
                <a:cs typeface="DM Sans Medium"/>
                <a:sym typeface="DM Sans Medium"/>
              </a:rPr>
              <a:t>ACTIVIDAD DEL PROYECTO FINAL</a:t>
            </a:r>
            <a:endParaRPr b="0" i="0" sz="1500" u="none" cap="none" strike="noStrike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 txBox="1"/>
          <p:nvPr/>
        </p:nvSpPr>
        <p:spPr>
          <a:xfrm>
            <a:off x="500175" y="796650"/>
            <a:ext cx="602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Catálogo con MAPS y promises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0" name="Google Shape;39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1"/>
          <p:cNvSpPr txBox="1"/>
          <p:nvPr/>
        </p:nvSpPr>
        <p:spPr>
          <a:xfrm>
            <a:off x="407250" y="2027050"/>
            <a:ext cx="8077200" cy="24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0">
                <a:latin typeface="DM Sans"/>
                <a:ea typeface="DM Sans"/>
                <a:cs typeface="DM Sans"/>
                <a:sym typeface="DM Sans"/>
              </a:rPr>
              <a:t>Recomendaciones</a:t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250"/>
              <a:buFont typeface="DM Sans"/>
              <a:buChar char="✓"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Item.js: Es un componente destinado a mostrar información breve del producto que el user clickeará luego para acceder a los detalles (los desarrollaremos más adelante)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250"/>
              <a:buFont typeface="DM Sans"/>
              <a:buChar char="✓"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ItemList.js Es un agrupador de un set de componentes Item.js 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1250"/>
              <a:buFont typeface="DM Sans"/>
              <a:buChar char="✓"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Implementa un async mock (promise): Usa un efecto de montaje para poder emitir un llamado asincrónico a un mock (objeto) estático de datos que devuelva un conjunto de item { id, title, description, price, pictureUrl } en dos segundos (setTimeout), para emular retrasos de red.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p41"/>
          <p:cNvSpPr txBox="1"/>
          <p:nvPr/>
        </p:nvSpPr>
        <p:spPr>
          <a:xfrm>
            <a:off x="930550" y="737925"/>
            <a:ext cx="24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3" name="Google Shape;393;p41"/>
          <p:cNvGrpSpPr/>
          <p:nvPr/>
        </p:nvGrpSpPr>
        <p:grpSpPr>
          <a:xfrm>
            <a:off x="475497" y="365572"/>
            <a:ext cx="431074" cy="431074"/>
            <a:chOff x="974706" y="2467173"/>
            <a:chExt cx="738900" cy="738900"/>
          </a:xfrm>
        </p:grpSpPr>
        <p:sp>
          <p:nvSpPr>
            <p:cNvPr id="394" name="Google Shape;394;p4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5" name="Google Shape;395;p41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6" name="Google Shape;396;p41"/>
          <p:cNvSpPr/>
          <p:nvPr/>
        </p:nvSpPr>
        <p:spPr>
          <a:xfrm>
            <a:off x="1064375" y="431250"/>
            <a:ext cx="3447600" cy="365400"/>
          </a:xfrm>
          <a:prstGeom prst="roundRect">
            <a:avLst>
              <a:gd fmla="val 16667" name="adj"/>
            </a:avLst>
          </a:prstGeom>
          <a:solidFill>
            <a:srgbClr val="EAFF6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>
                <a:latin typeface="DM Sans Medium"/>
                <a:ea typeface="DM Sans Medium"/>
                <a:cs typeface="DM Sans Medium"/>
                <a:sym typeface="DM Sans Medium"/>
              </a:rPr>
              <a:t>ACTIVIDAD DEL PROYECTO FINAL</a:t>
            </a:r>
            <a:endParaRPr b="0" i="0" sz="1500" u="none" cap="none" strike="noStrike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/>
        </p:nvSpPr>
        <p:spPr>
          <a:xfrm>
            <a:off x="495763" y="993350"/>
            <a:ext cx="757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Catálogo con MAPS y promises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2" name="Google Shape;4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2"/>
          <p:cNvSpPr txBox="1"/>
          <p:nvPr/>
        </p:nvSpPr>
        <p:spPr>
          <a:xfrm>
            <a:off x="475500" y="2096975"/>
            <a:ext cx="58254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Ejemplo Inicial.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function Item({ item }) {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 // Desarrolla la vista de un ítem donde item es de tipo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 // { id, title, price, pictureUrl }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}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function ItemList({ items }) {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 // El componente va a recibir una prop `items` y va a mapear estos `items` al componente `&lt;Item … /&gt;`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}</a:t>
            </a:r>
            <a:endParaRPr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42"/>
          <p:cNvSpPr txBox="1"/>
          <p:nvPr/>
        </p:nvSpPr>
        <p:spPr>
          <a:xfrm>
            <a:off x="930550" y="468275"/>
            <a:ext cx="24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5" name="Google Shape;40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2255" y="2286350"/>
            <a:ext cx="1635121" cy="202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p42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407" name="Google Shape;407;p4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8" name="Google Shape;408;p42" title="ícono de actividad en clase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" name="Google Shape;409;p42"/>
          <p:cNvSpPr/>
          <p:nvPr/>
        </p:nvSpPr>
        <p:spPr>
          <a:xfrm>
            <a:off x="1046225" y="533975"/>
            <a:ext cx="3447600" cy="365400"/>
          </a:xfrm>
          <a:prstGeom prst="roundRect">
            <a:avLst>
              <a:gd fmla="val 16667" name="adj"/>
            </a:avLst>
          </a:prstGeom>
          <a:solidFill>
            <a:srgbClr val="EAFF6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>
                <a:latin typeface="DM Sans Medium"/>
                <a:ea typeface="DM Sans Medium"/>
                <a:cs typeface="DM Sans Medium"/>
                <a:sym typeface="DM Sans Medium"/>
              </a:rPr>
              <a:t>ACTIVIDAD DEL PROYECTO FINAL</a:t>
            </a:r>
            <a:endParaRPr b="0" i="0" sz="1500" u="none" cap="none" strike="noStrike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43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416" name="Google Shape;416;p4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7" name="Google Shape;417;p43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8" name="Google Shape;418;p43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9" name="Google Shape;419;p43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5/10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 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/>
        </p:nvSpPr>
        <p:spPr>
          <a:xfrm>
            <a:off x="1461300" y="17867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2998200" y="2556375"/>
            <a:ext cx="314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dejar tu pregunta a través del </a:t>
            </a: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chat</a:t>
            </a:r>
            <a:endParaRPr b="0" i="0" sz="2000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/>
        </p:nvSpPr>
        <p:spPr>
          <a:xfrm>
            <a:off x="1461300" y="2216950"/>
            <a:ext cx="622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compartimos los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35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 b="1" sz="35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31" name="Google Shape;431;p45"/>
          <p:cNvGrpSpPr/>
          <p:nvPr/>
        </p:nvGrpSpPr>
        <p:grpSpPr>
          <a:xfrm>
            <a:off x="4202550" y="1322535"/>
            <a:ext cx="738900" cy="738900"/>
            <a:chOff x="4202550" y="994173"/>
            <a:chExt cx="738900" cy="738900"/>
          </a:xfrm>
        </p:grpSpPr>
        <p:sp>
          <p:nvSpPr>
            <p:cNvPr id="432" name="Google Shape;432;p45"/>
            <p:cNvSpPr/>
            <p:nvPr/>
          </p:nvSpPr>
          <p:spPr>
            <a:xfrm>
              <a:off x="4202550" y="994173"/>
              <a:ext cx="738900" cy="738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433" name="Google Shape;433;p45" title="ícono de codertip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6700" y="1138325"/>
              <a:ext cx="450600" cy="45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recomendamos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9" name="Google Shape;439;p46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40" name="Google Shape;440;p46" title="ícono de coderti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5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6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2" name="Google Shape;442;p46"/>
          <p:cNvSpPr txBox="1"/>
          <p:nvPr/>
        </p:nvSpPr>
        <p:spPr>
          <a:xfrm>
            <a:off x="4454925" y="1682450"/>
            <a:ext cx="39303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array de dependencias es necesario en un useEffect, sin este no estaremos controlando cuando se ejecuta el efecto.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Existen muchos métodos similares a Map para trabajar con arrays. Investiga y juega con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.find, .filter y .reduce.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3" name="Google Shape;443;p46"/>
          <p:cNvSpPr txBox="1"/>
          <p:nvPr/>
        </p:nvSpPr>
        <p:spPr>
          <a:xfrm>
            <a:off x="457350" y="1682450"/>
            <a:ext cx="3834600" cy="22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los ejemplos que viste de Promesas y experimenta un poco más.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el método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reject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dentro de una promesa para rechazarla y observa qué pasa si no “atrapas” el error en .then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ser un poco confuso al principio. Tranquilo: poco a poco veremos más casos donde sea útil.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7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49" name="Google Shape;449;p47" title="ícono de material ampliad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48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7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MATERIAL AMPLIADO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1" name="Google Shape;451;p47"/>
          <p:cNvSpPr txBox="1"/>
          <p:nvPr/>
        </p:nvSpPr>
        <p:spPr>
          <a:xfrm>
            <a:off x="457350" y="1244250"/>
            <a:ext cx="614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DM Sans"/>
              <a:buChar char="✓"/>
            </a:pPr>
            <a:r>
              <a:rPr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UseEffect</a:t>
            </a:r>
            <a:r>
              <a:rPr lang="es" sz="1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b="1" lang="es" sz="135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| React useEffect</a:t>
            </a:r>
            <a:endParaRPr sz="1350" u="sng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2" name="Google Shape;452;p47"/>
          <p:cNvSpPr txBox="1"/>
          <p:nvPr/>
        </p:nvSpPr>
        <p:spPr>
          <a:xfrm>
            <a:off x="2515250" y="1913300"/>
            <a:ext cx="63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8" name="Google Shape;458;p48"/>
          <p:cNvSpPr txBox="1"/>
          <p:nvPr/>
        </p:nvSpPr>
        <p:spPr>
          <a:xfrm>
            <a:off x="2109143" y="2325013"/>
            <a:ext cx="49257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Props, children y estados.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Efectos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Promises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MAP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"/>
          <p:cNvSpPr txBox="1"/>
          <p:nvPr/>
        </p:nvSpPr>
        <p:spPr>
          <a:xfrm>
            <a:off x="2016150" y="1863750"/>
            <a:ext cx="5111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b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