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DM Sans Medium"/>
      <p:regular r:id="rId41"/>
      <p:bold r:id="rId42"/>
      <p:italic r:id="rId43"/>
      <p:boldItalic r:id="rId44"/>
    </p:embeddedFont>
    <p:embeddedFont>
      <p:font typeface="Roboto"/>
      <p:regular r:id="rId45"/>
      <p:bold r:id="rId46"/>
      <p:italic r:id="rId47"/>
      <p:boldItalic r:id="rId48"/>
    </p:embeddedFont>
    <p:embeddedFont>
      <p:font typeface="Ubuntu Mono"/>
      <p:regular r:id="rId49"/>
      <p:bold r:id="rId50"/>
      <p:italic r:id="rId51"/>
      <p:boldItalic r:id="rId52"/>
    </p:embeddedFont>
    <p:embeddedFont>
      <p:font typeface="Helvetica Neue"/>
      <p:regular r:id="rId53"/>
      <p:bold r:id="rId54"/>
      <p:italic r:id="rId55"/>
      <p:boldItalic r:id="rId56"/>
    </p:embeddedFont>
    <p:embeddedFont>
      <p:font typeface="Helvetica Neue Light"/>
      <p:regular r:id="rId57"/>
      <p:bold r:id="rId58"/>
      <p:italic r:id="rId59"/>
      <p:boldItalic r:id="rId60"/>
    </p:embeddedFont>
    <p:embeddedFont>
      <p:font typeface="DM Sans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95">
          <p15:clr>
            <a:srgbClr val="A4A3A4"/>
          </p15:clr>
        </p15:guide>
        <p15:guide id="2" pos="5460">
          <p15:clr>
            <a:srgbClr val="A4A3A4"/>
          </p15:clr>
        </p15:guide>
        <p15:guide id="3" pos="300">
          <p15:clr>
            <a:srgbClr val="9AA0A6"/>
          </p15:clr>
        </p15:guide>
        <p15:guide id="4" orient="horz" pos="32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945DC0D-0F3E-419D-A3D7-C1EA4FFF31BC}">
  <a:tblStyle styleId="{C945DC0D-0F3E-419D-A3D7-C1EA4FFF31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95" orient="horz"/>
        <p:guide pos="5460"/>
        <p:guide pos="300"/>
        <p:guide pos="32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DMSansMedium-bold.fntdata"/><Relationship Id="rId41" Type="http://schemas.openxmlformats.org/officeDocument/2006/relationships/font" Target="fonts/DMSansMedium-regular.fntdata"/><Relationship Id="rId44" Type="http://schemas.openxmlformats.org/officeDocument/2006/relationships/font" Target="fonts/DMSansMedium-boldItalic.fntdata"/><Relationship Id="rId43" Type="http://schemas.openxmlformats.org/officeDocument/2006/relationships/font" Target="fonts/DMSansMedium-italic.fntdata"/><Relationship Id="rId46" Type="http://schemas.openxmlformats.org/officeDocument/2006/relationships/font" Target="fonts/Roboto-bold.fntdata"/><Relationship Id="rId45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-boldItalic.fntdata"/><Relationship Id="rId47" Type="http://schemas.openxmlformats.org/officeDocument/2006/relationships/font" Target="fonts/Roboto-italic.fntdata"/><Relationship Id="rId49" Type="http://schemas.openxmlformats.org/officeDocument/2006/relationships/font" Target="fonts/UbuntuMon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DMSans-bold.fntdata"/><Relationship Id="rId61" Type="http://schemas.openxmlformats.org/officeDocument/2006/relationships/font" Target="fonts/DMSans-regular.fntdata"/><Relationship Id="rId20" Type="http://schemas.openxmlformats.org/officeDocument/2006/relationships/slide" Target="slides/slide14.xml"/><Relationship Id="rId64" Type="http://schemas.openxmlformats.org/officeDocument/2006/relationships/font" Target="fonts/DMSans-boldItalic.fntdata"/><Relationship Id="rId63" Type="http://schemas.openxmlformats.org/officeDocument/2006/relationships/font" Target="fonts/DMSans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HelveticaNeueLight-bold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UbuntuMono-italic.fntdata"/><Relationship Id="rId50" Type="http://schemas.openxmlformats.org/officeDocument/2006/relationships/font" Target="fonts/UbuntuMono-bold.fntdata"/><Relationship Id="rId53" Type="http://schemas.openxmlformats.org/officeDocument/2006/relationships/font" Target="fonts/HelveticaNeue-regular.fntdata"/><Relationship Id="rId52" Type="http://schemas.openxmlformats.org/officeDocument/2006/relationships/font" Target="fonts/UbuntuMono-boldItalic.fntdata"/><Relationship Id="rId11" Type="http://schemas.openxmlformats.org/officeDocument/2006/relationships/slide" Target="slides/slide5.xml"/><Relationship Id="rId55" Type="http://schemas.openxmlformats.org/officeDocument/2006/relationships/font" Target="fonts/HelveticaNeue-italic.fntdata"/><Relationship Id="rId10" Type="http://schemas.openxmlformats.org/officeDocument/2006/relationships/slide" Target="slides/slide4.xml"/><Relationship Id="rId54" Type="http://schemas.openxmlformats.org/officeDocument/2006/relationships/font" Target="fonts/HelveticaNeue-bold.fntdata"/><Relationship Id="rId13" Type="http://schemas.openxmlformats.org/officeDocument/2006/relationships/slide" Target="slides/slide7.xml"/><Relationship Id="rId57" Type="http://schemas.openxmlformats.org/officeDocument/2006/relationships/font" Target="fonts/HelveticaNeueLight-regular.fntdata"/><Relationship Id="rId12" Type="http://schemas.openxmlformats.org/officeDocument/2006/relationships/slide" Target="slides/slide6.xml"/><Relationship Id="rId56" Type="http://schemas.openxmlformats.org/officeDocument/2006/relationships/font" Target="fonts/HelveticaNeue-boldItalic.fntdata"/><Relationship Id="rId15" Type="http://schemas.openxmlformats.org/officeDocument/2006/relationships/slide" Target="slides/slide9.xml"/><Relationship Id="rId59" Type="http://schemas.openxmlformats.org/officeDocument/2006/relationships/font" Target="fonts/HelveticaNeueLight-italic.fntdata"/><Relationship Id="rId14" Type="http://schemas.openxmlformats.org/officeDocument/2006/relationships/slide" Target="slides/slide8.xml"/><Relationship Id="rId58" Type="http://schemas.openxmlformats.org/officeDocument/2006/relationships/font" Target="fonts/HelveticaNeueLight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13c9d1b815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113c9d1b815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1635c457e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" name="Google Shape;47;g21635c457e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Colocar todas las clases.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55a413f5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55a413f5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d8ab2ab78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d8ab2ab78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Redactar los objetivos en función de los conocimientos y habilidades a desarrollar en la clase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53250eb3e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53250eb3e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53250eb3e8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53250eb3e8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53250eb3e8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53250eb3e8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5443d79ec9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5443d79ec9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5443d79ec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5443d79ec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slide se retoma sobre un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tema en específico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de algún contenido pregrabado </a:t>
            </a:r>
            <a:r>
              <a:rPr lang="es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en caso de que sea necesario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Señalar en “Notas al orador” la duración (en minutos) que se sugiere para el momento de repaso teniendo en cuenta que el foco de las clases es la práctica. </a:t>
            </a: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52ba13cb3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52ba13cb3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(OPCIÓN DASH)</a:t>
            </a:r>
            <a:endParaRPr>
              <a:highlight>
                <a:srgbClr val="DEFC52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5af6e793b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5af6e793b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05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Esta slide es para microdesafíos a partir de consignas abiertas (modelo breve)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443d79ec9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5443d79ec9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5443d79ec9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5443d79ec9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52ba13cb37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52ba13cb37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532aada7ff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532aada7ff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los módulos más importantes de la clase, donde se introducen conceptos que se ven en varios slides. No hay que usarla para todos los módulos.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532aada7ff_0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532aada7ff_0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532aada7ff_0_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532aada7ff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Utilizar esta slide para hacer un repaso de visto en el ejemplo en vivo.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52ba13cb37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52ba13cb3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56db0ccf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56db0ccf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Para profes/tutores: </a:t>
            </a: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esta actividad es secundaria, realizarla si llegan con los tiempos y darle más prioridad a la anterior.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56db0ccf2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256db0ccf2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56db0ccf2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256db0ccf2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las subsiguientes slides de Actividades en clase.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6db0ccf2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56db0ccf2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532aada7ff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532aada7ff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500">
                <a:solidFill>
                  <a:schemeClr val="dk1"/>
                </a:solidFill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Para profes/tutores: </a:t>
            </a:r>
            <a:r>
              <a:rPr lang="es"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esta actividad es secundaria, realizarla si llegan con los tiempos y darle más prioridad a la anterior.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532aada7ff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532aada7ff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>
                <a:solidFill>
                  <a:schemeClr val="dk1"/>
                </a:solidFill>
                <a:highlight>
                  <a:srgbClr val="DEFC52"/>
                </a:highlight>
                <a:latin typeface="DM Sans"/>
                <a:ea typeface="DM Sans"/>
                <a:cs typeface="DM Sans"/>
                <a:sym typeface="DM Sans"/>
              </a:rPr>
              <a:t>PARA PROFES/TUTORES: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esta actividad deben retomar lo trabajado en la actividad extra Clase 6 - actividad 2 de la guía de ejercicios complementarios para poder hacerlo en el tiempo establecido. No hacerlo desde cero.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5443d79ec9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25443d79ec9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Usar para slides de sólo texto con instancias a destacar.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5443d79ec9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5443d79ec9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3ad191e9b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13ad191e9b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highlight>
                  <a:srgbClr val="EA90FF"/>
                </a:highlight>
                <a:latin typeface="DM Sans"/>
                <a:ea typeface="DM Sans"/>
                <a:cs typeface="DM Sans"/>
                <a:sym typeface="DM Sans"/>
              </a:rPr>
              <a:t>(Probar si se puede hacer con Kahoot y de lo contrario que hagan preguntas activando micrófono o por chat).</a:t>
            </a:r>
            <a:endParaRPr>
              <a:highlight>
                <a:srgbClr val="EA90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1635c457e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1635c457e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3bbc910f27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13bbc910f27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3bbc910f2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3bbc910f2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 Completar el resumen con palabras claves de lo visto. En caso de cerrar con el “mapa de conceptos” se puede sacar. 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5aeca67d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g25aeca67d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chemeClr val="dk1"/>
                </a:solidFill>
                <a:highlight>
                  <a:srgbClr val="E0FF00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Para profes/tutores:</a:t>
            </a:r>
            <a:r>
              <a:rPr lang="es" sz="125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 bien las actividades recomendadas no son obligatorias ni reciben corrección, corresponden a ejercicios que aportan a la construcción de las pre entregas y Proyecto Final. En caso de que den los tiempos, les sugerimos que ingresen a la Guía y lean en conjunto las consignas.</a:t>
            </a:r>
            <a:endParaRPr sz="12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3bbc910f27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3bbc910f2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Obligatoria siempre.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13bbc910f27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13bbc910f27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44e5a9b3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44e5a9b3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Todas las clases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co 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Font typeface="DM Sans"/>
              <a:buNone/>
              <a:defRPr b="1" sz="40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Helvetica Neue Light"/>
              <a:buNone/>
              <a:defRPr sz="20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/>
          <p:nvPr/>
        </p:nvSpPr>
        <p:spPr>
          <a:xfrm>
            <a:off x="1089900" y="995400"/>
            <a:ext cx="6964200" cy="3152700"/>
          </a:xfrm>
          <a:prstGeom prst="rect">
            <a:avLst/>
          </a:prstGeom>
          <a:solidFill>
            <a:srgbClr val="B5B5B5">
              <a:alpha val="10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 imagen">
  <p:cSld name="SECTION_HEADER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6592475" y="0"/>
            <a:ext cx="2551500" cy="51435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" name="Google Shape;24;p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8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">
  <p:cSld name="SECTION_HEADER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9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0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5">
  <p:cSld name="SECTION_HEADER_1_1_1_1_1_1_1_1_1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1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 1">
  <p:cSld name="SECTION_HEADER_1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12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-B 1">
  <p:cSld name="SECTION_HEADER_1_1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3" title="logo coderhouse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hyperlink" Target="https://stackblitz.com/edit/stackblitz-starters-xjc8jd?file=src%2FApp.js" TargetMode="External"/><Relationship Id="rId6" Type="http://schemas.openxmlformats.org/officeDocument/2006/relationships/hyperlink" Target="http://drive.google.com/file/d/1d_KOqEMV7tTXCA7CCBMZg6zYCkXiZ1xj/view" TargetMode="External"/><Relationship Id="rId7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firebase.google.com/docs/firestore/manage-data/add-data" TargetMode="External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3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Relationship Id="rId4" Type="http://schemas.openxmlformats.org/officeDocument/2006/relationships/hyperlink" Target="https://firebase.google.com/docs/firestore/query-data/query-cursors?hl=es-419" TargetMode="External"/><Relationship Id="rId5" Type="http://schemas.openxmlformats.org/officeDocument/2006/relationships/hyperlink" Target="https://firebase.google.com/docs/firestore?hl=es-419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ocs.google.com/presentation/d/1m0Pxdo6tR3VQeOwms0SIpvoQ_3HPwGyT/edit?usp=drive_link&amp;ouid=105756276059427898200&amp;rtpof=true&amp;sd=true" TargetMode="External"/><Relationship Id="rId4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¡Les damos la bienvenida!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2" name="Google Shape;42;p14"/>
          <p:cNvSpPr txBox="1"/>
          <p:nvPr/>
        </p:nvSpPr>
        <p:spPr>
          <a:xfrm>
            <a:off x="3315900" y="3421350"/>
            <a:ext cx="25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¿Comenzamos?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Man Dancing on Apple iOS 12.2" id="43" name="Google Shape;4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900" y="808750"/>
            <a:ext cx="876200" cy="8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/>
          <p:nvPr/>
        </p:nvSpPr>
        <p:spPr>
          <a:xfrm>
            <a:off x="3080700" y="2547525"/>
            <a:ext cx="2982600" cy="793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5"/>
          <p:cNvSpPr txBox="1"/>
          <p:nvPr/>
        </p:nvSpPr>
        <p:spPr>
          <a:xfrm>
            <a:off x="1461300" y="1802163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 va a ser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" name="Google Shape;51;p15"/>
          <p:cNvSpPr txBox="1"/>
          <p:nvPr/>
        </p:nvSpPr>
        <p:spPr>
          <a:xfrm>
            <a:off x="3655975" y="2541075"/>
            <a:ext cx="2477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grabada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" name="Google Shape;52;p15"/>
          <p:cNvSpPr/>
          <p:nvPr/>
        </p:nvSpPr>
        <p:spPr>
          <a:xfrm>
            <a:off x="3293875" y="2844525"/>
            <a:ext cx="199800" cy="199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/>
        </p:nvSpPr>
        <p:spPr>
          <a:xfrm>
            <a:off x="1185025" y="2252975"/>
            <a:ext cx="677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Firebase 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8" name="Google Shape;58;p16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Unidad 7</a:t>
            </a:r>
            <a:r>
              <a:rPr b="1"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r>
              <a:rPr lang="es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REACT JS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59" name="Google Shape;5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100" y="3654844"/>
            <a:ext cx="3933794" cy="16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/>
        </p:nvSpPr>
        <p:spPr>
          <a:xfrm>
            <a:off x="501450" y="468275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Objetivos de la clase</a:t>
            </a:r>
            <a:r>
              <a:rPr b="1" lang="es" sz="3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3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5" name="Google Shape;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438" y="15453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7"/>
          <p:cNvSpPr txBox="1"/>
          <p:nvPr/>
        </p:nvSpPr>
        <p:spPr>
          <a:xfrm>
            <a:off x="2690561" y="145161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Diferenciar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el modelo de serverless-computing de un modelo tradicional.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7" name="Google Shape;6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2178713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7"/>
          <p:cNvSpPr txBox="1"/>
          <p:nvPr/>
        </p:nvSpPr>
        <p:spPr>
          <a:xfrm>
            <a:off x="2690561" y="2054738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Configurar 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un storage, sus colecciones y acceder a la información. 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69" name="Google Shape;6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2832688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7"/>
          <p:cNvSpPr txBox="1"/>
          <p:nvPr/>
        </p:nvSpPr>
        <p:spPr>
          <a:xfrm>
            <a:off x="2690561" y="2734963"/>
            <a:ext cx="4281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Insertar y actualizar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información usando Firestore.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138" y="3523338"/>
            <a:ext cx="196975" cy="19697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7"/>
          <p:cNvSpPr txBox="1"/>
          <p:nvPr/>
        </p:nvSpPr>
        <p:spPr>
          <a:xfrm>
            <a:off x="2690550" y="341518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Comprender</a:t>
            </a: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los flujos de control.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73" name="Google Shape;73;p17"/>
          <p:cNvCxnSpPr>
            <a:stCxn id="65" idx="2"/>
            <a:endCxn id="67" idx="0"/>
          </p:cNvCxnSpPr>
          <p:nvPr/>
        </p:nvCxnSpPr>
        <p:spPr>
          <a:xfrm flipH="1" rot="-5400000">
            <a:off x="2052975" y="1960237"/>
            <a:ext cx="436500" cy="600"/>
          </a:xfrm>
          <a:prstGeom prst="bentConnector3">
            <a:avLst>
              <a:gd fmla="val 49991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7"/>
          <p:cNvCxnSpPr>
            <a:stCxn id="67" idx="2"/>
            <a:endCxn id="69" idx="0"/>
          </p:cNvCxnSpPr>
          <p:nvPr/>
        </p:nvCxnSpPr>
        <p:spPr>
          <a:xfrm flipH="1" rot="-5400000">
            <a:off x="2042475" y="2603837"/>
            <a:ext cx="456900" cy="6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7"/>
          <p:cNvCxnSpPr>
            <a:stCxn id="69" idx="2"/>
            <a:endCxn id="71" idx="0"/>
          </p:cNvCxnSpPr>
          <p:nvPr/>
        </p:nvCxnSpPr>
        <p:spPr>
          <a:xfrm flipH="1" rot="-5400000">
            <a:off x="2024025" y="3276262"/>
            <a:ext cx="493800" cy="600"/>
          </a:xfrm>
          <a:prstGeom prst="bentConnector3">
            <a:avLst>
              <a:gd fmla="val 49987" name="adj1"/>
            </a:avLst>
          </a:prstGeom>
          <a:noFill/>
          <a:ln cap="flat" cmpd="sng" w="9525">
            <a:solidFill>
              <a:srgbClr val="EAFF6A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/>
        </p:nvSpPr>
        <p:spPr>
          <a:xfrm>
            <a:off x="475500" y="2515575"/>
            <a:ext cx="50886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DM Sans"/>
                <a:ea typeface="DM Sans"/>
                <a:cs typeface="DM Sans"/>
                <a:sym typeface="DM Sans"/>
              </a:rPr>
              <a:t>Implementar y configurar un Back-End propio puede ser costoso en términos económicos y de tiempo. </a:t>
            </a:r>
            <a:br>
              <a:rPr lang="es">
                <a:latin typeface="DM Sans"/>
                <a:ea typeface="DM Sans"/>
                <a:cs typeface="DM Sans"/>
                <a:sym typeface="DM Sans"/>
              </a:rPr>
            </a:br>
            <a:r>
              <a:rPr b="1" lang="es">
                <a:latin typeface="DM Sans"/>
                <a:ea typeface="DM Sans"/>
                <a:cs typeface="DM Sans"/>
                <a:sym typeface="DM Sans"/>
              </a:rPr>
              <a:t>Firebase </a:t>
            </a:r>
            <a:r>
              <a:rPr lang="es">
                <a:latin typeface="DM Sans"/>
                <a:ea typeface="DM Sans"/>
                <a:cs typeface="DM Sans"/>
                <a:sym typeface="DM Sans"/>
              </a:rPr>
              <a:t>es una plataforma de cloud services para el desarrollo de aplicaciones que provee un plan gratuito para aplicaciones pequeñas y no requiere extensos conocimientos de infraestructura o mantenimiento.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1" name="Google Shape;81;p18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Firebase 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475500" y="971050"/>
            <a:ext cx="48495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Configura tu app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9"/>
          <p:cNvSpPr txBox="1"/>
          <p:nvPr/>
        </p:nvSpPr>
        <p:spPr>
          <a:xfrm>
            <a:off x="481150" y="2264050"/>
            <a:ext cx="50886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Vimos </a:t>
            </a:r>
            <a:r>
              <a:rPr b="1" lang="es" sz="1300">
                <a:latin typeface="DM Sans"/>
                <a:ea typeface="DM Sans"/>
                <a:cs typeface="DM Sans"/>
                <a:sym typeface="DM Sans"/>
              </a:rPr>
              <a:t>cómo integrar una base de datos de Firebase a una aplicación de React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. 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Creamos una nueva "web app" en Firebase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para obtener las credenciales y luego instalamos de forma local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el cliente de Firebase vía NPM. También utilizamos: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DM Sans"/>
              <a:buChar char="●"/>
            </a:pPr>
            <a:r>
              <a:rPr b="1" lang="es" sz="1300">
                <a:latin typeface="Ubuntu Mono"/>
                <a:ea typeface="Ubuntu Mono"/>
                <a:cs typeface="Ubuntu Mono"/>
                <a:sym typeface="Ubuntu Mono"/>
              </a:rPr>
              <a:t>doc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b="1" lang="es" sz="1300">
                <a:latin typeface="Ubuntu Mono"/>
                <a:ea typeface="Ubuntu Mono"/>
                <a:cs typeface="Ubuntu Mono"/>
                <a:sym typeface="Ubuntu Mono"/>
              </a:rPr>
              <a:t>collection </a:t>
            </a:r>
            <a:r>
              <a:rPr lang="es" sz="1300">
                <a:latin typeface="DM Sans"/>
                <a:ea typeface="DM Sans"/>
                <a:cs typeface="DM Sans"/>
                <a:sym typeface="DM Sans"/>
              </a:rPr>
              <a:t>para crear referencias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DM Sans"/>
              <a:buChar char="●"/>
            </a:pPr>
            <a:r>
              <a:rPr b="1" lang="es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getDoc 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b="1" lang="es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getDocs 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recibir de forma asíncrona el estado o “snapshot” actual de un documento/colección</a:t>
            </a:r>
            <a:endParaRPr sz="13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DM Sans"/>
              <a:buChar char="●"/>
            </a:pPr>
            <a:r>
              <a:rPr b="1" lang="es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query 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b="1" lang="es" sz="1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where </a:t>
            </a:r>
            <a:r>
              <a:rPr lang="es" sz="13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crear consultas personalizadas.</a:t>
            </a:r>
            <a:endParaRPr sz="130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/>
        </p:nvSpPr>
        <p:spPr>
          <a:xfrm>
            <a:off x="475500" y="971050"/>
            <a:ext cx="4849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Almacenamiento en Firestore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0"/>
          <p:cNvSpPr txBox="1"/>
          <p:nvPr/>
        </p:nvSpPr>
        <p:spPr>
          <a:xfrm>
            <a:off x="475500" y="2515575"/>
            <a:ext cx="5088600" cy="18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datos se almacenan en colecciones de documentos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los cuales pueden contener información compleja como objetos anidados, fechas, strings y números. Es recomendable experimentar con el editor online para descubrir más sobre Firestore. En resumen, Firestore es un sistema muy completo y flexible que permite almacenar y organizar datos de manera eficiente.</a:t>
            </a:r>
            <a:endParaRPr b="1" sz="12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/>
        </p:nvSpPr>
        <p:spPr>
          <a:xfrm>
            <a:off x="386700" y="4311063"/>
            <a:ext cx="66627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Cuidado: arrays no pueden tener sub-arrays entre sus elementos</a:t>
            </a:r>
            <a:endParaRPr sz="1200">
              <a:solidFill>
                <a:srgbClr val="000000"/>
              </a:solidFill>
              <a:highlight>
                <a:schemeClr val="accent6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8" name="Google Shape;108;p21"/>
          <p:cNvSpPr txBox="1"/>
          <p:nvPr/>
        </p:nvSpPr>
        <p:spPr>
          <a:xfrm>
            <a:off x="403175" y="487375"/>
            <a:ext cx="74835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4000">
                <a:solidFill>
                  <a:srgbClr val="000000"/>
                </a:solidFill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b="1" lang="es" sz="4000"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irestore</a:t>
            </a:r>
            <a:r>
              <a:rPr b="1" lang="es" sz="4000">
                <a:solidFill>
                  <a:srgbClr val="000000"/>
                </a:solidFill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: </a:t>
            </a:r>
            <a:r>
              <a:rPr b="1" lang="es" sz="4000"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tipos de datos</a:t>
            </a:r>
            <a:endParaRPr b="1" sz="3800">
              <a:solidFill>
                <a:srgbClr val="000000"/>
              </a:solidFill>
              <a:highlight>
                <a:srgbClr val="FFFF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109" name="Google Shape;109;p21"/>
          <p:cNvGraphicFramePr/>
          <p:nvPr/>
        </p:nvGraphicFramePr>
        <p:xfrm>
          <a:off x="2417950" y="172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{C945DC0D-0F3E-419D-A3D7-C1EA4FFF31BC}</a:tableStyleId>
              </a:tblPr>
              <a:tblGrid>
                <a:gridCol w="1756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8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string</a:t>
                      </a:r>
                      <a:endParaRPr b="1" sz="18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rgbClr val="EAFF6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number</a:t>
                      </a:r>
                      <a:endParaRPr sz="18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boolean</a:t>
                      </a:r>
                      <a:endParaRPr sz="18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rgbClr val="EAFF6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map</a:t>
                      </a:r>
                      <a:endParaRPr sz="18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0" name="Google Shape;110;p21"/>
          <p:cNvGraphicFramePr/>
          <p:nvPr/>
        </p:nvGraphicFramePr>
        <p:xfrm>
          <a:off x="5027175" y="1723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{C945DC0D-0F3E-419D-A3D7-C1EA4FFF31BC}</a:tableStyleId>
              </a:tblPr>
              <a:tblGrid>
                <a:gridCol w="1756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array</a:t>
                      </a:r>
                      <a:endParaRPr sz="18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null</a:t>
                      </a:r>
                      <a:endParaRPr sz="18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timestamp</a:t>
                      </a:r>
                      <a:endParaRPr sz="18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800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geopoint</a:t>
                      </a:r>
                      <a:endParaRPr sz="1800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475500" y="971050"/>
            <a:ext cx="484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addDoc 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3600" y="0"/>
            <a:ext cx="347040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2"/>
          <p:cNvSpPr txBox="1"/>
          <p:nvPr/>
        </p:nvSpPr>
        <p:spPr>
          <a:xfrm>
            <a:off x="475500" y="2439375"/>
            <a:ext cx="50886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función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addDoc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creará un nuevo documento, solo debemos pasarle instancia de Firestore y colección en la que será creado.</a:t>
            </a:r>
            <a:b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actualizar un documento, podemos emplear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updateDoc,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proporcionando una referencia al documento y un objeto con los campos y valores a actualizar.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actualizar varios documentos, se puede usar un objeto batch con </a:t>
            </a:r>
            <a:r>
              <a:rPr b="1"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writeBatch </a:t>
            </a:r>
            <a:r>
              <a:rPr lang="es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reducir la cantidad de operaciones de escritura en la base de datos.</a:t>
            </a:r>
            <a:endParaRPr b="1" sz="125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23"/>
          <p:cNvGrpSpPr/>
          <p:nvPr/>
        </p:nvGrpSpPr>
        <p:grpSpPr>
          <a:xfrm>
            <a:off x="4202551" y="1088764"/>
            <a:ext cx="738900" cy="738974"/>
            <a:chOff x="974706" y="2467173"/>
            <a:chExt cx="738900" cy="738900"/>
          </a:xfrm>
        </p:grpSpPr>
        <p:sp>
          <p:nvSpPr>
            <p:cNvPr id="125" name="Google Shape;125;p2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6" name="Google Shape;126;p23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23"/>
          <p:cNvSpPr txBox="1"/>
          <p:nvPr/>
        </p:nvSpPr>
        <p:spPr>
          <a:xfrm>
            <a:off x="1547025" y="1925250"/>
            <a:ext cx="6221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tu Item Collection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987300" y="32873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¡Vamos a recuperar lo trabajado durante la semana! 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9" name="Google Shape;129;p23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15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minutos</a:t>
            </a: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0" name="Google Shape;130;p23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31" name="Google Shape;131;p23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32" name="Google Shape;132;p23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/>
          <p:nvPr/>
        </p:nvSpPr>
        <p:spPr>
          <a:xfrm>
            <a:off x="485050" y="3730700"/>
            <a:ext cx="8183700" cy="7620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4"/>
          <p:cNvSpPr/>
          <p:nvPr/>
        </p:nvSpPr>
        <p:spPr>
          <a:xfrm>
            <a:off x="475500" y="1694775"/>
            <a:ext cx="5003700" cy="19251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/>
          <p:nvPr/>
        </p:nvSpPr>
        <p:spPr>
          <a:xfrm>
            <a:off x="469200" y="1077850"/>
            <a:ext cx="73533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tu Item Collection</a:t>
            </a:r>
            <a:endParaRPr b="1" sz="2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1" name="Google Shape;141;p24"/>
          <p:cNvSpPr txBox="1"/>
          <p:nvPr/>
        </p:nvSpPr>
        <p:spPr>
          <a:xfrm>
            <a:off x="675350" y="1839250"/>
            <a:ext cx="27750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Consigna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900300" y="455050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MICRODESAFÍO</a:t>
            </a:r>
            <a:endParaRPr/>
          </a:p>
        </p:txBody>
      </p:sp>
      <p:sp>
        <p:nvSpPr>
          <p:cNvPr id="143" name="Google Shape;143;p24"/>
          <p:cNvSpPr/>
          <p:nvPr/>
        </p:nvSpPr>
        <p:spPr>
          <a:xfrm>
            <a:off x="5573600" y="1694775"/>
            <a:ext cx="3094800" cy="1925100"/>
          </a:xfrm>
          <a:prstGeom prst="rect">
            <a:avLst/>
          </a:prstGeom>
          <a:solidFill>
            <a:srgbClr val="F0F7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 txBox="1"/>
          <p:nvPr/>
        </p:nvSpPr>
        <p:spPr>
          <a:xfrm>
            <a:off x="5795428" y="1839250"/>
            <a:ext cx="2775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Tips</a:t>
            </a:r>
            <a:endParaRPr sz="1200" u="sng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5573600" y="2109250"/>
            <a:ext cx="2956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✓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Más adelante veremos maneras automatizadas de exportar grandes cantidades de datos a Firebase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✓"/>
            </a:pPr>
            <a:r>
              <a:rPr lang="es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Tener tu base de datos y colección listas te permitirá trabajar mejor en la clase en vivo.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46" name="Google Shape;146;p24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147" name="Google Shape;147;p24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48" name="Google Shape;148;p24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49" name="Google Shape;149;p24"/>
          <p:cNvGrpSpPr/>
          <p:nvPr/>
        </p:nvGrpSpPr>
        <p:grpSpPr>
          <a:xfrm>
            <a:off x="475509" y="435709"/>
            <a:ext cx="431100" cy="431100"/>
            <a:chOff x="475509" y="435709"/>
            <a:chExt cx="431100" cy="431100"/>
          </a:xfrm>
        </p:grpSpPr>
        <p:sp>
          <p:nvSpPr>
            <p:cNvPr id="150" name="Google Shape;150;p24"/>
            <p:cNvSpPr/>
            <p:nvPr/>
          </p:nvSpPr>
          <p:spPr>
            <a:xfrm>
              <a:off x="475509" y="435709"/>
              <a:ext cx="431100" cy="4311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300">
                <a:latin typeface="DM Sans"/>
                <a:ea typeface="DM Sans"/>
                <a:cs typeface="DM Sans"/>
                <a:sym typeface="DM Sans"/>
              </a:endParaRPr>
            </a:p>
          </p:txBody>
        </p:sp>
        <p:pic>
          <p:nvPicPr>
            <p:cNvPr id="151" name="Google Shape;151;p24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9150" y="499350"/>
              <a:ext cx="303800" cy="303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2" name="Google Shape;152;p24"/>
          <p:cNvSpPr txBox="1"/>
          <p:nvPr/>
        </p:nvSpPr>
        <p:spPr>
          <a:xfrm>
            <a:off x="824100" y="2205550"/>
            <a:ext cx="44961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Configura tu </a:t>
            </a:r>
            <a:r>
              <a:rPr b="1" lang="es" sz="11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cuenta de Firebase</a:t>
            </a:r>
            <a:r>
              <a:rPr lang="es" sz="11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y crea una base de datos con </a:t>
            </a:r>
            <a:r>
              <a:rPr b="1" lang="es" sz="11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Firestore </a:t>
            </a:r>
            <a:r>
              <a:rPr lang="es" sz="11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 una nueva colección “items”.</a:t>
            </a:r>
            <a:endParaRPr sz="11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Carga de forma manual al menos 2 productos de tu tienda.</a:t>
            </a:r>
            <a:endParaRPr sz="11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 una aplicación web y guarda las credenciales para utilizar en tu proyecto. Puedes utilizar tus keys de Firebase en este </a:t>
            </a:r>
            <a:r>
              <a:rPr b="1" lang="es" sz="11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stackblitz</a:t>
            </a:r>
            <a:r>
              <a:rPr lang="es" sz="11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para testear tu colección.</a:t>
            </a:r>
            <a:endParaRPr sz="11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3" name="Google Shape;153;p24" title=" MD 7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71225" y="866800"/>
            <a:ext cx="639600" cy="6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987300" y="3849138"/>
            <a:ext cx="716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15 </a:t>
            </a:r>
            <a:r>
              <a:rPr b="1"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minutos</a:t>
            </a:r>
            <a:r>
              <a:rPr lang="es" sz="1800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800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/>
        </p:nvSpPr>
        <p:spPr>
          <a:xfrm>
            <a:off x="444900" y="422738"/>
            <a:ext cx="4987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Firestore: checklist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0" name="Google Shape;160;p25"/>
          <p:cNvGrpSpPr/>
          <p:nvPr/>
        </p:nvGrpSpPr>
        <p:grpSpPr>
          <a:xfrm>
            <a:off x="2890038" y="1788350"/>
            <a:ext cx="197100" cy="197100"/>
            <a:chOff x="2172088" y="1852650"/>
            <a:chExt cx="197100" cy="197100"/>
          </a:xfrm>
        </p:grpSpPr>
        <p:sp>
          <p:nvSpPr>
            <p:cNvPr id="161" name="Google Shape;161;p25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5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25"/>
          <p:cNvGrpSpPr/>
          <p:nvPr/>
        </p:nvGrpSpPr>
        <p:grpSpPr>
          <a:xfrm>
            <a:off x="2890038" y="2391475"/>
            <a:ext cx="197100" cy="197100"/>
            <a:chOff x="2172088" y="2455775"/>
            <a:chExt cx="197100" cy="197100"/>
          </a:xfrm>
        </p:grpSpPr>
        <p:sp>
          <p:nvSpPr>
            <p:cNvPr id="164" name="Google Shape;164;p25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5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6" name="Google Shape;166;p25"/>
          <p:cNvCxnSpPr>
            <a:endCxn id="164" idx="0"/>
          </p:cNvCxnSpPr>
          <p:nvPr/>
        </p:nvCxnSpPr>
        <p:spPr>
          <a:xfrm>
            <a:off x="2988588" y="19855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5"/>
          <p:cNvSpPr txBox="1"/>
          <p:nvPr/>
        </p:nvSpPr>
        <p:spPr>
          <a:xfrm>
            <a:off x="3408523" y="166711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Te has registrado en Firebase.</a:t>
            </a: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3408523" y="227023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Has creado un nuevo proyecto.</a:t>
            </a: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69" name="Google Shape;169;p25"/>
          <p:cNvGrpSpPr/>
          <p:nvPr/>
        </p:nvGrpSpPr>
        <p:grpSpPr>
          <a:xfrm>
            <a:off x="2890038" y="3018050"/>
            <a:ext cx="197100" cy="197100"/>
            <a:chOff x="2172088" y="3058775"/>
            <a:chExt cx="197100" cy="197100"/>
          </a:xfrm>
        </p:grpSpPr>
        <p:sp>
          <p:nvSpPr>
            <p:cNvPr id="170" name="Google Shape;170;p25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5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72" name="Google Shape;172;p25"/>
          <p:cNvCxnSpPr>
            <a:endCxn id="170" idx="0"/>
          </p:cNvCxnSpPr>
          <p:nvPr/>
        </p:nvCxnSpPr>
        <p:spPr>
          <a:xfrm>
            <a:off x="2988588" y="26121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3" name="Google Shape;173;p25"/>
          <p:cNvGrpSpPr/>
          <p:nvPr/>
        </p:nvGrpSpPr>
        <p:grpSpPr>
          <a:xfrm>
            <a:off x="2890038" y="3621175"/>
            <a:ext cx="197100" cy="197100"/>
            <a:chOff x="2172088" y="3661775"/>
            <a:chExt cx="197100" cy="197100"/>
          </a:xfrm>
        </p:grpSpPr>
        <p:sp>
          <p:nvSpPr>
            <p:cNvPr id="174" name="Google Shape;174;p25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5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76" name="Google Shape;176;p25"/>
          <p:cNvCxnSpPr>
            <a:endCxn id="174" idx="0"/>
          </p:cNvCxnSpPr>
          <p:nvPr/>
        </p:nvCxnSpPr>
        <p:spPr>
          <a:xfrm>
            <a:off x="2988588" y="32152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" name="Google Shape;177;p25"/>
          <p:cNvSpPr txBox="1"/>
          <p:nvPr/>
        </p:nvSpPr>
        <p:spPr>
          <a:xfrm>
            <a:off x="3408523" y="292038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Creación de un </a:t>
            </a: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Firestore.</a:t>
            </a:r>
            <a:endParaRPr b="1"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3408523" y="352351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Inicialización de la primera colección (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ítems</a:t>
            </a: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)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3408523" y="412663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latin typeface="DM Sans"/>
                <a:ea typeface="DM Sans"/>
                <a:cs typeface="DM Sans"/>
                <a:sym typeface="DM Sans"/>
              </a:rPr>
              <a:t>Creaste tu primer documento en la colección.</a:t>
            </a: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80" name="Google Shape;180;p25"/>
          <p:cNvCxnSpPr/>
          <p:nvPr/>
        </p:nvCxnSpPr>
        <p:spPr>
          <a:xfrm>
            <a:off x="2988588" y="381840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1" name="Google Shape;181;p25"/>
          <p:cNvGrpSpPr/>
          <p:nvPr/>
        </p:nvGrpSpPr>
        <p:grpSpPr>
          <a:xfrm>
            <a:off x="2890038" y="4224425"/>
            <a:ext cx="197100" cy="197100"/>
            <a:chOff x="2172088" y="3058775"/>
            <a:chExt cx="197100" cy="197100"/>
          </a:xfrm>
        </p:grpSpPr>
        <p:sp>
          <p:nvSpPr>
            <p:cNvPr id="182" name="Google Shape;182;p25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5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6"/>
          <p:cNvSpPr txBox="1"/>
          <p:nvPr/>
        </p:nvSpPr>
        <p:spPr>
          <a:xfrm>
            <a:off x="524925" y="218400"/>
            <a:ext cx="8315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Firestore: checklist para conectar nuestra react- app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9" name="Google Shape;189;p26"/>
          <p:cNvGrpSpPr/>
          <p:nvPr/>
        </p:nvGrpSpPr>
        <p:grpSpPr>
          <a:xfrm>
            <a:off x="2280438" y="2016950"/>
            <a:ext cx="197100" cy="197100"/>
            <a:chOff x="2172088" y="1852650"/>
            <a:chExt cx="197100" cy="197100"/>
          </a:xfrm>
        </p:grpSpPr>
        <p:sp>
          <p:nvSpPr>
            <p:cNvPr id="190" name="Google Shape;190;p26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6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" name="Google Shape;192;p26"/>
          <p:cNvGrpSpPr/>
          <p:nvPr/>
        </p:nvGrpSpPr>
        <p:grpSpPr>
          <a:xfrm>
            <a:off x="2280438" y="2543875"/>
            <a:ext cx="197100" cy="197100"/>
            <a:chOff x="2172088" y="2455775"/>
            <a:chExt cx="197100" cy="197100"/>
          </a:xfrm>
        </p:grpSpPr>
        <p:sp>
          <p:nvSpPr>
            <p:cNvPr id="193" name="Google Shape;193;p26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95" name="Google Shape;195;p26"/>
          <p:cNvCxnSpPr>
            <a:endCxn id="193" idx="0"/>
          </p:cNvCxnSpPr>
          <p:nvPr/>
        </p:nvCxnSpPr>
        <p:spPr>
          <a:xfrm>
            <a:off x="2378988" y="21379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" name="Google Shape;196;p26"/>
          <p:cNvSpPr txBox="1"/>
          <p:nvPr/>
        </p:nvSpPr>
        <p:spPr>
          <a:xfrm>
            <a:off x="2798923" y="1819513"/>
            <a:ext cx="42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Configura tu integración con una webapp</a:t>
            </a:r>
            <a:r>
              <a:rPr lang="es" sz="2000">
                <a:solidFill>
                  <a:schemeClr val="dk1"/>
                </a:solidFill>
                <a:highlight>
                  <a:schemeClr val="lt1"/>
                </a:highlight>
                <a:latin typeface="Helvetica Neue Light"/>
                <a:ea typeface="Helvetica Neue Light"/>
                <a:cs typeface="Helvetica Neue Light"/>
                <a:sym typeface="Helvetica Neue Light"/>
              </a:rPr>
              <a:t>.</a:t>
            </a: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2798923" y="2422638"/>
            <a:ext cx="428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Instalar firebase en el proyecto vía </a:t>
            </a:r>
            <a:r>
              <a:rPr b="1"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NPM</a:t>
            </a:r>
            <a:r>
              <a:rPr b="1" lang="es" sz="2000">
                <a:solidFill>
                  <a:schemeClr val="dk1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8" name="Google Shape;198;p26"/>
          <p:cNvGrpSpPr/>
          <p:nvPr/>
        </p:nvGrpSpPr>
        <p:grpSpPr>
          <a:xfrm>
            <a:off x="2280438" y="3170450"/>
            <a:ext cx="197100" cy="197100"/>
            <a:chOff x="2172088" y="3058775"/>
            <a:chExt cx="197100" cy="197100"/>
          </a:xfrm>
        </p:grpSpPr>
        <p:sp>
          <p:nvSpPr>
            <p:cNvPr id="199" name="Google Shape;199;p26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01" name="Google Shape;201;p26"/>
          <p:cNvCxnSpPr>
            <a:endCxn id="199" idx="0"/>
          </p:cNvCxnSpPr>
          <p:nvPr/>
        </p:nvCxnSpPr>
        <p:spPr>
          <a:xfrm>
            <a:off x="2378988" y="27645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2" name="Google Shape;202;p26"/>
          <p:cNvGrpSpPr/>
          <p:nvPr/>
        </p:nvGrpSpPr>
        <p:grpSpPr>
          <a:xfrm>
            <a:off x="2280438" y="3773575"/>
            <a:ext cx="197100" cy="197100"/>
            <a:chOff x="2172088" y="3661775"/>
            <a:chExt cx="197100" cy="197100"/>
          </a:xfrm>
        </p:grpSpPr>
        <p:sp>
          <p:nvSpPr>
            <p:cNvPr id="203" name="Google Shape;203;p26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05" name="Google Shape;205;p26"/>
          <p:cNvCxnSpPr>
            <a:endCxn id="203" idx="0"/>
          </p:cNvCxnSpPr>
          <p:nvPr/>
        </p:nvCxnSpPr>
        <p:spPr>
          <a:xfrm>
            <a:off x="2378988" y="33676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6"/>
          <p:cNvSpPr txBox="1"/>
          <p:nvPr/>
        </p:nvSpPr>
        <p:spPr>
          <a:xfrm>
            <a:off x="2798923" y="307278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Configurar el client con tu api key.</a:t>
            </a:r>
            <a:endParaRPr b="1"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7" name="Google Shape;207;p26"/>
          <p:cNvSpPr txBox="1"/>
          <p:nvPr/>
        </p:nvSpPr>
        <p:spPr>
          <a:xfrm>
            <a:off x="2798923" y="367591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Configurar un client factory.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2798923" y="427903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/>
        </p:nvSpPr>
        <p:spPr>
          <a:xfrm>
            <a:off x="1905000" y="2202300"/>
            <a:ext cx="5372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¡Buen trabajo! 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😎</a:t>
            </a:r>
            <a:endParaRPr sz="3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8"/>
          <p:cNvSpPr txBox="1"/>
          <p:nvPr/>
        </p:nvSpPr>
        <p:spPr>
          <a:xfrm>
            <a:off x="1513013" y="1371150"/>
            <a:ext cx="6221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Accede a una 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colección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/>
        </p:nvSpPr>
        <p:spPr>
          <a:xfrm>
            <a:off x="1447300" y="53757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Ejemplo en vivo</a:t>
            </a:r>
            <a:endParaRPr b="1" sz="35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475500" y="1474850"/>
            <a:ext cx="71694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Utilizamos las funciones de Firestore para acceder a nuestra base de datos y mostrar los ítems en la interfaz de React.</a:t>
            </a:r>
            <a:endParaRPr b="1" sz="25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rgbClr val="B7B7B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25" name="Google Shape;225;p29"/>
          <p:cNvGrpSpPr/>
          <p:nvPr/>
        </p:nvGrpSpPr>
        <p:grpSpPr>
          <a:xfrm>
            <a:off x="475501" y="468273"/>
            <a:ext cx="738900" cy="738900"/>
            <a:chOff x="473351" y="619523"/>
            <a:chExt cx="738900" cy="738900"/>
          </a:xfrm>
        </p:grpSpPr>
        <p:sp>
          <p:nvSpPr>
            <p:cNvPr id="226" name="Google Shape;226;p29"/>
            <p:cNvSpPr/>
            <p:nvPr/>
          </p:nvSpPr>
          <p:spPr>
            <a:xfrm>
              <a:off x="473351" y="61952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7" name="Google Shape;227;p29" title="ícono de ejemplo en vivo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6475" y="762650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8" name="Google Shape;228;p29"/>
          <p:cNvSpPr txBox="1"/>
          <p:nvPr/>
        </p:nvSpPr>
        <p:spPr>
          <a:xfrm>
            <a:off x="475500" y="3829300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25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29" name="Google Shape;229;p29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30" name="Google Shape;230;p29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30"/>
          <p:cNvGrpSpPr/>
          <p:nvPr/>
        </p:nvGrpSpPr>
        <p:grpSpPr>
          <a:xfrm>
            <a:off x="1943488" y="1928850"/>
            <a:ext cx="197100" cy="197100"/>
            <a:chOff x="2172088" y="1852650"/>
            <a:chExt cx="197100" cy="197100"/>
          </a:xfrm>
        </p:grpSpPr>
        <p:sp>
          <p:nvSpPr>
            <p:cNvPr id="237" name="Google Shape;237;p30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30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" name="Google Shape;239;p30"/>
          <p:cNvGrpSpPr/>
          <p:nvPr/>
        </p:nvGrpSpPr>
        <p:grpSpPr>
          <a:xfrm>
            <a:off x="1943488" y="2531975"/>
            <a:ext cx="197100" cy="197100"/>
            <a:chOff x="2172088" y="2455775"/>
            <a:chExt cx="197100" cy="197100"/>
          </a:xfrm>
        </p:grpSpPr>
        <p:sp>
          <p:nvSpPr>
            <p:cNvPr id="240" name="Google Shape;240;p30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0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42" name="Google Shape;242;p30"/>
          <p:cNvCxnSpPr>
            <a:endCxn id="240" idx="0"/>
          </p:cNvCxnSpPr>
          <p:nvPr/>
        </p:nvCxnSpPr>
        <p:spPr>
          <a:xfrm>
            <a:off x="2042038" y="212607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30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4" name="Google Shape;244;p30"/>
          <p:cNvSpPr txBox="1"/>
          <p:nvPr/>
        </p:nvSpPr>
        <p:spPr>
          <a:xfrm>
            <a:off x="2461975" y="1807625"/>
            <a:ext cx="47979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collection y getDocs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-&gt;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Obtener docs de una colección.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30"/>
          <p:cNvSpPr txBox="1"/>
          <p:nvPr/>
        </p:nvSpPr>
        <p:spPr>
          <a:xfrm>
            <a:off x="2461975" y="2410750"/>
            <a:ext cx="4685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query y where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-&gt; Obtener un listado de docs filtrados.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46" name="Google Shape;246;p30"/>
          <p:cNvGrpSpPr/>
          <p:nvPr/>
        </p:nvGrpSpPr>
        <p:grpSpPr>
          <a:xfrm>
            <a:off x="1943488" y="3158550"/>
            <a:ext cx="197100" cy="197100"/>
            <a:chOff x="2172088" y="3058775"/>
            <a:chExt cx="197100" cy="197100"/>
          </a:xfrm>
        </p:grpSpPr>
        <p:sp>
          <p:nvSpPr>
            <p:cNvPr id="247" name="Google Shape;247;p30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30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49" name="Google Shape;249;p30"/>
          <p:cNvCxnSpPr>
            <a:endCxn id="247" idx="0"/>
          </p:cNvCxnSpPr>
          <p:nvPr/>
        </p:nvCxnSpPr>
        <p:spPr>
          <a:xfrm>
            <a:off x="2042038" y="27526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0" name="Google Shape;250;p30"/>
          <p:cNvSpPr txBox="1"/>
          <p:nvPr/>
        </p:nvSpPr>
        <p:spPr>
          <a:xfrm>
            <a:off x="2461975" y="3060900"/>
            <a:ext cx="4638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doc y getDoc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-&gt; Referenciar y obtener un único doc.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51" name="Google Shape;251;p30"/>
          <p:cNvGrpSpPr/>
          <p:nvPr/>
        </p:nvGrpSpPr>
        <p:grpSpPr>
          <a:xfrm>
            <a:off x="1965650" y="3705525"/>
            <a:ext cx="197100" cy="197100"/>
            <a:chOff x="2172088" y="3058775"/>
            <a:chExt cx="197100" cy="197100"/>
          </a:xfrm>
        </p:grpSpPr>
        <p:sp>
          <p:nvSpPr>
            <p:cNvPr id="252" name="Google Shape;252;p30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0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254" name="Google Shape;254;p30"/>
          <p:cNvCxnSpPr>
            <a:endCxn id="252" idx="0"/>
          </p:cNvCxnSpPr>
          <p:nvPr/>
        </p:nvCxnSpPr>
        <p:spPr>
          <a:xfrm>
            <a:off x="2064200" y="329962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" name="Google Shape;255;p30"/>
          <p:cNvSpPr txBox="1"/>
          <p:nvPr/>
        </p:nvSpPr>
        <p:spPr>
          <a:xfrm>
            <a:off x="2484138" y="3607875"/>
            <a:ext cx="4638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Recuerda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: reemplaza tus </a:t>
            </a:r>
            <a:r>
              <a:rPr b="1" i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mocks promises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creadas en la semana 3 por llamados a tu base de datos.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/>
        </p:nvSpPr>
        <p:spPr>
          <a:xfrm>
            <a:off x="1461300" y="1598325"/>
            <a:ext cx="62214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5000">
                <a:solidFill>
                  <a:srgbClr val="E8E7E3"/>
                </a:solidFill>
              </a:rPr>
              <a:t>☕</a:t>
            </a:r>
            <a:endParaRPr sz="5000">
              <a:solidFill>
                <a:srgbClr val="E8E7E3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Break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2809200" y="2971950"/>
            <a:ext cx="35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¡En 10 minutos volvemos!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p32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267" name="Google Shape;267;p32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8" name="Google Shape;268;p32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9" name="Google Shape;269;p32"/>
          <p:cNvSpPr txBox="1"/>
          <p:nvPr/>
        </p:nvSpPr>
        <p:spPr>
          <a:xfrm>
            <a:off x="1538900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Item Collection II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0" name="Google Shape;270;p32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15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1" name="Google Shape;271;p32"/>
          <p:cNvSpPr txBox="1"/>
          <p:nvPr/>
        </p:nvSpPr>
        <p:spPr>
          <a:xfrm>
            <a:off x="1064900" y="2947513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practicar lo visto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72" name="Google Shape;272;p32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273" name="Google Shape;273;p32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/>
        </p:nvSpPr>
        <p:spPr>
          <a:xfrm>
            <a:off x="540125" y="926475"/>
            <a:ext cx="700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Item Collection II</a:t>
            </a:r>
            <a:endParaRPr b="1" i="0" sz="40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80" name="Google Shape;2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3"/>
          <p:cNvSpPr txBox="1"/>
          <p:nvPr/>
        </p:nvSpPr>
        <p:spPr>
          <a:xfrm>
            <a:off x="607000" y="1787825"/>
            <a:ext cx="74733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" sz="1350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i="0" sz="135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250"/>
              <a:buFont typeface="DM Sans"/>
              <a:buChar char="✓"/>
            </a:pPr>
            <a: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Crea tu colección de órdenes.</a:t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Recomendaciones</a:t>
            </a:r>
            <a:endParaRPr b="1"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250"/>
              <a:buFont typeface="DM Sans"/>
              <a:buChar char="✓"/>
            </a:pPr>
            <a: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Utiliza las operaciones de inserción para insertar tu orden en la colección y dale al user el id del documento auto-generado.</a:t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250"/>
              <a:buFont typeface="DM Sans"/>
              <a:buChar char="✓"/>
            </a:pPr>
            <a: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Crea</a:t>
            </a:r>
            <a: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los mappings para poder crear un objeto con los datos apropiados para generar la orden de compra con el formato:</a:t>
            </a:r>
            <a:b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{ buyer: { name, phone, email }, items: [{id, title, quantity, price}], date, total  }</a:t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F6A"/>
              </a:buClr>
              <a:buSzPts val="1250"/>
              <a:buFont typeface="DM Sans"/>
              <a:buChar char="✓"/>
            </a:pPr>
            <a: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Pista: Puedes controlar los stocks con multi-gets utilizando los itemId de tu cart.</a:t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82" name="Google Shape;282;p33"/>
          <p:cNvSpPr txBox="1"/>
          <p:nvPr/>
        </p:nvSpPr>
        <p:spPr>
          <a:xfrm>
            <a:off x="930550" y="468275"/>
            <a:ext cx="24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83" name="Google Shape;283;p33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284" name="Google Shape;284;p33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85" name="Google Shape;285;p33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6" name="Google Shape;286;p33"/>
          <p:cNvSpPr/>
          <p:nvPr/>
        </p:nvSpPr>
        <p:spPr>
          <a:xfrm>
            <a:off x="1046225" y="533975"/>
            <a:ext cx="3447600" cy="365400"/>
          </a:xfrm>
          <a:prstGeom prst="roundRect">
            <a:avLst>
              <a:gd fmla="val 16667" name="adj"/>
            </a:avLst>
          </a:prstGeom>
          <a:solidFill>
            <a:srgbClr val="EAFF6A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500">
                <a:latin typeface="DM Sans Medium"/>
                <a:ea typeface="DM Sans Medium"/>
                <a:cs typeface="DM Sans Medium"/>
                <a:sym typeface="DM Sans Medium"/>
              </a:rPr>
              <a:t>ACTIVIDAD DEL PROYECTO FINAL</a:t>
            </a:r>
            <a:endParaRPr b="0" i="0" sz="1500" u="none" cap="none" strike="noStrike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/>
        </p:nvSpPr>
        <p:spPr>
          <a:xfrm>
            <a:off x="359275" y="806900"/>
            <a:ext cx="507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Item Collection II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2" name="Google Shape;292;p34"/>
          <p:cNvSpPr txBox="1"/>
          <p:nvPr/>
        </p:nvSpPr>
        <p:spPr>
          <a:xfrm>
            <a:off x="262950" y="1435950"/>
            <a:ext cx="84582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Ejemplo inicial.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👀 Crea el objeto ORDER con la información solicitada:</a:t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let order = 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buyer: {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name: "An Ecommerce Client",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email: "client@coderhouse.com",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phone: "123456789"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},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total: //utiliza una función global para calcular el importe total de la orden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items: //mapea tu carrito para agregar aquí solo los datos solicitados de cada producto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date: serverTimestamp()	//método de firebase para asignar la fecha y hora del servidor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};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👀 Luego deberás crear una función que agregue ese objeto a un documento en una collección ORDERS</a:t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Guíate de la documentación de Firestore 👉 </a:t>
            </a:r>
            <a:r>
              <a:rPr lang="es" sz="12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https://firebase.google.com/docs/firestore/manage-data/add-data</a:t>
            </a:r>
            <a:r>
              <a:rPr lang="es" sz="12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3" name="Google Shape;293;p34"/>
          <p:cNvSpPr txBox="1"/>
          <p:nvPr/>
        </p:nvSpPr>
        <p:spPr>
          <a:xfrm>
            <a:off x="909100" y="296825"/>
            <a:ext cx="246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94" name="Google Shape;294;p34"/>
          <p:cNvGrpSpPr/>
          <p:nvPr/>
        </p:nvGrpSpPr>
        <p:grpSpPr>
          <a:xfrm>
            <a:off x="475497" y="335872"/>
            <a:ext cx="431074" cy="431074"/>
            <a:chOff x="974706" y="2467173"/>
            <a:chExt cx="738900" cy="738900"/>
          </a:xfrm>
        </p:grpSpPr>
        <p:sp>
          <p:nvSpPr>
            <p:cNvPr id="295" name="Google Shape;295;p34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96" name="Google Shape;296;p34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" name="Google Shape;297;p34"/>
          <p:cNvSpPr/>
          <p:nvPr/>
        </p:nvSpPr>
        <p:spPr>
          <a:xfrm>
            <a:off x="1064375" y="401550"/>
            <a:ext cx="3447600" cy="365400"/>
          </a:xfrm>
          <a:prstGeom prst="roundRect">
            <a:avLst>
              <a:gd fmla="val 16667" name="adj"/>
            </a:avLst>
          </a:prstGeom>
          <a:solidFill>
            <a:srgbClr val="EAFF6A"/>
          </a:solidFill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s" sz="1500">
                <a:latin typeface="DM Sans Medium"/>
                <a:ea typeface="DM Sans Medium"/>
                <a:cs typeface="DM Sans Medium"/>
                <a:sym typeface="DM Sans Medium"/>
              </a:rPr>
              <a:t>ACTIVIDAD DEL PROYECTO FINAL</a:t>
            </a:r>
            <a:endParaRPr b="0" i="0" sz="1500" u="none" cap="none" strike="noStrike"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3" name="Google Shape;303;p35"/>
          <p:cNvGrpSpPr/>
          <p:nvPr/>
        </p:nvGrpSpPr>
        <p:grpSpPr>
          <a:xfrm>
            <a:off x="4243306" y="1320073"/>
            <a:ext cx="738900" cy="738900"/>
            <a:chOff x="974706" y="2467173"/>
            <a:chExt cx="738900" cy="738900"/>
          </a:xfrm>
        </p:grpSpPr>
        <p:sp>
          <p:nvSpPr>
            <p:cNvPr id="304" name="Google Shape;304;p35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05" name="Google Shape;305;p35" title="ícono de actividad en clase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6" name="Google Shape;306;p35"/>
          <p:cNvSpPr txBox="1"/>
          <p:nvPr/>
        </p:nvSpPr>
        <p:spPr>
          <a:xfrm>
            <a:off x="1502050" y="2406788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Puesta en común</a:t>
            </a:r>
            <a:endParaRPr b="1" sz="40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7" name="Google Shape;307;p35"/>
          <p:cNvSpPr txBox="1"/>
          <p:nvPr/>
        </p:nvSpPr>
        <p:spPr>
          <a:xfrm>
            <a:off x="2179625" y="3493500"/>
            <a:ext cx="506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</a:t>
            </a: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15/20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36"/>
          <p:cNvGrpSpPr/>
          <p:nvPr/>
        </p:nvGrpSpPr>
        <p:grpSpPr>
          <a:xfrm>
            <a:off x="4202556" y="994173"/>
            <a:ext cx="738900" cy="738900"/>
            <a:chOff x="974706" y="2467173"/>
            <a:chExt cx="738900" cy="738900"/>
          </a:xfrm>
        </p:grpSpPr>
        <p:sp>
          <p:nvSpPr>
            <p:cNvPr id="313" name="Google Shape;313;p36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14" name="Google Shape;314;p36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5" name="Google Shape;315;p36"/>
          <p:cNvSpPr txBox="1"/>
          <p:nvPr/>
        </p:nvSpPr>
        <p:spPr>
          <a:xfrm>
            <a:off x="1538900" y="1925250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Modera tus orders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6" name="Google Shape;316;p36"/>
          <p:cNvSpPr txBox="1"/>
          <p:nvPr/>
        </p:nvSpPr>
        <p:spPr>
          <a:xfrm>
            <a:off x="987263" y="3818588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Duración: 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30</a:t>
            </a:r>
            <a:r>
              <a:rPr b="1" lang="es" sz="2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 minutos</a:t>
            </a:r>
            <a:endParaRPr b="1" sz="2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7" name="Google Shape;317;p36"/>
          <p:cNvSpPr txBox="1"/>
          <p:nvPr/>
        </p:nvSpPr>
        <p:spPr>
          <a:xfrm>
            <a:off x="1064900" y="2947513"/>
            <a:ext cx="71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Vamos a practicar lo visto</a:t>
            </a:r>
            <a:endParaRPr sz="20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18" name="Google Shape;318;p36"/>
          <p:cNvGrpSpPr/>
          <p:nvPr/>
        </p:nvGrpSpPr>
        <p:grpSpPr>
          <a:xfrm>
            <a:off x="0" y="-7400"/>
            <a:ext cx="9143925" cy="44400"/>
            <a:chOff x="0" y="-7400"/>
            <a:chExt cx="9143925" cy="44400"/>
          </a:xfrm>
        </p:grpSpPr>
        <p:sp>
          <p:nvSpPr>
            <p:cNvPr id="319" name="Google Shape;319;p36"/>
            <p:cNvSpPr/>
            <p:nvPr/>
          </p:nvSpPr>
          <p:spPr>
            <a:xfrm>
              <a:off x="5846625" y="-7400"/>
              <a:ext cx="3297300" cy="44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0" name="Google Shape;320;p36"/>
            <p:cNvSpPr/>
            <p:nvPr/>
          </p:nvSpPr>
          <p:spPr>
            <a:xfrm>
              <a:off x="0" y="-7400"/>
              <a:ext cx="5846700" cy="444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5" name="Google Shape;325;p37"/>
          <p:cNvGrpSpPr/>
          <p:nvPr/>
        </p:nvGrpSpPr>
        <p:grpSpPr>
          <a:xfrm>
            <a:off x="457347" y="468297"/>
            <a:ext cx="431074" cy="431074"/>
            <a:chOff x="974706" y="2467173"/>
            <a:chExt cx="738900" cy="738900"/>
          </a:xfrm>
        </p:grpSpPr>
        <p:sp>
          <p:nvSpPr>
            <p:cNvPr id="326" name="Google Shape;326;p37"/>
            <p:cNvSpPr/>
            <p:nvPr/>
          </p:nvSpPr>
          <p:spPr>
            <a:xfrm>
              <a:off x="974706" y="2467173"/>
              <a:ext cx="738900" cy="73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27" name="Google Shape;327;p37" title="ícono de actividad en clase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09750" y="2610275"/>
              <a:ext cx="452650" cy="45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8" name="Google Shape;328;p37"/>
          <p:cNvSpPr txBox="1"/>
          <p:nvPr/>
        </p:nvSpPr>
        <p:spPr>
          <a:xfrm>
            <a:off x="457350" y="971825"/>
            <a:ext cx="525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Modera tus orders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29" name="Google Shape;32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7"/>
          <p:cNvSpPr txBox="1"/>
          <p:nvPr/>
        </p:nvSpPr>
        <p:spPr>
          <a:xfrm>
            <a:off x="412775" y="2073838"/>
            <a:ext cx="4987200" cy="24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50">
                <a:latin typeface="DM Sans"/>
                <a:ea typeface="DM Sans"/>
                <a:cs typeface="DM Sans"/>
                <a:sym typeface="DM Sans"/>
              </a:rPr>
              <a:t>Descripción de la actividad. </a:t>
            </a:r>
            <a:endParaRPr b="1"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Usa tu tus ítems del cart para modelar tu orden al siguiente formato: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{ buyer: { name, phone, email }, items: [{id, title, price}], total  }, si todavía no creaste el formulario de compra puedes usar un objeto hardcodeado de tipo { name, phone, email }. 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1" name="Google Shape;331;p37"/>
          <p:cNvSpPr txBox="1"/>
          <p:nvPr/>
        </p:nvSpPr>
        <p:spPr>
          <a:xfrm>
            <a:off x="930550" y="468275"/>
            <a:ext cx="246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ACTIVIDAD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32" name="Google Shape;33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38"/>
          <p:cNvGrpSpPr/>
          <p:nvPr/>
        </p:nvGrpSpPr>
        <p:grpSpPr>
          <a:xfrm>
            <a:off x="749388" y="1359575"/>
            <a:ext cx="197100" cy="197100"/>
            <a:chOff x="2172088" y="1852650"/>
            <a:chExt cx="197100" cy="197100"/>
          </a:xfrm>
        </p:grpSpPr>
        <p:sp>
          <p:nvSpPr>
            <p:cNvPr id="338" name="Google Shape;338;p38"/>
            <p:cNvSpPr/>
            <p:nvPr/>
          </p:nvSpPr>
          <p:spPr>
            <a:xfrm>
              <a:off x="2172088" y="1852650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8"/>
            <p:cNvSpPr/>
            <p:nvPr/>
          </p:nvSpPr>
          <p:spPr>
            <a:xfrm>
              <a:off x="2227138" y="1907700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0" name="Google Shape;340;p38"/>
          <p:cNvGrpSpPr/>
          <p:nvPr/>
        </p:nvGrpSpPr>
        <p:grpSpPr>
          <a:xfrm>
            <a:off x="749388" y="1944713"/>
            <a:ext cx="197100" cy="197100"/>
            <a:chOff x="2172088" y="2455775"/>
            <a:chExt cx="197100" cy="197100"/>
          </a:xfrm>
        </p:grpSpPr>
        <p:sp>
          <p:nvSpPr>
            <p:cNvPr id="341" name="Google Shape;341;p38"/>
            <p:cNvSpPr/>
            <p:nvPr/>
          </p:nvSpPr>
          <p:spPr>
            <a:xfrm>
              <a:off x="2172088" y="2455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8"/>
            <p:cNvSpPr/>
            <p:nvPr/>
          </p:nvSpPr>
          <p:spPr>
            <a:xfrm>
              <a:off x="2227138" y="2510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" name="Google Shape;343;p38"/>
          <p:cNvSpPr txBox="1"/>
          <p:nvPr/>
        </p:nvSpPr>
        <p:spPr>
          <a:xfrm>
            <a:off x="436025" y="46827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Firestore: checklist challenge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4" name="Google Shape;344;p38"/>
          <p:cNvSpPr txBox="1"/>
          <p:nvPr/>
        </p:nvSpPr>
        <p:spPr>
          <a:xfrm>
            <a:off x="1215673" y="127856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Tienes tu Cart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Context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 Provider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38"/>
          <p:cNvSpPr txBox="1"/>
          <p:nvPr/>
        </p:nvSpPr>
        <p:spPr>
          <a:xfrm>
            <a:off x="1215673" y="180548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Puedes agregar items a tu Cart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46" name="Google Shape;346;p38"/>
          <p:cNvGrpSpPr/>
          <p:nvPr/>
        </p:nvGrpSpPr>
        <p:grpSpPr>
          <a:xfrm>
            <a:off x="749388" y="2486950"/>
            <a:ext cx="197100" cy="197100"/>
            <a:chOff x="2172088" y="3058775"/>
            <a:chExt cx="197100" cy="197100"/>
          </a:xfrm>
        </p:grpSpPr>
        <p:sp>
          <p:nvSpPr>
            <p:cNvPr id="347" name="Google Shape;347;p38"/>
            <p:cNvSpPr/>
            <p:nvPr/>
          </p:nvSpPr>
          <p:spPr>
            <a:xfrm>
              <a:off x="2172088" y="3058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8"/>
            <p:cNvSpPr/>
            <p:nvPr/>
          </p:nvSpPr>
          <p:spPr>
            <a:xfrm>
              <a:off x="2227138" y="3113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49" name="Google Shape;349;p38"/>
          <p:cNvCxnSpPr/>
          <p:nvPr/>
        </p:nvCxnSpPr>
        <p:spPr>
          <a:xfrm>
            <a:off x="847938" y="373522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0" name="Google Shape;350;p38"/>
          <p:cNvGrpSpPr/>
          <p:nvPr/>
        </p:nvGrpSpPr>
        <p:grpSpPr>
          <a:xfrm>
            <a:off x="749388" y="3029175"/>
            <a:ext cx="197100" cy="197100"/>
            <a:chOff x="2172088" y="3661775"/>
            <a:chExt cx="197100" cy="197100"/>
          </a:xfrm>
        </p:grpSpPr>
        <p:sp>
          <p:nvSpPr>
            <p:cNvPr id="351" name="Google Shape;351;p38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8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3" name="Google Shape;353;p38"/>
          <p:cNvCxnSpPr/>
          <p:nvPr/>
        </p:nvCxnSpPr>
        <p:spPr>
          <a:xfrm>
            <a:off x="847938" y="2622550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38"/>
          <p:cNvSpPr txBox="1"/>
          <p:nvPr/>
        </p:nvSpPr>
        <p:spPr>
          <a:xfrm>
            <a:off x="1215673" y="2379438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Puedes navegar de tu List a tu Detail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5" name="Google Shape;355;p38"/>
          <p:cNvSpPr txBox="1"/>
          <p:nvPr/>
        </p:nvSpPr>
        <p:spPr>
          <a:xfrm>
            <a:off x="1215673" y="347216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Conectaste el listado y el detalle a Firestore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56" name="Google Shape;356;p38"/>
          <p:cNvGrpSpPr/>
          <p:nvPr/>
        </p:nvGrpSpPr>
        <p:grpSpPr>
          <a:xfrm>
            <a:off x="749388" y="4141125"/>
            <a:ext cx="197100" cy="197100"/>
            <a:chOff x="2172088" y="3661775"/>
            <a:chExt cx="197100" cy="197100"/>
          </a:xfrm>
        </p:grpSpPr>
        <p:sp>
          <p:nvSpPr>
            <p:cNvPr id="357" name="Google Shape;357;p38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8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59" name="Google Shape;359;p38"/>
          <p:cNvCxnSpPr/>
          <p:nvPr/>
        </p:nvCxnSpPr>
        <p:spPr>
          <a:xfrm>
            <a:off x="847938" y="212382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0" name="Google Shape;360;p38"/>
          <p:cNvGrpSpPr/>
          <p:nvPr/>
        </p:nvGrpSpPr>
        <p:grpSpPr>
          <a:xfrm>
            <a:off x="749400" y="3548375"/>
            <a:ext cx="197100" cy="197100"/>
            <a:chOff x="2172088" y="3661775"/>
            <a:chExt cx="197100" cy="197100"/>
          </a:xfrm>
        </p:grpSpPr>
        <p:sp>
          <p:nvSpPr>
            <p:cNvPr id="361" name="Google Shape;361;p38"/>
            <p:cNvSpPr/>
            <p:nvPr/>
          </p:nvSpPr>
          <p:spPr>
            <a:xfrm>
              <a:off x="2172088" y="3661775"/>
              <a:ext cx="197100" cy="197100"/>
            </a:xfrm>
            <a:prstGeom prst="ellipse">
              <a:avLst/>
            </a:prstGeom>
            <a:solidFill>
              <a:srgbClr val="DEFC5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8"/>
            <p:cNvSpPr/>
            <p:nvPr/>
          </p:nvSpPr>
          <p:spPr>
            <a:xfrm>
              <a:off x="2227138" y="3716825"/>
              <a:ext cx="87000" cy="8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63" name="Google Shape;363;p38"/>
          <p:cNvCxnSpPr/>
          <p:nvPr/>
        </p:nvCxnSpPr>
        <p:spPr>
          <a:xfrm>
            <a:off x="847938" y="318192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8"/>
          <p:cNvCxnSpPr/>
          <p:nvPr/>
        </p:nvCxnSpPr>
        <p:spPr>
          <a:xfrm>
            <a:off x="847938" y="1514225"/>
            <a:ext cx="0" cy="405900"/>
          </a:xfrm>
          <a:prstGeom prst="straightConnector1">
            <a:avLst/>
          </a:prstGeom>
          <a:noFill/>
          <a:ln cap="flat" cmpd="sng" w="9525">
            <a:solidFill>
              <a:srgbClr val="DEFC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8"/>
          <p:cNvSpPr txBox="1"/>
          <p:nvPr/>
        </p:nvSpPr>
        <p:spPr>
          <a:xfrm>
            <a:off x="1198523" y="2925800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Puedes ver el contenido del Cart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6" name="Google Shape;366;p38"/>
          <p:cNvSpPr txBox="1"/>
          <p:nvPr/>
        </p:nvSpPr>
        <p:spPr>
          <a:xfrm>
            <a:off x="1215673" y="4005563"/>
            <a:ext cx="4281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350">
                <a:solidFill>
                  <a:schemeClr val="dk1"/>
                </a:solidFill>
                <a:highlight>
                  <a:schemeClr val="lt1"/>
                </a:highlight>
                <a:latin typeface="DM Sans"/>
                <a:ea typeface="DM Sans"/>
                <a:cs typeface="DM Sans"/>
                <a:sym typeface="DM Sans"/>
              </a:rPr>
              <a:t>¡Conectemos la compra y generemos la orden!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67" name="Google Shape;36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9100" y="1619234"/>
            <a:ext cx="2010275" cy="20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9"/>
          <p:cNvSpPr txBox="1"/>
          <p:nvPr/>
        </p:nvSpPr>
        <p:spPr>
          <a:xfrm>
            <a:off x="403175" y="487375"/>
            <a:ext cx="74835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3500"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Modificar</a:t>
            </a:r>
            <a:endParaRPr b="1" sz="3500">
              <a:highlight>
                <a:srgbClr val="FFFFFF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s" sz="3500">
                <a:highlight>
                  <a:srgbClr val="FFFFFF"/>
                </a:highlight>
                <a:latin typeface="DM Sans"/>
                <a:ea typeface="DM Sans"/>
                <a:cs typeface="DM Sans"/>
                <a:sym typeface="DM Sans"/>
              </a:rPr>
              <a:t>Reglas</a:t>
            </a:r>
            <a:endParaRPr b="1" sz="3500">
              <a:highlight>
                <a:srgbClr val="FFFFFF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3" name="Google Shape;373;p39"/>
          <p:cNvSpPr txBox="1"/>
          <p:nvPr/>
        </p:nvSpPr>
        <p:spPr>
          <a:xfrm>
            <a:off x="412775" y="2077725"/>
            <a:ext cx="2433000" cy="26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" sz="1250">
                <a:latin typeface="DM Sans"/>
                <a:ea typeface="DM Sans"/>
                <a:cs typeface="DM Sans"/>
                <a:sym typeface="DM Sans"/>
              </a:rPr>
              <a:t>Recuerda: </a:t>
            </a: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si creaste tu base de datos en </a:t>
            </a:r>
            <a:r>
              <a:rPr b="1" lang="es" sz="1250">
                <a:latin typeface="DM Sans"/>
                <a:ea typeface="DM Sans"/>
                <a:cs typeface="DM Sans"/>
                <a:sym typeface="DM Sans"/>
              </a:rPr>
              <a:t>modo prueba</a:t>
            </a: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b="1" lang="es" sz="1250">
                <a:latin typeface="DM Sans"/>
                <a:ea typeface="DM Sans"/>
                <a:cs typeface="DM Sans"/>
                <a:sym typeface="DM Sans"/>
              </a:rPr>
              <a:t>solo podrás conectarte desde React durante 30 días.</a:t>
            </a:r>
            <a:r>
              <a:rPr lang="es" sz="1250">
                <a:latin typeface="DM Sans"/>
                <a:ea typeface="DM Sans"/>
                <a:cs typeface="DM Sans"/>
                <a:sym typeface="DM Sans"/>
              </a:rPr>
              <a:t> Para solucionarlo, solo debes cambiar la fecha límite en la pestaña “Reglas” dentro del panel de tu base de datos Firestore.</a:t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  <a:highlight>
                <a:schemeClr val="lt1"/>
              </a:highlight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74" name="Google Shape;37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2825" y="740300"/>
            <a:ext cx="2169725" cy="3766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8575" y="706050"/>
            <a:ext cx="3259699" cy="18026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6" name="Google Shape;376;p39"/>
          <p:cNvCxnSpPr/>
          <p:nvPr/>
        </p:nvCxnSpPr>
        <p:spPr>
          <a:xfrm flipH="1" rot="10800000">
            <a:off x="4619125" y="1093750"/>
            <a:ext cx="1154700" cy="7542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pic>
        <p:nvPicPr>
          <p:cNvPr id="377" name="Google Shape;377;p39"/>
          <p:cNvPicPr preferRelativeResize="0"/>
          <p:nvPr/>
        </p:nvPicPr>
        <p:blipFill rotWithShape="1">
          <a:blip r:embed="rId5">
            <a:alphaModFix/>
          </a:blip>
          <a:srcRect b="0" l="35629" r="0" t="18613"/>
          <a:stretch/>
        </p:blipFill>
        <p:spPr>
          <a:xfrm>
            <a:off x="5652350" y="2843650"/>
            <a:ext cx="3016150" cy="1541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8" name="Google Shape;378;p39"/>
          <p:cNvCxnSpPr/>
          <p:nvPr/>
        </p:nvCxnSpPr>
        <p:spPr>
          <a:xfrm>
            <a:off x="6021375" y="1070225"/>
            <a:ext cx="1119300" cy="1908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0"/>
          <p:cNvSpPr txBox="1"/>
          <p:nvPr/>
        </p:nvSpPr>
        <p:spPr>
          <a:xfrm>
            <a:off x="1461300" y="178672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¿Preguntas?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84" name="Google Shape;384;p40"/>
          <p:cNvSpPr txBox="1"/>
          <p:nvPr/>
        </p:nvSpPr>
        <p:spPr>
          <a:xfrm>
            <a:off x="2998200" y="2556375"/>
            <a:ext cx="314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s" sz="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Te invitamos a dejar tu pregunta a través del chat</a:t>
            </a:r>
            <a:endParaRPr b="0" i="0" sz="2000" u="sng" cap="none" strike="noStrike">
              <a:solidFill>
                <a:srgbClr val="83AEF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1"/>
          <p:cNvSpPr txBox="1"/>
          <p:nvPr/>
        </p:nvSpPr>
        <p:spPr>
          <a:xfrm>
            <a:off x="1461300" y="2216950"/>
            <a:ext cx="6221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 compartimos los 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siguientes</a:t>
            </a:r>
            <a:r>
              <a:rPr b="1" lang="es" sz="3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lang="es" sz="3500">
                <a:solidFill>
                  <a:schemeClr val="dk1"/>
                </a:solidFill>
                <a:highlight>
                  <a:srgbClr val="EAFF6A"/>
                </a:highlight>
                <a:latin typeface="DM Sans"/>
                <a:ea typeface="DM Sans"/>
                <a:cs typeface="DM Sans"/>
                <a:sym typeface="DM Sans"/>
              </a:rPr>
              <a:t>CoderTips</a:t>
            </a:r>
            <a:endParaRPr b="1" sz="3500">
              <a:solidFill>
                <a:schemeClr val="dk1"/>
              </a:solidFill>
              <a:highlight>
                <a:srgbClr val="EAFF6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390" name="Google Shape;390;p41"/>
          <p:cNvGrpSpPr/>
          <p:nvPr/>
        </p:nvGrpSpPr>
        <p:grpSpPr>
          <a:xfrm>
            <a:off x="4202550" y="1322535"/>
            <a:ext cx="738900" cy="738900"/>
            <a:chOff x="4202550" y="994173"/>
            <a:chExt cx="738900" cy="738900"/>
          </a:xfrm>
        </p:grpSpPr>
        <p:sp>
          <p:nvSpPr>
            <p:cNvPr id="391" name="Google Shape;391;p41"/>
            <p:cNvSpPr/>
            <p:nvPr/>
          </p:nvSpPr>
          <p:spPr>
            <a:xfrm>
              <a:off x="4202550" y="994173"/>
              <a:ext cx="738900" cy="7389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  <p:pic>
          <p:nvPicPr>
            <p:cNvPr id="392" name="Google Shape;392;p41" title="ícono de codertips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46700" y="1138325"/>
              <a:ext cx="450600" cy="450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2"/>
          <p:cNvSpPr txBox="1"/>
          <p:nvPr/>
        </p:nvSpPr>
        <p:spPr>
          <a:xfrm>
            <a:off x="501450" y="899375"/>
            <a:ext cx="7310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Te recomendamos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98" name="Google Shape;398;p42"/>
          <p:cNvSpPr/>
          <p:nvPr/>
        </p:nvSpPr>
        <p:spPr>
          <a:xfrm>
            <a:off x="457358" y="468285"/>
            <a:ext cx="431074" cy="43107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99" name="Google Shape;399;p42" title="ícono de codertip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55" y="552384"/>
            <a:ext cx="262880" cy="26288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42"/>
          <p:cNvSpPr txBox="1"/>
          <p:nvPr/>
        </p:nvSpPr>
        <p:spPr>
          <a:xfrm>
            <a:off x="930550" y="468275"/>
            <a:ext cx="3199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CODERTIPS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1" name="Google Shape;401;p42"/>
          <p:cNvSpPr txBox="1"/>
          <p:nvPr/>
        </p:nvSpPr>
        <p:spPr>
          <a:xfrm>
            <a:off x="4106950" y="2241775"/>
            <a:ext cx="4106400" cy="24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uedes guardarlos en una colección mediante una función de JavaScript que cree un “batch” y mediante un bucle agregue un documento por cada uno de tus productos.</a:t>
            </a:r>
            <a:b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Puedes utilizar las funcionalidades de Firestore para crear un sistema de </a:t>
            </a:r>
            <a:r>
              <a:rPr b="1"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/>
              </a:rPr>
              <a:t>paginación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tu catálogo.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2" name="Google Shape;402;p42"/>
          <p:cNvSpPr txBox="1"/>
          <p:nvPr/>
        </p:nvSpPr>
        <p:spPr>
          <a:xfrm>
            <a:off x="457350" y="1682450"/>
            <a:ext cx="3501900" cy="26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Dimos solo un pequeño vistazo a Firestore: existen muchas otras funcionalidades que puedes descubrir leyendo la </a:t>
            </a:r>
            <a:r>
              <a:rPr b="1" lang="es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5"/>
              </a:rPr>
              <a:t>documentación oficial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457200" rtl="0" algn="l">
              <a:lnSpc>
                <a:spcPct val="1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Helvetica Neue"/>
              <a:buChar char="✓"/>
            </a:pP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Los cambios de estado generan una nueva ejecución de todo el código en un componente: utiliza </a:t>
            </a: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useEffect </a:t>
            </a:r>
            <a:r>
              <a:rPr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para asegurarte que realizas llamados a Firestore solo cuando sea necesario.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3" name="Google Shape;403;p42"/>
          <p:cNvSpPr txBox="1"/>
          <p:nvPr/>
        </p:nvSpPr>
        <p:spPr>
          <a:xfrm>
            <a:off x="4282788" y="1714475"/>
            <a:ext cx="3842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b="1" lang="es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Si tu ecommerce cuenta con un gran listado de productos:</a:t>
            </a:r>
            <a:endParaRPr b="1"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/>
        </p:nvSpPr>
        <p:spPr>
          <a:xfrm>
            <a:off x="1339500" y="693075"/>
            <a:ext cx="64650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Resumen</a:t>
            </a: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de la clase hoy</a:t>
            </a:r>
            <a:endParaRPr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09" name="Google Shape;409;p43"/>
          <p:cNvSpPr txBox="1"/>
          <p:nvPr/>
        </p:nvSpPr>
        <p:spPr>
          <a:xfrm>
            <a:off x="2109143" y="2325013"/>
            <a:ext cx="4925700" cy="14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Firebase.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Firestore.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14325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350"/>
              <a:buFont typeface="DM Sans"/>
              <a:buChar char="✓"/>
            </a:pPr>
            <a:r>
              <a:rPr lang="es" sz="13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Queries.</a:t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4"/>
          <p:cNvSpPr txBox="1"/>
          <p:nvPr/>
        </p:nvSpPr>
        <p:spPr>
          <a:xfrm>
            <a:off x="1431550" y="688825"/>
            <a:ext cx="7169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1" lang="es" sz="35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#Coderalert</a:t>
            </a:r>
            <a:endParaRPr b="1" i="0" sz="3500" u="none" cap="none" strike="noStrike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5" name="Google Shape;415;p44"/>
          <p:cNvSpPr txBox="1"/>
          <p:nvPr/>
        </p:nvSpPr>
        <p:spPr>
          <a:xfrm>
            <a:off x="1212250" y="1490050"/>
            <a:ext cx="7169400" cy="28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Ingresa a la </a:t>
            </a:r>
            <a:r>
              <a:rPr b="1" lang="es" sz="250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Guía de actividades hacia el Proyecto Final</a:t>
            </a:r>
            <a:r>
              <a:rPr b="1"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 y realiza la actividad “</a:t>
            </a: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Item Collection I</a:t>
            </a: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”. </a:t>
            </a:r>
            <a:endParaRPr sz="2500">
              <a:solidFill>
                <a:srgbClr val="9E9E9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500">
              <a:solidFill>
                <a:srgbClr val="9E9E9E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" sz="2500">
                <a:solidFill>
                  <a:srgbClr val="9E9E9E"/>
                </a:solidFill>
                <a:latin typeface="DM Sans"/>
                <a:ea typeface="DM Sans"/>
                <a:cs typeface="DM Sans"/>
                <a:sym typeface="DM Sans"/>
              </a:rPr>
              <a:t>Ten en cuenta que el desarrollo de la misma será importante para la resolución del Proyecto Final.</a:t>
            </a:r>
            <a:endParaRPr sz="2500">
              <a:solidFill>
                <a:srgbClr val="B7B7B7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416" name="Google Shape;416;p44"/>
          <p:cNvGrpSpPr/>
          <p:nvPr/>
        </p:nvGrpSpPr>
        <p:grpSpPr>
          <a:xfrm>
            <a:off x="543106" y="716450"/>
            <a:ext cx="669148" cy="614370"/>
            <a:chOff x="5855025" y="2172613"/>
            <a:chExt cx="1088400" cy="1057800"/>
          </a:xfrm>
        </p:grpSpPr>
        <p:sp>
          <p:nvSpPr>
            <p:cNvPr id="417" name="Google Shape;417;p44"/>
            <p:cNvSpPr/>
            <p:nvPr/>
          </p:nvSpPr>
          <p:spPr>
            <a:xfrm>
              <a:off x="5855025" y="2172613"/>
              <a:ext cx="1088400" cy="1057800"/>
            </a:xfrm>
            <a:prstGeom prst="ellipse">
              <a:avLst/>
            </a:prstGeom>
            <a:solidFill>
              <a:srgbClr val="EEEEEE"/>
            </a:solidFill>
            <a:ln cap="flat" cmpd="sng" w="9525">
              <a:solidFill>
                <a:srgbClr val="EEEE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18" name="Google Shape;41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73225" y="2327338"/>
              <a:ext cx="748350" cy="748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5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Opina y valora</a:t>
            </a:r>
            <a:r>
              <a:rPr b="1" lang="es" sz="4000">
                <a:solidFill>
                  <a:srgbClr val="DEFC5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4000">
              <a:solidFill>
                <a:srgbClr val="DEFC5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esta clase</a:t>
            </a:r>
            <a:endParaRPr b="1" sz="4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7"/>
          <p:cNvSpPr txBox="1"/>
          <p:nvPr/>
        </p:nvSpPr>
        <p:spPr>
          <a:xfrm>
            <a:off x="1975050" y="1863750"/>
            <a:ext cx="5193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Educación digital</a:t>
            </a:r>
            <a:endParaRPr b="1" sz="4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para el mundo real</a:t>
            </a:r>
            <a:r>
              <a:rPr b="1" lang="es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1" sz="40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d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9DF4E2"/>
      </a:accent1>
      <a:accent2>
        <a:srgbClr val="212121"/>
      </a:accent2>
      <a:accent3>
        <a:srgbClr val="78909C"/>
      </a:accent3>
      <a:accent4>
        <a:srgbClr val="EA90FF"/>
      </a:accent4>
      <a:accent5>
        <a:srgbClr val="83AEFB"/>
      </a:accent5>
      <a:accent6>
        <a:srgbClr val="EAFF6A"/>
      </a:accent6>
      <a:hlink>
        <a:srgbClr val="83AEF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