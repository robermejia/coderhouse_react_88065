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Helvetica Neue"/>
      <p:regular r:id="rId46"/>
      <p:bold r:id="rId47"/>
      <p:italic r:id="rId48"/>
      <p:boldItalic r:id="rId49"/>
    </p:embeddedFont>
    <p:embeddedFont>
      <p:font typeface="Helvetica Neue Light"/>
      <p:regular r:id="rId50"/>
      <p:bold r:id="rId51"/>
      <p:italic r:id="rId52"/>
      <p:boldItalic r:id="rId53"/>
    </p:embeddedFont>
    <p:embeddedFont>
      <p:font typeface="DM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HelveticaNeue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elveticaNeue-italic.fntdata"/><Relationship Id="rId47" Type="http://schemas.openxmlformats.org/officeDocument/2006/relationships/font" Target="fonts/HelveticaNeue-bold.fntdata"/><Relationship Id="rId49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Light-bold.fntdata"/><Relationship Id="rId50" Type="http://schemas.openxmlformats.org/officeDocument/2006/relationships/font" Target="fonts/HelveticaNeueLight-regular.fntdata"/><Relationship Id="rId53" Type="http://schemas.openxmlformats.org/officeDocument/2006/relationships/font" Target="fonts/HelveticaNeueLight-boldItalic.fntdata"/><Relationship Id="rId52" Type="http://schemas.openxmlformats.org/officeDocument/2006/relationships/font" Target="fonts/HelveticaNeueLight-italic.fntdata"/><Relationship Id="rId11" Type="http://schemas.openxmlformats.org/officeDocument/2006/relationships/slide" Target="slides/slide6.xml"/><Relationship Id="rId55" Type="http://schemas.openxmlformats.org/officeDocument/2006/relationships/font" Target="fonts/DMSans-bold.fntdata"/><Relationship Id="rId10" Type="http://schemas.openxmlformats.org/officeDocument/2006/relationships/slide" Target="slides/slide5.xml"/><Relationship Id="rId54" Type="http://schemas.openxmlformats.org/officeDocument/2006/relationships/font" Target="fonts/DMSans-regular.fntdata"/><Relationship Id="rId13" Type="http://schemas.openxmlformats.org/officeDocument/2006/relationships/slide" Target="slides/slide8.xml"/><Relationship Id="rId57" Type="http://schemas.openxmlformats.org/officeDocument/2006/relationships/font" Target="fonts/DMSans-boldItalic.fntdata"/><Relationship Id="rId12" Type="http://schemas.openxmlformats.org/officeDocument/2006/relationships/slide" Target="slides/slide7.xml"/><Relationship Id="rId56" Type="http://schemas.openxmlformats.org/officeDocument/2006/relationships/font" Target="fonts/DM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0d8ab2ab7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0d8ab2ab7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Redactar los objetivos en función de los conocimientos y habilidades a desarrollar en la clase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53250eb3e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53250eb3e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54382b98a1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54382b98a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af347af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5af347af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slide es para microdesafíos a partir de consignas abiertas (modelo breve)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2ba13cb37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2ba13cb37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2ba13cb37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2ba13cb37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52ba13cb3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52ba13cb3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Para profes/tutores: pueden usar el código de ejemplo para facilitar la ejecución.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2ba13cb37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2ba13cb37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2ba13cb37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2ba13cb37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4382b98a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4382b98a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54382b98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54382b98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4382b98a1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54382b98a1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54382b98a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54382b98a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4382b98a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4382b98a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individuales. </a:t>
            </a:r>
            <a:r>
              <a:rPr lang="es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Profe/tutor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La duración que se sugiere para que los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estudiantes realicen la actividad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de X minutos. A ellos se le suman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X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Por ello, el total dedicado a la actividad completa será de aproximadamente X</a:t>
            </a:r>
            <a:r>
              <a:rPr b="1"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minutos.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54382b98a1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54382b98a1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a7a90e5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0a7a90e5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54382b98a1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54382b98a1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4382b98a1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54382b98a1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54382b98a1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54382b98a1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3174edfc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3174edfc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4"/>
              </a:highlight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3174edfc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3174edfc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Para profes/tutores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abrir la consigna completa, leerla en detalle y responder dudas que puedan surgir.</a:t>
            </a:r>
            <a:endParaRPr b="1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5afcb18b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25afcb18b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rgbClr val="E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Para profes/tutores:</a:t>
            </a:r>
            <a:r>
              <a:rPr lang="e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bien las actividades recomendadas no son obligatorias ni reciben corrección, corresponden a ejercicios que aportan a la construcción de las pre entregas y Proyecto Final. En caso de que den los tiempos, les sugerimos que ingresen a la Guía y lean en conjunto las consignas.</a:t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34e037a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634e037a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hyperlink" Target="https://stackblitz.com/edit/stackblitz-starters-4hw5v5?file=src%2FApp.js" TargetMode="External"/><Relationship Id="rId6" Type="http://schemas.openxmlformats.org/officeDocument/2006/relationships/hyperlink" Target="http://drive.google.com/file/d/1bv8kHBgC4S3msa6Y0kedAN8o_jzczWye/view" TargetMode="External"/><Relationship Id="rId7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hyperlink" Target="https://stackblitz.com/edit/stackblitz-starters-bomu6k?file=src%2FApp.j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hyperlink" Target="https://stackblitz.com/edit/stackblitz-starters-lfurr7?file=src%2FApp.j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hyperlink" Target="https://stackblitz.com/" TargetMode="External"/><Relationship Id="rId6" Type="http://schemas.openxmlformats.org/officeDocument/2006/relationships/hyperlink" Target="https://stackblitz.com/edit/react-csuabl?file=src%2FInputComp.jsx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hyperlink" Target="https://docs.google.com/presentation/d/1o6eXNdPHH2wLjJG8aB64TuRKfv5rDi4c/edit?usp=drive_link&amp;ouid=105756276059427898200&amp;rtpof=true&amp;sd=tru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google.com/presentation/d/1m0Pxdo6tR3VQeOwms0SIpvoQ_3HPwGyT/edit?usp=drive_link&amp;ouid=105756276059427898200&amp;rtpof=true&amp;sd=true" TargetMode="External"/><Relationship Id="rId4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4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" name="Google Shape;43;p14"/>
          <p:cNvSpPr txBox="1"/>
          <p:nvPr/>
        </p:nvSpPr>
        <p:spPr>
          <a:xfrm>
            <a:off x="3655975" y="2541075"/>
            <a:ext cx="252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" name="Google Shape;44;p14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/>
        </p:nvSpPr>
        <p:spPr>
          <a:xfrm>
            <a:off x="1185025" y="2252975"/>
            <a:ext cx="6773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Navegación y Routing en React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15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5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2" name="Google Shape;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" name="Google Shape;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6"/>
          <p:cNvSpPr txBox="1"/>
          <p:nvPr/>
        </p:nvSpPr>
        <p:spPr>
          <a:xfrm>
            <a:off x="2690561" y="14516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Organizar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nuestra aplicación.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/>
        </p:nvSpPr>
        <p:spPr>
          <a:xfrm>
            <a:off x="2690561" y="20547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Configurar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navegabilidad entre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83268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/>
        </p:nvSpPr>
        <p:spPr>
          <a:xfrm>
            <a:off x="2690561" y="2734963"/>
            <a:ext cx="42813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sistema de eventos de React y su implementación.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352333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2690550" y="34151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componentes orientados a eventos.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6" name="Google Shape;66;p16"/>
          <p:cNvCxnSpPr>
            <a:stCxn id="58" idx="2"/>
            <a:endCxn id="60" idx="0"/>
          </p:cNvCxnSpPr>
          <p:nvPr/>
        </p:nvCxnSpPr>
        <p:spPr>
          <a:xfrm flipH="1" rot="-5400000">
            <a:off x="2052975" y="1960237"/>
            <a:ext cx="436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6"/>
          <p:cNvCxnSpPr>
            <a:stCxn id="60" idx="2"/>
            <a:endCxn id="62" idx="0"/>
          </p:cNvCxnSpPr>
          <p:nvPr/>
        </p:nvCxnSpPr>
        <p:spPr>
          <a:xfrm flipH="1" rot="-5400000">
            <a:off x="2042475" y="2603837"/>
            <a:ext cx="456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" name="Google Shape;68;p16"/>
          <p:cNvCxnSpPr>
            <a:stCxn id="62" idx="2"/>
            <a:endCxn id="64" idx="0"/>
          </p:cNvCxnSpPr>
          <p:nvPr/>
        </p:nvCxnSpPr>
        <p:spPr>
          <a:xfrm flipH="1" rot="-5400000">
            <a:off x="2024025" y="3276262"/>
            <a:ext cx="4938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475500" y="2515575"/>
            <a:ext cx="5088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Navegación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475500" y="2264050"/>
            <a:ext cx="49629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crear una buena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navegación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en React, necesitamos un Enrutador/Router que nos permita definir diferentes rutas o “paths” en nuestra aplicación e indicar qué componente queremos mostrar en cada una de ellas.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facilidad con la que nuestra aplicación permite </a:t>
            </a:r>
            <a:r>
              <a:rPr b="1"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funcionalidades y navegarlas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es un factor clave en términos de experiencia y escalabilidad.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475500" y="2218650"/>
            <a:ext cx="49629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React Router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es una librería standard para crear rutas en una SPA de React. Una vez instalada en nuestro proyecto, podemos utilizar los componentes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BrowserRouter, Routes, y Route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configurar las distintas rutas que queremos crear en nuestra app.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También utilizamos el componente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Link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remplazar enlaces internos de nuestra web.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React Router también nos brinda una extensa lista de hooks a utilizar, como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useParams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que nos permite obtener el parámetro URL en el que se encuentra el usuario.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React Router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75500" y="2218650"/>
            <a:ext cx="47112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Eventos -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Revemos el patrón de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EventListeners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en JavaScript y sus particularidades en React.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eventos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 sintéticos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 tienen algunas ventajas en lo relativo a compatibilidad entre navegadores y performance. Para utilizarlos solo debemos crear eventos “inline” en los elementos JSX.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475500" y="971050"/>
            <a:ext cx="4849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Componentes orientados a Eventos.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475500" y="2515575"/>
            <a:ext cx="508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20775" y="2633400"/>
            <a:ext cx="47967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Al crear un componente, puedes dejar algunas tareas a cargo del componente padre que lo renderice.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Este patrón, lo podemos implementar enviando una función a través de Props, y luego en el componente hijo asignarla como handler a un evento de cualquier elemento JSX.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1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14" name="Google Shape;114;p21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21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21"/>
          <p:cNvSpPr txBox="1"/>
          <p:nvPr/>
        </p:nvSpPr>
        <p:spPr>
          <a:xfrm>
            <a:off x="1547025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Homepage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19" name="Google Shape;119;p21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20" name="Google Shape;120;p21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485050" y="3937450"/>
            <a:ext cx="8183700" cy="6534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475500" y="1694775"/>
            <a:ext cx="4315200" cy="21597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Homepage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722154" y="3937450"/>
            <a:ext cx="776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Recuerda:</a:t>
            </a:r>
            <a:endParaRPr b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microdesafíos si bien no requieren entrega, en cada clase en vivo se realizará una puesta en común en torno a ellos. Te recomendamos realizarlo para poner en práctica los contenidos pregrabados.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900300" y="455050"/>
            <a:ext cx="332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 -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MICRODESAFÍO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4902500" y="1694775"/>
            <a:ext cx="3759300" cy="21396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5001656" y="1839250"/>
            <a:ext cx="396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Tips</a:t>
            </a:r>
            <a:endParaRPr sz="120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4466723" y="2149850"/>
            <a:ext cx="403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5" name="Google Shape;135;p2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6" name="Google Shape;136;p2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8" name="Google Shape;138;p22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39" name="Google Shape;139;p22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40" name="Google Shape;140;p22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22"/>
          <p:cNvSpPr txBox="1"/>
          <p:nvPr/>
        </p:nvSpPr>
        <p:spPr>
          <a:xfrm>
            <a:off x="675350" y="2160025"/>
            <a:ext cx="36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668550" y="1839250"/>
            <a:ext cx="39105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latin typeface="DM Sans"/>
                <a:ea typeface="DM Sans"/>
                <a:cs typeface="DM Sans"/>
                <a:sym typeface="DM Sans"/>
              </a:rPr>
              <a:t>Consigna</a:t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Utiliza React Router para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ruta de bienvenida a nuestra app y una ruta donde podamos ver el listado de tareas. No olvides agregar navegación para desplazarte de un componente a otro.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inicial en stackblitz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4902500" y="2109250"/>
            <a:ext cx="3581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DM Sans"/>
              <a:buChar char="✓"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Recuerda que al utilizar react-router no queremos que la página “</a:t>
            </a:r>
            <a:r>
              <a:rPr i="1" lang="es" sz="1200">
                <a:latin typeface="DM Sans"/>
                <a:ea typeface="DM Sans"/>
                <a:cs typeface="DM Sans"/>
                <a:sym typeface="DM Sans"/>
              </a:rPr>
              <a:t>recargue</a:t>
            </a: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”, utiliza el componente Link para generar enlaces.</a:t>
            </a:r>
            <a:br>
              <a:rPr lang="es" sz="1200">
                <a:latin typeface="DM Sans"/>
                <a:ea typeface="DM Sans"/>
                <a:cs typeface="DM Sans"/>
                <a:sym typeface="DM Sans"/>
              </a:rPr>
            </a:br>
            <a:endParaRPr sz="1200"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DM Sans"/>
              <a:buChar char="✓"/>
            </a:pPr>
            <a:r>
              <a:rPr lang="es" sz="1200">
                <a:latin typeface="DM Sans"/>
                <a:ea typeface="DM Sans"/>
                <a:cs typeface="DM Sans"/>
                <a:sym typeface="DM Sans"/>
              </a:rPr>
              <a:t>react-router-dom ya está instalado en la aplicación de stackblitz: no olvides importar los componentes necesarios.</a:t>
            </a:r>
            <a:endParaRPr sz="12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4" name="Google Shape;144;p22" title="MD 05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90450" y="947863"/>
            <a:ext cx="646500" cy="6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3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150" name="Google Shape;150;p23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3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153" name="Google Shape;153;p23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55" name="Google Shape;155;p23"/>
          <p:cNvCxnSpPr>
            <a:endCxn id="153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Home.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dos rutas, una para Home y otra para TodoList.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9" name="Google Shape;159;p23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160" name="Google Shape;160;p23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2" name="Google Shape;162;p23"/>
          <p:cNvCxnSpPr>
            <a:endCxn id="160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" name="Google Shape;163;p23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164" name="Google Shape;164;p23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6" name="Google Shape;166;p23"/>
          <p:cNvCxnSpPr>
            <a:endCxn id="164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3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wrapping de las rutas utilizando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Routes y BrowserRouter.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2690573" y="35878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menú para navegar a ambas rutas, utilizando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5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179" name="Google Shape;179;p2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0" name="Google Shape;180;p25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25"/>
          <p:cNvSpPr txBox="1"/>
          <p:nvPr/>
        </p:nvSpPr>
        <p:spPr>
          <a:xfrm>
            <a:off x="15389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un router a tu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1064900" y="31414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4" name="Google Shape;184;p25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85" name="Google Shape;185;p25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26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192" name="Google Shape;192;p2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3" name="Google Shape;193;p26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26"/>
          <p:cNvSpPr txBox="1"/>
          <p:nvPr/>
        </p:nvSpPr>
        <p:spPr>
          <a:xfrm>
            <a:off x="501450" y="97182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Agregar un router a tu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501450" y="2526175"/>
            <a:ext cx="64662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tu aplicación, instala react-router-dom, agrégala al root de tu app, y configura tus rutas apuntando a tu Home. Si tienes otro nombre, o la organizaste distinta, no hay problema.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aún no tienes creados todos los componentes de tu aplicación puedes practicar con la siguiente app: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Código 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8" name="Google Shape;19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27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04" name="Google Shape;204;p27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27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07" name="Google Shape;207;p27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9" name="Google Shape;209;p27"/>
          <p:cNvCxnSpPr>
            <a:endCxn id="207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2690573" y="17314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Instalamos react router con npm: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npm react-router-dom.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Route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crear ruta al directorio raíz “/” (ItemListContainer)  y al detalle “/item”.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3" name="Google Shape;213;p27"/>
          <p:cNvGrpSpPr/>
          <p:nvPr/>
        </p:nvGrpSpPr>
        <p:grpSpPr>
          <a:xfrm>
            <a:off x="2172088" y="3088228"/>
            <a:ext cx="197100" cy="197100"/>
            <a:chOff x="2172088" y="3058775"/>
            <a:chExt cx="197100" cy="197100"/>
          </a:xfrm>
        </p:grpSpPr>
        <p:sp>
          <p:nvSpPr>
            <p:cNvPr id="214" name="Google Shape;214;p27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16" name="Google Shape;216;p27"/>
          <p:cNvCxnSpPr>
            <a:endCxn id="215" idx="0"/>
          </p:cNvCxnSpPr>
          <p:nvPr/>
        </p:nvCxnSpPr>
        <p:spPr>
          <a:xfrm>
            <a:off x="2270638" y="2391478"/>
            <a:ext cx="0" cy="7518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7"/>
          <p:cNvSpPr txBox="1"/>
          <p:nvPr/>
        </p:nvSpPr>
        <p:spPr>
          <a:xfrm>
            <a:off x="2690573" y="2990566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Modificamos los enlaces de NavBar para utilizar el componente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Link o NavLink.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28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224" name="Google Shape;224;p2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5" name="Google Shape;225;p28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6" name="Google Shape;226;p28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475500" y="147485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Crearemos rutas dinámicas en nuestra app para mostrar diferentes productos y categorías. Utilizaremos useParams() para leer los parámetros url y mostrar los elementos correspondientes.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34" name="Google Shape;234;p29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35" name="Google Shape;235;p2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6" name="Google Shape;236;p29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29"/>
          <p:cNvSpPr txBox="1"/>
          <p:nvPr/>
        </p:nvSpPr>
        <p:spPr>
          <a:xfrm>
            <a:off x="475500" y="3829300"/>
            <a:ext cx="7169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código ejemplo</a:t>
            </a:r>
            <a:endParaRPr b="1" sz="13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8" name="Google Shape;238;p2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39" name="Google Shape;239;p2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"/>
          <p:cNvSpPr txBox="1"/>
          <p:nvPr/>
        </p:nvSpPr>
        <p:spPr>
          <a:xfrm>
            <a:off x="2690575" y="3652775"/>
            <a:ext cx="45750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Utilizamos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useParams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leer el parámetro actual de la URL y solicitar los productos.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6" name="Google Shape;246;p30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47" name="Google Shape;247;p30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30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250" name="Google Shape;250;p30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2" name="Google Shape;252;p30"/>
          <p:cNvCxnSpPr>
            <a:endCxn id="250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2690573" y="1713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Modificamos la ruta de ItemDetail para tomar un valor dinámico: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/item/:id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2690573" y="3002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una nueva ruta para mostrar el listado de items de una única categoría: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/category/:id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6" name="Google Shape;256;p30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257" name="Google Shape;257;p30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9" name="Google Shape;259;p30"/>
          <p:cNvCxnSpPr>
            <a:endCxn id="257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0" name="Google Shape;260;p30"/>
          <p:cNvGrpSpPr/>
          <p:nvPr/>
        </p:nvGrpSpPr>
        <p:grpSpPr>
          <a:xfrm>
            <a:off x="2172088" y="3761675"/>
            <a:ext cx="197100" cy="197100"/>
            <a:chOff x="2172088" y="3661775"/>
            <a:chExt cx="197100" cy="197100"/>
          </a:xfrm>
        </p:grpSpPr>
        <p:sp>
          <p:nvSpPr>
            <p:cNvPr id="261" name="Google Shape;261;p30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0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63" name="Google Shape;263;p30"/>
          <p:cNvCxnSpPr>
            <a:stCxn id="258" idx="4"/>
            <a:endCxn id="261" idx="0"/>
          </p:cNvCxnSpPr>
          <p:nvPr/>
        </p:nvCxnSpPr>
        <p:spPr>
          <a:xfrm>
            <a:off x="2270638" y="3224400"/>
            <a:ext cx="0" cy="5373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30"/>
          <p:cNvSpPr txBox="1"/>
          <p:nvPr/>
        </p:nvSpPr>
        <p:spPr>
          <a:xfrm>
            <a:off x="2691248" y="229696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Link en el componente Item para navegar a la ruta de su detalle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/item/{id}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5/10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475500" y="147485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Creamos un input y le asignamos un evento sintético “onChange”, para guardar su valor en el estado del componente. </a:t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77" name="Google Shape;277;p32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78" name="Google Shape;278;p32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9" name="Google Shape;279;p32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2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1" name="Google Shape;281;p3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82" name="Google Shape;282;p3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3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289" name="Google Shape;289;p33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33"/>
          <p:cNvGrpSpPr/>
          <p:nvPr/>
        </p:nvGrpSpPr>
        <p:grpSpPr>
          <a:xfrm>
            <a:off x="2172088" y="2379575"/>
            <a:ext cx="197100" cy="197100"/>
            <a:chOff x="2172088" y="2455775"/>
            <a:chExt cx="197100" cy="197100"/>
          </a:xfrm>
        </p:grpSpPr>
        <p:sp>
          <p:nvSpPr>
            <p:cNvPr id="292" name="Google Shape;292;p33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94" name="Google Shape;294;p33"/>
          <p:cNvCxnSpPr>
            <a:endCxn id="292" idx="0"/>
          </p:cNvCxnSpPr>
          <p:nvPr/>
        </p:nvCxnSpPr>
        <p:spPr>
          <a:xfrm>
            <a:off x="2270638" y="19736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33"/>
          <p:cNvSpPr txBox="1"/>
          <p:nvPr/>
        </p:nvSpPr>
        <p:spPr>
          <a:xfrm>
            <a:off x="2690573" y="17314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Input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el atributo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onChange.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33"/>
          <p:cNvSpPr txBox="1"/>
          <p:nvPr/>
        </p:nvSpPr>
        <p:spPr>
          <a:xfrm>
            <a:off x="2690573" y="22583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la función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handleOnChange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la asignamos como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callback del evento onChange.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8" name="Google Shape;298;p33"/>
          <p:cNvGrpSpPr/>
          <p:nvPr/>
        </p:nvGrpSpPr>
        <p:grpSpPr>
          <a:xfrm>
            <a:off x="2172088" y="3006150"/>
            <a:ext cx="197100" cy="197100"/>
            <a:chOff x="2172088" y="3058775"/>
            <a:chExt cx="197100" cy="197100"/>
          </a:xfrm>
        </p:grpSpPr>
        <p:sp>
          <p:nvSpPr>
            <p:cNvPr id="299" name="Google Shape;299;p33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1" name="Google Shape;301;p33"/>
          <p:cNvCxnSpPr>
            <a:endCxn id="299" idx="0"/>
          </p:cNvCxnSpPr>
          <p:nvPr/>
        </p:nvCxnSpPr>
        <p:spPr>
          <a:xfrm>
            <a:off x="2270638" y="26002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2" name="Google Shape;302;p33"/>
          <p:cNvGrpSpPr/>
          <p:nvPr/>
        </p:nvGrpSpPr>
        <p:grpSpPr>
          <a:xfrm>
            <a:off x="2172088" y="3609275"/>
            <a:ext cx="197100" cy="197100"/>
            <a:chOff x="2172088" y="3661775"/>
            <a:chExt cx="197100" cy="197100"/>
          </a:xfrm>
        </p:grpSpPr>
        <p:sp>
          <p:nvSpPr>
            <p:cNvPr id="303" name="Google Shape;303;p33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5" name="Google Shape;305;p33"/>
          <p:cNvCxnSpPr>
            <a:endCxn id="303" idx="0"/>
          </p:cNvCxnSpPr>
          <p:nvPr/>
        </p:nvCxnSpPr>
        <p:spPr>
          <a:xfrm>
            <a:off x="2270638" y="32033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3"/>
          <p:cNvSpPr txBox="1"/>
          <p:nvPr/>
        </p:nvSpPr>
        <p:spPr>
          <a:xfrm>
            <a:off x="2690573" y="29084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Recibimos el objeto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parámetro y vemos sus propiedades.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33"/>
          <p:cNvSpPr txBox="1"/>
          <p:nvPr/>
        </p:nvSpPr>
        <p:spPr>
          <a:xfrm>
            <a:off x="2690573" y="3511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un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estado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le asignamos el valor del input cada vez que éste cambia.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4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13" name="Google Shape;313;p3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4" name="Google Shape;314;p34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34"/>
          <p:cNvSpPr txBox="1"/>
          <p:nvPr/>
        </p:nvSpPr>
        <p:spPr>
          <a:xfrm>
            <a:off x="15389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máscara de Input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34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1064900" y="30999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8" name="Google Shape;318;p3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19" name="Google Shape;319;p3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5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26" name="Google Shape;326;p3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7" name="Google Shape;327;p35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p35"/>
          <p:cNvSpPr txBox="1"/>
          <p:nvPr/>
        </p:nvSpPr>
        <p:spPr>
          <a:xfrm>
            <a:off x="501450" y="899375"/>
            <a:ext cx="4987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una máscara de Input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9" name="Google Shape;3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5"/>
          <p:cNvSpPr txBox="1"/>
          <p:nvPr/>
        </p:nvSpPr>
        <p:spPr>
          <a:xfrm>
            <a:off x="475500" y="2192375"/>
            <a:ext cx="6786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s" sz="1350" u="sng">
                <a:solidFill>
                  <a:schemeClr val="folHlink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stackblitz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crea un input de texto que no permita el ingreso de vocales, cancelando su evento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onKeyDown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en los keys adecuados.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Pista: el synthetic event de keydown tiene varias propiedades, encuentra cuál te puede dar la información de la 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tecla</a:t>
            </a: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 ;)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350" u="sng">
                <a:solidFill>
                  <a:schemeClr val="hlink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  <a:hlinkClick r:id="rId6"/>
              </a:rPr>
              <a:t>Código inicial</a:t>
            </a:r>
            <a:endParaRPr b="1"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2" name="Google Shape;3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6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338" name="Google Shape;338;p36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6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36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341" name="Google Shape;341;p36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6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3" name="Google Shape;343;p36"/>
          <p:cNvCxnSpPr>
            <a:endCxn id="341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36"/>
          <p:cNvSpPr txBox="1"/>
          <p:nvPr/>
        </p:nvSpPr>
        <p:spPr>
          <a:xfrm>
            <a:off x="2690575" y="1731425"/>
            <a:ext cx="4697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función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handleKeyDown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asígnala como callback del evento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onKeyDown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del elemento indicado.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Recibe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 de evento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parámetro y accede al valor de la tecla presionada.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7" name="Google Shape;347;p36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348" name="Google Shape;348;p36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0" name="Google Shape;350;p36"/>
          <p:cNvCxnSpPr>
            <a:endCxn id="348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1" name="Google Shape;351;p36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352" name="Google Shape;352;p36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4" name="Google Shape;354;p36"/>
          <p:cNvCxnSpPr>
            <a:endCxn id="352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6"/>
          <p:cNvSpPr txBox="1"/>
          <p:nvPr/>
        </p:nvSpPr>
        <p:spPr>
          <a:xfrm>
            <a:off x="2690573" y="298468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 alguna validación que compruebe si la tecla presionada es una vocal.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2690573" y="3587813"/>
            <a:ext cx="4281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caso de que sea vocal, puedes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cancelar la acción predeterminada del evento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lanzar una alerta o mediante consola un mensaje de error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2" name="Google Shape;362;p37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63" name="Google Shape;363;p3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4" name="Google Shape;364;p37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37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37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: 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/>
        </p:nvSpPr>
        <p:spPr>
          <a:xfrm>
            <a:off x="475500" y="1322450"/>
            <a:ext cx="73002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Creamos un componente que responda a un evento, llamando a un callback recibido a través de props. Mediante el callback enviamos información desde el componente hijo hacia el componente donde se creó el callback.</a:t>
            </a:r>
            <a:endParaRPr b="1" sz="23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73" name="Google Shape;373;p38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374" name="Google Shape;374;p3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5" name="Google Shape;375;p38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6" name="Google Shape;376;p38"/>
          <p:cNvSpPr txBox="1"/>
          <p:nvPr/>
        </p:nvSpPr>
        <p:spPr>
          <a:xfrm>
            <a:off x="475500" y="39817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77" name="Google Shape;377;p38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78" name="Google Shape;378;p38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79" name="Google Shape;379;p38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9"/>
          <p:cNvGrpSpPr/>
          <p:nvPr/>
        </p:nvGrpSpPr>
        <p:grpSpPr>
          <a:xfrm>
            <a:off x="2172088" y="1852650"/>
            <a:ext cx="197100" cy="197100"/>
            <a:chOff x="2172088" y="1852650"/>
            <a:chExt cx="197100" cy="197100"/>
          </a:xfrm>
        </p:grpSpPr>
        <p:sp>
          <p:nvSpPr>
            <p:cNvPr id="385" name="Google Shape;385;p39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39"/>
          <p:cNvGrpSpPr/>
          <p:nvPr/>
        </p:nvGrpSpPr>
        <p:grpSpPr>
          <a:xfrm>
            <a:off x="2172088" y="2455775"/>
            <a:ext cx="197100" cy="197100"/>
            <a:chOff x="2172088" y="2455775"/>
            <a:chExt cx="197100" cy="197100"/>
          </a:xfrm>
        </p:grpSpPr>
        <p:sp>
          <p:nvSpPr>
            <p:cNvPr id="388" name="Google Shape;388;p39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0" name="Google Shape;390;p39"/>
          <p:cNvCxnSpPr>
            <a:endCxn id="388" idx="0"/>
          </p:cNvCxnSpPr>
          <p:nvPr/>
        </p:nvCxnSpPr>
        <p:spPr>
          <a:xfrm>
            <a:off x="2270638" y="20498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9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Paso a paso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2" name="Google Shape;392;p39"/>
          <p:cNvSpPr txBox="1"/>
          <p:nvPr/>
        </p:nvSpPr>
        <p:spPr>
          <a:xfrm>
            <a:off x="2690573" y="17314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Creamos el componente padre con el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event handler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 utilizar.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3" name="Google Shape;393;p39"/>
          <p:cNvSpPr txBox="1"/>
          <p:nvPr/>
        </p:nvSpPr>
        <p:spPr>
          <a:xfrm>
            <a:off x="2690573" y="23345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Invocamos al componente hijo, enviando como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event handler.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4" name="Google Shape;394;p39"/>
          <p:cNvGrpSpPr/>
          <p:nvPr/>
        </p:nvGrpSpPr>
        <p:grpSpPr>
          <a:xfrm>
            <a:off x="2172088" y="3082350"/>
            <a:ext cx="197100" cy="197100"/>
            <a:chOff x="2172088" y="3058775"/>
            <a:chExt cx="197100" cy="197100"/>
          </a:xfrm>
        </p:grpSpPr>
        <p:sp>
          <p:nvSpPr>
            <p:cNvPr id="395" name="Google Shape;395;p39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7" name="Google Shape;397;p39"/>
          <p:cNvCxnSpPr>
            <a:endCxn id="395" idx="0"/>
          </p:cNvCxnSpPr>
          <p:nvPr/>
        </p:nvCxnSpPr>
        <p:spPr>
          <a:xfrm>
            <a:off x="2270638" y="26764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98" name="Google Shape;398;p39"/>
          <p:cNvGrpSpPr/>
          <p:nvPr/>
        </p:nvGrpSpPr>
        <p:grpSpPr>
          <a:xfrm>
            <a:off x="2172088" y="3685475"/>
            <a:ext cx="197100" cy="197100"/>
            <a:chOff x="2172088" y="3661775"/>
            <a:chExt cx="197100" cy="197100"/>
          </a:xfrm>
        </p:grpSpPr>
        <p:sp>
          <p:nvSpPr>
            <p:cNvPr id="399" name="Google Shape;399;p39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9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01" name="Google Shape;401;p39"/>
          <p:cNvCxnSpPr>
            <a:endCxn id="399" idx="0"/>
          </p:cNvCxnSpPr>
          <p:nvPr/>
        </p:nvCxnSpPr>
        <p:spPr>
          <a:xfrm>
            <a:off x="2270638" y="3279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39"/>
          <p:cNvSpPr txBox="1"/>
          <p:nvPr/>
        </p:nvSpPr>
        <p:spPr>
          <a:xfrm>
            <a:off x="2690575" y="2984700"/>
            <a:ext cx="4524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Asignamos un evento inline a un elemento dentro del componente hijo, por ejemplo: onClick a un botón.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39"/>
          <p:cNvSpPr txBox="1"/>
          <p:nvPr/>
        </p:nvSpPr>
        <p:spPr>
          <a:xfrm>
            <a:off x="2690573" y="3587813"/>
            <a:ext cx="4281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Como respuesta al evento onClick, asignamos el event handler recibido mediante props y enviamos algún parámetro a la función.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40"/>
          <p:cNvGrpSpPr/>
          <p:nvPr/>
        </p:nvGrpSpPr>
        <p:grpSpPr>
          <a:xfrm>
            <a:off x="4202552" y="1088764"/>
            <a:ext cx="738900" cy="738974"/>
            <a:chOff x="3137108" y="2467173"/>
            <a:chExt cx="738900" cy="738900"/>
          </a:xfrm>
        </p:grpSpPr>
        <p:sp>
          <p:nvSpPr>
            <p:cNvPr id="409" name="Google Shape;409;p40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0" name="Google Shape;410;p40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1" name="Google Shape;411;p40"/>
          <p:cNvSpPr txBox="1"/>
          <p:nvPr/>
        </p:nvSpPr>
        <p:spPr>
          <a:xfrm>
            <a:off x="1461300" y="21091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N°</a:t>
            </a: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2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40"/>
          <p:cNvSpPr txBox="1"/>
          <p:nvPr/>
        </p:nvSpPr>
        <p:spPr>
          <a:xfrm>
            <a:off x="987300" y="2848075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Navega las rutas</a:t>
            </a:r>
            <a:endParaRPr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41"/>
          <p:cNvGrpSpPr/>
          <p:nvPr/>
        </p:nvGrpSpPr>
        <p:grpSpPr>
          <a:xfrm>
            <a:off x="475504" y="468259"/>
            <a:ext cx="431074" cy="431148"/>
            <a:chOff x="3137108" y="2467173"/>
            <a:chExt cx="738900" cy="738900"/>
          </a:xfrm>
        </p:grpSpPr>
        <p:sp>
          <p:nvSpPr>
            <p:cNvPr id="418" name="Google Shape;418;p41"/>
            <p:cNvSpPr/>
            <p:nvPr/>
          </p:nvSpPr>
          <p:spPr>
            <a:xfrm>
              <a:off x="3137108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9" name="Google Shape;419;p41" title="ícono de desafío entregabl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84109" y="2622263"/>
              <a:ext cx="428721" cy="4287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0" name="Google Shape;420;p41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Navega las rutas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1" name="Google Shape;42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1"/>
          <p:cNvSpPr txBox="1"/>
          <p:nvPr/>
        </p:nvSpPr>
        <p:spPr>
          <a:xfrm>
            <a:off x="930550" y="468275"/>
            <a:ext cx="418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ENTREGA N° 2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4648500" y="2859000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Formato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Link a último commit de git. Debe tener el nombre “NavegaLasRutas+Apellido”, por ejemplo “NavegaLasRutas+Fernandez” </a:t>
            </a:r>
            <a:endParaRPr sz="135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4" name="Google Shape;424;p41"/>
          <p:cNvSpPr txBox="1"/>
          <p:nvPr/>
        </p:nvSpPr>
        <p:spPr>
          <a:xfrm>
            <a:off x="501450" y="2859000"/>
            <a:ext cx="38346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Objetivos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Implementar la funcionalidad de navegación entre las diferentes vistas utilizando enlaces y rutas.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1000"/>
              </a:spcAft>
              <a:buClr>
                <a:srgbClr val="82DB9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Desarrollar la navegabilidad básica de la aplicación, permitiendo navegar desde el catálogo al detalle de cada item.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660900" y="1580050"/>
            <a:ext cx="78222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tu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segunda</a:t>
            </a:r>
            <a: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entrega, debes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implementar una herramienta de routing, la cual permitirá navegar a través de las diferentes vistas para tu tienda: catálogo principal de productos, catálogo de productos filtrados por categorías, y vista en detalle de un producto.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Debes entrar al link para acceder a la </a:t>
            </a: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consigna completa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1" name="Google Shape;431;p42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 chat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#Coderalert</a:t>
            </a:r>
            <a:endParaRPr b="1" i="0" sz="35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43"/>
          <p:cNvSpPr txBox="1"/>
          <p:nvPr/>
        </p:nvSpPr>
        <p:spPr>
          <a:xfrm>
            <a:off x="1212250" y="149005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Ingresa a la </a:t>
            </a:r>
            <a:r>
              <a:rPr b="1" lang="es" sz="25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Guía de actividades hacia el Proyecto Final</a:t>
            </a:r>
            <a:r>
              <a:rPr b="1"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y realiza la actividad “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Sincronizar Counter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”. </a:t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Ten en cuenta que el desarrollo de la misma será importante para la resolución del Proyecto Final.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38" name="Google Shape;438;p43"/>
          <p:cNvGrpSpPr/>
          <p:nvPr/>
        </p:nvGrpSpPr>
        <p:grpSpPr>
          <a:xfrm>
            <a:off x="543106" y="716450"/>
            <a:ext cx="669148" cy="614370"/>
            <a:chOff x="5855025" y="2172613"/>
            <a:chExt cx="1088400" cy="1057800"/>
          </a:xfrm>
        </p:grpSpPr>
        <p:sp>
          <p:nvSpPr>
            <p:cNvPr id="439" name="Google Shape;439;p43"/>
            <p:cNvSpPr/>
            <p:nvPr/>
          </p:nvSpPr>
          <p:spPr>
            <a:xfrm>
              <a:off x="5855025" y="2172613"/>
              <a:ext cx="1088400" cy="10578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0" name="Google Shape;44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73225" y="2327338"/>
              <a:ext cx="748350" cy="748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4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46" name="Google Shape;446;p44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447" name="Google Shape;447;p44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448" name="Google Shape;448;p44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5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4" name="Google Shape;454;p45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55" name="Google Shape;455;p45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5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7" name="Google Shape;457;p45"/>
          <p:cNvSpPr txBox="1"/>
          <p:nvPr/>
        </p:nvSpPr>
        <p:spPr>
          <a:xfrm>
            <a:off x="4167750" y="1682450"/>
            <a:ext cx="42435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Helvetica Neue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El uso de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addEventListener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puede ser más complejo que los eventos “inline” ya que debemos utilizar useEffect para comprobar el montaje/desmontaje.</a:t>
            </a:r>
            <a:b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Helvetica Neue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Con el patrón de componentes orientados a eventos, quizá ya estés pensando en crear almacenar en algún componente el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 estado del carrito: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 ¡espera! La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semana que viene veremos  una mejor forma de trabajarlo.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8" name="Google Shape;458;p45"/>
          <p:cNvSpPr txBox="1"/>
          <p:nvPr/>
        </p:nvSpPr>
        <p:spPr>
          <a:xfrm>
            <a:off x="457350" y="1682450"/>
            <a:ext cx="3710400" cy="30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Hay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diferentes formas de crear “routers” 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con React Router; te animo a que investigues en la documentación.</a:t>
            </a:r>
            <a:br>
              <a:rPr lang="e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50"/>
              <a:buFont typeface="DM Sans"/>
              <a:buChar char="✓"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Crea una ruta con path “*” para generar una página de “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Not found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”. Te ayudará a no confundir errores en tus componentes con errores de la navegación.</a:t>
            </a:r>
            <a:br>
              <a:rPr lang="es" sz="1350"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64" name="Google Shape;464;p46"/>
          <p:cNvSpPr txBox="1"/>
          <p:nvPr/>
        </p:nvSpPr>
        <p:spPr>
          <a:xfrm>
            <a:off x="2109143" y="2325013"/>
            <a:ext cx="4925700" cy="19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Organización de navegabilidad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Routing estático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react-router-dom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DOM y Synthetic events.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Diseño de eventos en componentes.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7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 txBox="1"/>
          <p:nvPr/>
        </p:nvSpPr>
        <p:spPr>
          <a:xfrm>
            <a:off x="1910550" y="1863750"/>
            <a:ext cx="5322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